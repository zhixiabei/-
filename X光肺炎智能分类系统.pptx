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Quattrocento Sans" panose="020B0502050000020003" pitchFamily="34" charset="0"/>
      <p:regular r:id="rId17"/>
    </p:embeddedFont>
    <p:embeddedFont>
      <p:font typeface="Quattrocento Sans" panose="020B0502050000020003" pitchFamily="34" charset="-122"/>
      <p:regular r:id="rId18"/>
    </p:embeddedFont>
    <p:embeddedFont>
      <p:font typeface="Quattrocento Sans" panose="020B0502050000020003" pitchFamily="34" charset="-120"/>
      <p:regular r:id="rId19"/>
    </p:embeddedFont>
    <p:embeddedFont>
      <p:font typeface="Liter" panose="02000503030000020004" pitchFamily="34" charset="0"/>
      <p:regular r:id="rId20"/>
    </p:embeddedFont>
    <p:embeddedFont>
      <p:font typeface="Liter" panose="02000503030000020004" pitchFamily="34" charset="-122"/>
      <p:regular r:id="rId21"/>
    </p:embeddedFont>
    <p:embeddedFont>
      <p:font typeface="Liter" panose="02000503030000020004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等线" panose="02010600030101010101" charset="-122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lungcancergroup.com/03a13f909b4d687352ca9db0a8cd21ae06801785.jpg"/>
          <p:cNvPicPr>
            <a:picLocks noChangeAspect="1"/>
          </p:cNvPicPr>
          <p:nvPr/>
        </p:nvPicPr>
        <p:blipFill>
          <a:blip r:embed="rId1">
            <a:alphaModFix amt="40000"/>
          </a:blip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2612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5562">
                  <a:alpha val="70000"/>
                </a:srgbClr>
              </a:gs>
            </a:gsLst>
            <a:lin ang="27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5763" y="546497"/>
            <a:ext cx="2524125" cy="409575"/>
          </a:xfrm>
          <a:custGeom>
            <a:avLst/>
            <a:gdLst/>
            <a:ahLst/>
            <a:cxnLst/>
            <a:rect l="l" t="t" r="r" b="b"/>
            <a:pathLst>
              <a:path w="2524125" h="409575">
                <a:moveTo>
                  <a:pt x="38099" y="0"/>
                </a:moveTo>
                <a:lnTo>
                  <a:pt x="2486026" y="0"/>
                </a:lnTo>
                <a:cubicBezTo>
                  <a:pt x="2507068" y="0"/>
                  <a:pt x="2524125" y="17057"/>
                  <a:pt x="2524125" y="38099"/>
                </a:cubicBezTo>
                <a:lnTo>
                  <a:pt x="2524125" y="371476"/>
                </a:lnTo>
                <a:cubicBezTo>
                  <a:pt x="2524125" y="392518"/>
                  <a:pt x="2507068" y="409575"/>
                  <a:pt x="2486026" y="409575"/>
                </a:cubicBezTo>
                <a:lnTo>
                  <a:pt x="38099" y="409575"/>
                </a:lnTo>
                <a:cubicBezTo>
                  <a:pt x="17057" y="409575"/>
                  <a:pt x="0" y="392518"/>
                  <a:pt x="0" y="371476"/>
                </a:cubicBezTo>
                <a:lnTo>
                  <a:pt x="0" y="38099"/>
                </a:lnTo>
                <a:cubicBezTo>
                  <a:pt x="0" y="17071"/>
                  <a:pt x="17071" y="0"/>
                  <a:pt x="38099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  <a:ln w="12700">
            <a:solidFill>
              <a:srgbClr val="6C7A89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81025" y="670322"/>
            <a:ext cx="2212553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MEDICAL AI DIAGNOSTICS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60872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X光肺炎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智能分类系统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62475" y="3547110"/>
            <a:ext cx="3925570" cy="53848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/>
              </a:gs>
              <a:gs pos="100000">
                <a:srgbClr val="98A6B5"/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386080" y="4121547"/>
            <a:ext cx="115728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基于ResNet50的多类别肺炎自动识别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754166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细菌 / COVID / 普通 / 病毒性 肺炎智能分类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5763" y="5186363"/>
            <a:ext cx="3676650" cy="1285875"/>
          </a:xfrm>
          <a:custGeom>
            <a:avLst/>
            <a:gdLst/>
            <a:ahLst/>
            <a:cxnLst/>
            <a:rect l="l" t="t" r="r" b="b"/>
            <a:pathLst>
              <a:path w="3676650" h="1285875">
                <a:moveTo>
                  <a:pt x="76201" y="0"/>
                </a:moveTo>
                <a:lnTo>
                  <a:pt x="3600449" y="0"/>
                </a:lnTo>
                <a:cubicBezTo>
                  <a:pt x="3642534" y="0"/>
                  <a:pt x="3676650" y="34116"/>
                  <a:pt x="3676650" y="76201"/>
                </a:cubicBezTo>
                <a:lnTo>
                  <a:pt x="3676650" y="1209674"/>
                </a:lnTo>
                <a:cubicBezTo>
                  <a:pt x="3676650" y="1251759"/>
                  <a:pt x="3642534" y="1285875"/>
                  <a:pt x="3600449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5562">
              <a:alpha val="3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636984" y="53816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52513" y="5410200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1025" y="5781675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PyTorch + Python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网页前后端 + 安卓端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59238" y="5186363"/>
            <a:ext cx="3676650" cy="1285875"/>
          </a:xfrm>
          <a:custGeom>
            <a:avLst/>
            <a:gdLst/>
            <a:ahLst/>
            <a:cxnLst/>
            <a:rect l="l" t="t" r="r" b="b"/>
            <a:pathLst>
              <a:path w="3676650" h="1285875">
                <a:moveTo>
                  <a:pt x="76201" y="0"/>
                </a:moveTo>
                <a:lnTo>
                  <a:pt x="3600449" y="0"/>
                </a:lnTo>
                <a:cubicBezTo>
                  <a:pt x="3642534" y="0"/>
                  <a:pt x="3676650" y="34116"/>
                  <a:pt x="3676650" y="76201"/>
                </a:cubicBezTo>
                <a:lnTo>
                  <a:pt x="3676650" y="1209674"/>
                </a:lnTo>
                <a:cubicBezTo>
                  <a:pt x="3676650" y="1251759"/>
                  <a:pt x="3642534" y="1285875"/>
                  <a:pt x="3600449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5562">
              <a:alpha val="3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510460" y="53816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2875" y="61001"/>
                </a:moveTo>
                <a:lnTo>
                  <a:pt x="142875" y="178594"/>
                </a:lnTo>
                <a:cubicBezTo>
                  <a:pt x="142875" y="188472"/>
                  <a:pt x="134894" y="196453"/>
                  <a:pt x="125016" y="196453"/>
                </a:cubicBezTo>
                <a:cubicBezTo>
                  <a:pt x="115137" y="196453"/>
                  <a:pt x="107156" y="188472"/>
                  <a:pt x="107156" y="178594"/>
                </a:cubicBezTo>
                <a:lnTo>
                  <a:pt x="107156" y="61001"/>
                </a:lnTo>
                <a:lnTo>
                  <a:pt x="84051" y="84106"/>
                </a:lnTo>
                <a:cubicBezTo>
                  <a:pt x="77074" y="91083"/>
                  <a:pt x="65745" y="91083"/>
                  <a:pt x="58769" y="84106"/>
                </a:cubicBezTo>
                <a:cubicBezTo>
                  <a:pt x="51792" y="77130"/>
                  <a:pt x="51792" y="65801"/>
                  <a:pt x="58769" y="58824"/>
                </a:cubicBezTo>
                <a:lnTo>
                  <a:pt x="112347" y="5246"/>
                </a:lnTo>
                <a:cubicBezTo>
                  <a:pt x="119323" y="-1730"/>
                  <a:pt x="130652" y="-1730"/>
                  <a:pt x="137629" y="5246"/>
                </a:cubicBezTo>
                <a:lnTo>
                  <a:pt x="191207" y="58824"/>
                </a:lnTo>
                <a:cubicBezTo>
                  <a:pt x="198183" y="65801"/>
                  <a:pt x="198183" y="77130"/>
                  <a:pt x="191207" y="84106"/>
                </a:cubicBezTo>
                <a:cubicBezTo>
                  <a:pt x="184231" y="91083"/>
                  <a:pt x="172901" y="91083"/>
                  <a:pt x="165925" y="84106"/>
                </a:cubicBezTo>
                <a:lnTo>
                  <a:pt x="142875" y="61001"/>
                </a:lnTo>
                <a:close/>
                <a:moveTo>
                  <a:pt x="125016" y="223242"/>
                </a:moveTo>
                <a:cubicBezTo>
                  <a:pt x="149684" y="223242"/>
                  <a:pt x="169664" y="203262"/>
                  <a:pt x="169664" y="178594"/>
                </a:cubicBezTo>
                <a:lnTo>
                  <a:pt x="214313" y="178594"/>
                </a:lnTo>
                <a:cubicBezTo>
                  <a:pt x="234014" y="178594"/>
                  <a:pt x="250031" y="194611"/>
                  <a:pt x="250031" y="214313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214313"/>
                </a:lnTo>
                <a:cubicBezTo>
                  <a:pt x="0" y="194611"/>
                  <a:pt x="16018" y="178594"/>
                  <a:pt x="35719" y="178594"/>
                </a:cubicBezTo>
                <a:lnTo>
                  <a:pt x="80367" y="178594"/>
                </a:lnTo>
                <a:cubicBezTo>
                  <a:pt x="80367" y="203262"/>
                  <a:pt x="100347" y="223242"/>
                  <a:pt x="125016" y="223242"/>
                </a:cubicBezTo>
                <a:close/>
                <a:moveTo>
                  <a:pt x="205383" y="236637"/>
                </a:moveTo>
                <a:cubicBezTo>
                  <a:pt x="212775" y="236637"/>
                  <a:pt x="218777" y="230635"/>
                  <a:pt x="218777" y="223242"/>
                </a:cubicBezTo>
                <a:cubicBezTo>
                  <a:pt x="218777" y="215850"/>
                  <a:pt x="212775" y="209848"/>
                  <a:pt x="205383" y="209848"/>
                </a:cubicBezTo>
                <a:cubicBezTo>
                  <a:pt x="197990" y="209848"/>
                  <a:pt x="191988" y="215850"/>
                  <a:pt x="191988" y="223242"/>
                </a:cubicBezTo>
                <a:cubicBezTo>
                  <a:pt x="191988" y="230635"/>
                  <a:pt x="197990" y="236637"/>
                  <a:pt x="205383" y="23663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925988" y="54102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工作流程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54500" y="5781675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X光图像上传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自动分类 → 结果展示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32713" y="5186363"/>
            <a:ext cx="3676650" cy="1285875"/>
          </a:xfrm>
          <a:custGeom>
            <a:avLst/>
            <a:gdLst/>
            <a:ahLst/>
            <a:cxnLst/>
            <a:rect l="l" t="t" r="r" b="b"/>
            <a:pathLst>
              <a:path w="3676650" h="1285875">
                <a:moveTo>
                  <a:pt x="76201" y="0"/>
                </a:moveTo>
                <a:lnTo>
                  <a:pt x="3600449" y="0"/>
                </a:lnTo>
                <a:cubicBezTo>
                  <a:pt x="3642534" y="0"/>
                  <a:pt x="3676650" y="34116"/>
                  <a:pt x="3676650" y="76201"/>
                </a:cubicBezTo>
                <a:lnTo>
                  <a:pt x="3676650" y="1209674"/>
                </a:lnTo>
                <a:cubicBezTo>
                  <a:pt x="3676650" y="1251759"/>
                  <a:pt x="3642534" y="1285875"/>
                  <a:pt x="3600449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5562">
              <a:alpha val="3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8366075" y="5381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8799463" y="54102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27975" y="5781675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深度学习模型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辅助临床诊断</a:t>
            </a:r>
            <a:endParaRPr lang="en-US" sz="1600" dirty="0"/>
          </a:p>
        </p:txBody>
      </p:sp>
      <p:sp>
        <p:nvSpPr>
          <p:cNvPr id="22" name="文本框 21"/>
          <p:cNvSpPr txBox="1"/>
          <p:nvPr/>
        </p:nvSpPr>
        <p:spPr>
          <a:xfrm>
            <a:off x="4707255" y="3547110"/>
            <a:ext cx="3535680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>
                <a:solidFill>
                  <a:schemeClr val="bg1"/>
                </a:solidFill>
              </a:rPr>
              <a:t>——H</a:t>
            </a:r>
            <a:r>
              <a:rPr lang="zh-CN" altLang="en-US" sz="2800" b="1">
                <a:solidFill>
                  <a:schemeClr val="bg1"/>
                </a:solidFill>
              </a:rPr>
              <a:t>组</a:t>
            </a:r>
            <a:r>
              <a:rPr lang="en-US" altLang="zh-CN" sz="2800" b="1">
                <a:solidFill>
                  <a:schemeClr val="bg1"/>
                </a:solidFill>
              </a:rPr>
              <a:t> </a:t>
            </a:r>
            <a:r>
              <a:rPr lang="zh-CN" altLang="en-US" sz="2800" b="1">
                <a:solidFill>
                  <a:schemeClr val="bg1"/>
                </a:solidFill>
              </a:rPr>
              <a:t>专业团队</a:t>
            </a:r>
            <a:endParaRPr lang="zh-CN" altLang="en-US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00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66800" y="914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00050" y="1181100"/>
            <a:ext cx="11410950" cy="1790700"/>
          </a:xfrm>
          <a:custGeom>
            <a:avLst/>
            <a:gdLst/>
            <a:ahLst/>
            <a:cxnLst/>
            <a:rect l="l" t="t" r="r" b="b"/>
            <a:pathLst>
              <a:path w="11410950" h="1790700">
                <a:moveTo>
                  <a:pt x="38100" y="0"/>
                </a:moveTo>
                <a:lnTo>
                  <a:pt x="11334756" y="0"/>
                </a:lnTo>
                <a:cubicBezTo>
                  <a:pt x="11376808" y="0"/>
                  <a:pt x="11410950" y="34142"/>
                  <a:pt x="11410950" y="76194"/>
                </a:cubicBezTo>
                <a:lnTo>
                  <a:pt x="11410950" y="1714506"/>
                </a:lnTo>
                <a:cubicBezTo>
                  <a:pt x="11410950" y="1756587"/>
                  <a:pt x="11376837" y="1790700"/>
                  <a:pt x="11334756" y="1790700"/>
                </a:cubicBezTo>
                <a:lnTo>
                  <a:pt x="38100" y="1790700"/>
                </a:lnTo>
                <a:cubicBezTo>
                  <a:pt x="17058" y="1790700"/>
                  <a:pt x="0" y="1773642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00050" y="118110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3810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38100" y="1790700"/>
                </a:lnTo>
                <a:cubicBezTo>
                  <a:pt x="17072" y="1790700"/>
                  <a:pt x="0" y="1773628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77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9304" y="1466850"/>
            <a:ext cx="295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428750"/>
            <a:ext cx="1285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核心背景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1943100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传统诊断的局限性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1100" y="2247900"/>
            <a:ext cx="51816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肺炎类型（细菌/COVID/普通/病毒性）人工识别高度依赖专业医师，存在效率低、主观性强的问题，难以满足大规模筛查需求。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1943100"/>
            <a:ext cx="520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深度学习的突破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0" y="2247900"/>
            <a:ext cx="51816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基于卷积神经网络的图像识别技术可实现X光图像的自动化、标准化分类，为临床诊断提供可靠的辅助决策支持。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162300"/>
            <a:ext cx="11410950" cy="2114550"/>
          </a:xfrm>
          <a:custGeom>
            <a:avLst/>
            <a:gdLst/>
            <a:ahLst/>
            <a:cxnLst/>
            <a:rect l="l" t="t" r="r" b="b"/>
            <a:pathLst>
              <a:path w="11410950" h="2114550">
                <a:moveTo>
                  <a:pt x="38100" y="0"/>
                </a:moveTo>
                <a:lnTo>
                  <a:pt x="11334742" y="0"/>
                </a:lnTo>
                <a:cubicBezTo>
                  <a:pt x="11376830" y="0"/>
                  <a:pt x="11410950" y="34120"/>
                  <a:pt x="11410950" y="76208"/>
                </a:cubicBezTo>
                <a:lnTo>
                  <a:pt x="11410950" y="2038342"/>
                </a:lnTo>
                <a:cubicBezTo>
                  <a:pt x="11410950" y="2080430"/>
                  <a:pt x="11376830" y="2114550"/>
                  <a:pt x="11334742" y="2114550"/>
                </a:cubicBezTo>
                <a:lnTo>
                  <a:pt x="38100" y="2114550"/>
                </a:lnTo>
                <a:cubicBezTo>
                  <a:pt x="17072" y="2114550"/>
                  <a:pt x="0" y="2097478"/>
                  <a:pt x="0" y="2076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00050" y="3162300"/>
            <a:ext cx="38100" cy="2114550"/>
          </a:xfrm>
          <a:custGeom>
            <a:avLst/>
            <a:gdLst/>
            <a:ahLst/>
            <a:cxnLst/>
            <a:rect l="l" t="t" r="r" b="b"/>
            <a:pathLst>
              <a:path w="38100" h="2114550">
                <a:moveTo>
                  <a:pt x="38100" y="0"/>
                </a:moveTo>
                <a:lnTo>
                  <a:pt x="38100" y="0"/>
                </a:lnTo>
                <a:lnTo>
                  <a:pt x="38100" y="2114550"/>
                </a:lnTo>
                <a:lnTo>
                  <a:pt x="38100" y="2114550"/>
                </a:lnTo>
                <a:cubicBezTo>
                  <a:pt x="17072" y="2114550"/>
                  <a:pt x="0" y="2097478"/>
                  <a:pt x="0" y="2076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47700" y="3390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22040" y="3448050"/>
            <a:ext cx="323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409950"/>
            <a:ext cx="1285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项目目标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5863" y="3929063"/>
            <a:ext cx="3352800" cy="1114425"/>
          </a:xfrm>
          <a:custGeom>
            <a:avLst/>
            <a:gdLst/>
            <a:ahLst/>
            <a:cxnLst/>
            <a:rect l="l" t="t" r="r" b="b"/>
            <a:pathLst>
              <a:path w="3352800" h="1114425">
                <a:moveTo>
                  <a:pt x="76204" y="0"/>
                </a:moveTo>
                <a:lnTo>
                  <a:pt x="3276596" y="0"/>
                </a:lnTo>
                <a:cubicBezTo>
                  <a:pt x="3318682" y="0"/>
                  <a:pt x="3352800" y="34118"/>
                  <a:pt x="3352800" y="76204"/>
                </a:cubicBezTo>
                <a:lnTo>
                  <a:pt x="3352800" y="1038221"/>
                </a:lnTo>
                <a:cubicBezTo>
                  <a:pt x="3352800" y="1080307"/>
                  <a:pt x="3318682" y="1114425"/>
                  <a:pt x="3276596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366838" y="4124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657350" y="40862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模型构建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3025" y="4467225"/>
            <a:ext cx="31146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基于ResNet50构建分类模型，支持4类肺炎/正常样本识别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03713" y="3929063"/>
            <a:ext cx="3352800" cy="1114425"/>
          </a:xfrm>
          <a:custGeom>
            <a:avLst/>
            <a:gdLst/>
            <a:ahLst/>
            <a:cxnLst/>
            <a:rect l="l" t="t" r="r" b="b"/>
            <a:pathLst>
              <a:path w="3352800" h="1114425">
                <a:moveTo>
                  <a:pt x="76204" y="0"/>
                </a:moveTo>
                <a:lnTo>
                  <a:pt x="3276596" y="0"/>
                </a:lnTo>
                <a:cubicBezTo>
                  <a:pt x="3318682" y="0"/>
                  <a:pt x="3352800" y="34118"/>
                  <a:pt x="3352800" y="76204"/>
                </a:cubicBezTo>
                <a:lnTo>
                  <a:pt x="3352800" y="1038221"/>
                </a:lnTo>
                <a:cubicBezTo>
                  <a:pt x="3352800" y="1080307"/>
                  <a:pt x="3318682" y="1114425"/>
                  <a:pt x="3276596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884688" y="4124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175200" y="40862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应用开发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60875" y="4467225"/>
            <a:ext cx="31146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开发网页端+安卓端应用，实现图像上传、模型推理、结果展示全流程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1638" y="3929063"/>
            <a:ext cx="3352800" cy="1114425"/>
          </a:xfrm>
          <a:custGeom>
            <a:avLst/>
            <a:gdLst/>
            <a:ahLst/>
            <a:cxnLst/>
            <a:rect l="l" t="t" r="r" b="b"/>
            <a:pathLst>
              <a:path w="3352800" h="1114425">
                <a:moveTo>
                  <a:pt x="76204" y="0"/>
                </a:moveTo>
                <a:lnTo>
                  <a:pt x="3276596" y="0"/>
                </a:lnTo>
                <a:cubicBezTo>
                  <a:pt x="3318682" y="0"/>
                  <a:pt x="3352800" y="34118"/>
                  <a:pt x="3352800" y="76204"/>
                </a:cubicBezTo>
                <a:lnTo>
                  <a:pt x="3352800" y="1038221"/>
                </a:lnTo>
                <a:cubicBezTo>
                  <a:pt x="3352800" y="1080307"/>
                  <a:pt x="3318682" y="1114425"/>
                  <a:pt x="3276596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02613" y="4124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693125" y="40862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78800" y="4467225"/>
            <a:ext cx="31146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保证模型准确率同时兼顾工程落地的易用性与扩展性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5467350"/>
            <a:ext cx="11430000" cy="590550"/>
          </a:xfrm>
          <a:custGeom>
            <a:avLst/>
            <a:gdLst/>
            <a:ahLst/>
            <a:cxnLst/>
            <a:rect l="l" t="t" r="r" b="b"/>
            <a:pathLst>
              <a:path w="11430000" h="590550">
                <a:moveTo>
                  <a:pt x="76199" y="0"/>
                </a:moveTo>
                <a:lnTo>
                  <a:pt x="11353801" y="0"/>
                </a:lnTo>
                <a:cubicBezTo>
                  <a:pt x="11395885" y="0"/>
                  <a:pt x="11430000" y="34115"/>
                  <a:pt x="11430000" y="76199"/>
                </a:cubicBezTo>
                <a:lnTo>
                  <a:pt x="11430000" y="514351"/>
                </a:lnTo>
                <a:cubicBezTo>
                  <a:pt x="11430000" y="556435"/>
                  <a:pt x="11395885" y="590550"/>
                  <a:pt x="11353801" y="590550"/>
                </a:cubicBezTo>
                <a:lnTo>
                  <a:pt x="76199" y="590550"/>
                </a:lnTo>
                <a:cubicBezTo>
                  <a:pt x="34115" y="590550"/>
                  <a:pt x="0" y="556435"/>
                  <a:pt x="0" y="514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6C7A89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07219" y="56197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42988" y="5648325"/>
            <a:ext cx="4371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核心价值：</a:t>
            </a: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提升诊断效率 · 降低误诊率 · 实现大规模自动化筛查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64972" y="5629275"/>
            <a:ext cx="781050" cy="266700"/>
          </a:xfrm>
          <a:custGeom>
            <a:avLst/>
            <a:gdLst/>
            <a:ahLst/>
            <a:cxnLst/>
            <a:rect l="l" t="t" r="r" b="b"/>
            <a:pathLst>
              <a:path w="781050" h="266700">
                <a:moveTo>
                  <a:pt x="133350" y="0"/>
                </a:moveTo>
                <a:lnTo>
                  <a:pt x="647700" y="0"/>
                </a:lnTo>
                <a:cubicBezTo>
                  <a:pt x="721298" y="0"/>
                  <a:pt x="781050" y="59752"/>
                  <a:pt x="781050" y="133350"/>
                </a:cubicBezTo>
                <a:lnTo>
                  <a:pt x="781050" y="133350"/>
                </a:lnTo>
                <a:cubicBezTo>
                  <a:pt x="781050" y="206948"/>
                  <a:pt x="721298" y="266700"/>
                  <a:pt x="647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064972" y="5629275"/>
            <a:ext cx="8477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61290" y="5629275"/>
            <a:ext cx="771525" cy="266700"/>
          </a:xfrm>
          <a:custGeom>
            <a:avLst/>
            <a:gdLst/>
            <a:ahLst/>
            <a:cxnLst/>
            <a:rect l="l" t="t" r="r" b="b"/>
            <a:pathLst>
              <a:path w="771525" h="266700">
                <a:moveTo>
                  <a:pt x="133350" y="0"/>
                </a:moveTo>
                <a:lnTo>
                  <a:pt x="638175" y="0"/>
                </a:lnTo>
                <a:cubicBezTo>
                  <a:pt x="711773" y="0"/>
                  <a:pt x="771525" y="59752"/>
                  <a:pt x="771525" y="133350"/>
                </a:cubicBezTo>
                <a:lnTo>
                  <a:pt x="771525" y="133350"/>
                </a:lnTo>
                <a:cubicBezTo>
                  <a:pt x="771525" y="206948"/>
                  <a:pt x="711773" y="266700"/>
                  <a:pt x="638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961290" y="5629275"/>
            <a:ext cx="8382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45626" y="5629275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133350" y="0"/>
                </a:moveTo>
                <a:lnTo>
                  <a:pt x="676275" y="0"/>
                </a:lnTo>
                <a:cubicBezTo>
                  <a:pt x="749873" y="0"/>
                  <a:pt x="809625" y="59752"/>
                  <a:pt x="809625" y="133350"/>
                </a:cubicBezTo>
                <a:lnTo>
                  <a:pt x="809625" y="133350"/>
                </a:lnTo>
                <a:cubicBezTo>
                  <a:pt x="809625" y="206948"/>
                  <a:pt x="749873" y="266700"/>
                  <a:pt x="676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845626" y="5629275"/>
            <a:ext cx="8763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Scalability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00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整体技术架构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66800" y="914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0525" y="1114425"/>
            <a:ext cx="3686175" cy="2762250"/>
          </a:xfrm>
          <a:custGeom>
            <a:avLst/>
            <a:gdLst/>
            <a:ahLst/>
            <a:cxnLst/>
            <a:rect l="l" t="t" r="r" b="b"/>
            <a:pathLst>
              <a:path w="3686175" h="2762250">
                <a:moveTo>
                  <a:pt x="76210" y="0"/>
                </a:moveTo>
                <a:lnTo>
                  <a:pt x="3609965" y="0"/>
                </a:lnTo>
                <a:cubicBezTo>
                  <a:pt x="3652054" y="0"/>
                  <a:pt x="3686175" y="34121"/>
                  <a:pt x="3686175" y="76210"/>
                </a:cubicBezTo>
                <a:lnTo>
                  <a:pt x="3686175" y="2686040"/>
                </a:lnTo>
                <a:cubicBezTo>
                  <a:pt x="3686175" y="2728129"/>
                  <a:pt x="3652054" y="2762250"/>
                  <a:pt x="3609965" y="2762250"/>
                </a:cubicBezTo>
                <a:lnTo>
                  <a:pt x="76210" y="2762250"/>
                </a:lnTo>
                <a:cubicBezTo>
                  <a:pt x="34121" y="2762250"/>
                  <a:pt x="0" y="2728129"/>
                  <a:pt x="0" y="2686040"/>
                </a:cubicBezTo>
                <a:lnTo>
                  <a:pt x="0" y="76210"/>
                </a:lnTo>
                <a:cubicBezTo>
                  <a:pt x="0" y="34121"/>
                  <a:pt x="34121" y="0"/>
                  <a:pt x="76210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254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52450" y="129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04627" y="1371600"/>
            <a:ext cx="26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3950" y="1276350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3950" y="1581150"/>
            <a:ext cx="752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1885950"/>
            <a:ext cx="3343275" cy="1143000"/>
          </a:xfrm>
          <a:custGeom>
            <a:avLst/>
            <a:gdLst/>
            <a:ahLst/>
            <a:cxnLst/>
            <a:rect l="l" t="t" r="r" b="b"/>
            <a:pathLst>
              <a:path w="3343275" h="1143000">
                <a:moveTo>
                  <a:pt x="38096" y="0"/>
                </a:moveTo>
                <a:lnTo>
                  <a:pt x="3305179" y="0"/>
                </a:lnTo>
                <a:cubicBezTo>
                  <a:pt x="3326219" y="0"/>
                  <a:pt x="3343275" y="17056"/>
                  <a:pt x="3343275" y="38096"/>
                </a:cubicBezTo>
                <a:lnTo>
                  <a:pt x="3343275" y="1104904"/>
                </a:lnTo>
                <a:cubicBezTo>
                  <a:pt x="3343275" y="1125944"/>
                  <a:pt x="3326219" y="1143000"/>
                  <a:pt x="3305179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71500" y="18859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04850" y="200025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X光数据集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4850" y="2305050"/>
            <a:ext cx="1514475" cy="266700"/>
          </a:xfrm>
          <a:custGeom>
            <a:avLst/>
            <a:gdLst/>
            <a:ahLst/>
            <a:cxnLst/>
            <a:rect l="l" t="t" r="r" b="b"/>
            <a:pathLst>
              <a:path w="1514475" h="266700">
                <a:moveTo>
                  <a:pt x="38101" y="0"/>
                </a:moveTo>
                <a:lnTo>
                  <a:pt x="1476374" y="0"/>
                </a:lnTo>
                <a:cubicBezTo>
                  <a:pt x="1497417" y="0"/>
                  <a:pt x="1514475" y="17058"/>
                  <a:pt x="1514475" y="38101"/>
                </a:cubicBezTo>
                <a:lnTo>
                  <a:pt x="1514475" y="228599"/>
                </a:lnTo>
                <a:cubicBezTo>
                  <a:pt x="1514475" y="249642"/>
                  <a:pt x="1497417" y="266700"/>
                  <a:pt x="14763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2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71513" y="2305050"/>
            <a:ext cx="15811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Bacteria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92325" y="2305050"/>
            <a:ext cx="1514475" cy="266700"/>
          </a:xfrm>
          <a:custGeom>
            <a:avLst/>
            <a:gdLst/>
            <a:ahLst/>
            <a:cxnLst/>
            <a:rect l="l" t="t" r="r" b="b"/>
            <a:pathLst>
              <a:path w="1514475" h="266700">
                <a:moveTo>
                  <a:pt x="38101" y="0"/>
                </a:moveTo>
                <a:lnTo>
                  <a:pt x="1476374" y="0"/>
                </a:lnTo>
                <a:cubicBezTo>
                  <a:pt x="1497417" y="0"/>
                  <a:pt x="1514475" y="17058"/>
                  <a:pt x="1514475" y="38101"/>
                </a:cubicBezTo>
                <a:lnTo>
                  <a:pt x="1514475" y="228599"/>
                </a:lnTo>
                <a:cubicBezTo>
                  <a:pt x="1514475" y="249642"/>
                  <a:pt x="1497417" y="266700"/>
                  <a:pt x="14763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2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58988" y="2305050"/>
            <a:ext cx="15811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COVID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4850" y="2647950"/>
            <a:ext cx="1514475" cy="266700"/>
          </a:xfrm>
          <a:custGeom>
            <a:avLst/>
            <a:gdLst/>
            <a:ahLst/>
            <a:cxnLst/>
            <a:rect l="l" t="t" r="r" b="b"/>
            <a:pathLst>
              <a:path w="1514475" h="266700">
                <a:moveTo>
                  <a:pt x="38101" y="0"/>
                </a:moveTo>
                <a:lnTo>
                  <a:pt x="1476374" y="0"/>
                </a:lnTo>
                <a:cubicBezTo>
                  <a:pt x="1497417" y="0"/>
                  <a:pt x="1514475" y="17058"/>
                  <a:pt x="1514475" y="38101"/>
                </a:cubicBezTo>
                <a:lnTo>
                  <a:pt x="1514475" y="228599"/>
                </a:lnTo>
                <a:cubicBezTo>
                  <a:pt x="1514475" y="249642"/>
                  <a:pt x="1497417" y="266700"/>
                  <a:pt x="14763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2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71513" y="2647950"/>
            <a:ext cx="15811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Normal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92325" y="2647950"/>
            <a:ext cx="1514475" cy="266700"/>
          </a:xfrm>
          <a:custGeom>
            <a:avLst/>
            <a:gdLst/>
            <a:ahLst/>
            <a:cxnLst/>
            <a:rect l="l" t="t" r="r" b="b"/>
            <a:pathLst>
              <a:path w="1514475" h="266700">
                <a:moveTo>
                  <a:pt x="38101" y="0"/>
                </a:moveTo>
                <a:lnTo>
                  <a:pt x="1476374" y="0"/>
                </a:lnTo>
                <a:cubicBezTo>
                  <a:pt x="1497417" y="0"/>
                  <a:pt x="1514475" y="17058"/>
                  <a:pt x="1514475" y="38101"/>
                </a:cubicBezTo>
                <a:lnTo>
                  <a:pt x="1514475" y="228599"/>
                </a:lnTo>
                <a:cubicBezTo>
                  <a:pt x="1514475" y="249642"/>
                  <a:pt x="1497417" y="266700"/>
                  <a:pt x="14763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5562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258988" y="2647950"/>
            <a:ext cx="15811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Viral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49450" y="3143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251275" y="1114425"/>
            <a:ext cx="3686175" cy="2762250"/>
          </a:xfrm>
          <a:custGeom>
            <a:avLst/>
            <a:gdLst/>
            <a:ahLst/>
            <a:cxnLst/>
            <a:rect l="l" t="t" r="r" b="b"/>
            <a:pathLst>
              <a:path w="3686175" h="2762250">
                <a:moveTo>
                  <a:pt x="76210" y="0"/>
                </a:moveTo>
                <a:lnTo>
                  <a:pt x="3609965" y="0"/>
                </a:lnTo>
                <a:cubicBezTo>
                  <a:pt x="3652054" y="0"/>
                  <a:pt x="3686175" y="34121"/>
                  <a:pt x="3686175" y="76210"/>
                </a:cubicBezTo>
                <a:lnTo>
                  <a:pt x="3686175" y="2686040"/>
                </a:lnTo>
                <a:cubicBezTo>
                  <a:pt x="3686175" y="2728129"/>
                  <a:pt x="3652054" y="2762250"/>
                  <a:pt x="3609965" y="2762250"/>
                </a:cubicBezTo>
                <a:lnTo>
                  <a:pt x="76210" y="2762250"/>
                </a:lnTo>
                <a:cubicBezTo>
                  <a:pt x="34121" y="2762250"/>
                  <a:pt x="0" y="2728129"/>
                  <a:pt x="0" y="2686040"/>
                </a:cubicBezTo>
                <a:lnTo>
                  <a:pt x="0" y="76210"/>
                </a:lnTo>
                <a:cubicBezTo>
                  <a:pt x="0" y="34121"/>
                  <a:pt x="34121" y="0"/>
                  <a:pt x="76210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25400">
            <a:solidFill>
              <a:srgbClr val="98A6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413200" y="129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570661" y="1371600"/>
            <a:ext cx="257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4700" y="1276350"/>
            <a:ext cx="828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4700" y="1581150"/>
            <a:ext cx="781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Model Layer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2250" y="1885950"/>
            <a:ext cx="3343275" cy="685800"/>
          </a:xfrm>
          <a:custGeom>
            <a:avLst/>
            <a:gdLst/>
            <a:ahLst/>
            <a:cxnLst/>
            <a:rect l="l" t="t" r="r" b="b"/>
            <a:pathLst>
              <a:path w="3343275" h="685800">
                <a:moveTo>
                  <a:pt x="38100" y="0"/>
                </a:moveTo>
                <a:lnTo>
                  <a:pt x="3305172" y="0"/>
                </a:lnTo>
                <a:cubicBezTo>
                  <a:pt x="3326216" y="0"/>
                  <a:pt x="3343275" y="17059"/>
                  <a:pt x="3343275" y="38103"/>
                </a:cubicBezTo>
                <a:lnTo>
                  <a:pt x="3343275" y="647697"/>
                </a:lnTo>
                <a:cubicBezTo>
                  <a:pt x="3343275" y="668741"/>
                  <a:pt x="3326216" y="685800"/>
                  <a:pt x="3305172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432250" y="18859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565600" y="200025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ResNet50迁移学习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65600" y="2266950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单通道适配 · 正则化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2250" y="2647950"/>
            <a:ext cx="3343275" cy="685800"/>
          </a:xfrm>
          <a:custGeom>
            <a:avLst/>
            <a:gdLst/>
            <a:ahLst/>
            <a:cxnLst/>
            <a:rect l="l" t="t" r="r" b="b"/>
            <a:pathLst>
              <a:path w="3343275" h="685800">
                <a:moveTo>
                  <a:pt x="38100" y="0"/>
                </a:moveTo>
                <a:lnTo>
                  <a:pt x="3305172" y="0"/>
                </a:lnTo>
                <a:cubicBezTo>
                  <a:pt x="3326216" y="0"/>
                  <a:pt x="3343275" y="17059"/>
                  <a:pt x="3343275" y="38103"/>
                </a:cubicBezTo>
                <a:lnTo>
                  <a:pt x="3343275" y="647697"/>
                </a:lnTo>
                <a:cubicBezTo>
                  <a:pt x="3343275" y="668741"/>
                  <a:pt x="3326216" y="685800"/>
                  <a:pt x="3305172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432250" y="26479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565600" y="276225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模型训练/评估/部署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65600" y="3028950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端到端工作流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10201" y="34480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112100" y="1114425"/>
            <a:ext cx="3686175" cy="2762250"/>
          </a:xfrm>
          <a:custGeom>
            <a:avLst/>
            <a:gdLst/>
            <a:ahLst/>
            <a:cxnLst/>
            <a:rect l="l" t="t" r="r" b="b"/>
            <a:pathLst>
              <a:path w="3686175" h="2762250">
                <a:moveTo>
                  <a:pt x="76210" y="0"/>
                </a:moveTo>
                <a:lnTo>
                  <a:pt x="3609965" y="0"/>
                </a:lnTo>
                <a:cubicBezTo>
                  <a:pt x="3652054" y="0"/>
                  <a:pt x="3686175" y="34121"/>
                  <a:pt x="3686175" y="76210"/>
                </a:cubicBezTo>
                <a:lnTo>
                  <a:pt x="3686175" y="2686040"/>
                </a:lnTo>
                <a:cubicBezTo>
                  <a:pt x="3686175" y="2728129"/>
                  <a:pt x="3652054" y="2762250"/>
                  <a:pt x="3609965" y="2762250"/>
                </a:cubicBezTo>
                <a:lnTo>
                  <a:pt x="76210" y="2762250"/>
                </a:lnTo>
                <a:cubicBezTo>
                  <a:pt x="34121" y="2762250"/>
                  <a:pt x="0" y="2728129"/>
                  <a:pt x="0" y="2686040"/>
                </a:cubicBezTo>
                <a:lnTo>
                  <a:pt x="0" y="76210"/>
                </a:lnTo>
                <a:cubicBezTo>
                  <a:pt x="0" y="34121"/>
                  <a:pt x="34121" y="0"/>
                  <a:pt x="76210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254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274025" y="129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23300" y="1371600"/>
            <a:ext cx="2762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45525" y="1276350"/>
            <a:ext cx="11144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45525" y="1581150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93075" y="1885950"/>
            <a:ext cx="3343275" cy="685800"/>
          </a:xfrm>
          <a:custGeom>
            <a:avLst/>
            <a:gdLst/>
            <a:ahLst/>
            <a:cxnLst/>
            <a:rect l="l" t="t" r="r" b="b"/>
            <a:pathLst>
              <a:path w="3343275" h="685800">
                <a:moveTo>
                  <a:pt x="38100" y="0"/>
                </a:moveTo>
                <a:lnTo>
                  <a:pt x="3305172" y="0"/>
                </a:lnTo>
                <a:cubicBezTo>
                  <a:pt x="3326216" y="0"/>
                  <a:pt x="3343275" y="17059"/>
                  <a:pt x="3343275" y="38103"/>
                </a:cubicBezTo>
                <a:lnTo>
                  <a:pt x="3343275" y="647697"/>
                </a:lnTo>
                <a:cubicBezTo>
                  <a:pt x="3343275" y="668741"/>
                  <a:pt x="3326216" y="685800"/>
                  <a:pt x="3305172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293075" y="18859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426425" y="200025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网页端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26425" y="2266950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上传/推理/结果展示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93075" y="2647950"/>
            <a:ext cx="3343275" cy="685800"/>
          </a:xfrm>
          <a:custGeom>
            <a:avLst/>
            <a:gdLst/>
            <a:ahLst/>
            <a:cxnLst/>
            <a:rect l="l" t="t" r="r" b="b"/>
            <a:pathLst>
              <a:path w="3343275" h="685800">
                <a:moveTo>
                  <a:pt x="38100" y="0"/>
                </a:moveTo>
                <a:lnTo>
                  <a:pt x="3305172" y="0"/>
                </a:lnTo>
                <a:cubicBezTo>
                  <a:pt x="3326216" y="0"/>
                  <a:pt x="3343275" y="17059"/>
                  <a:pt x="3343275" y="38103"/>
                </a:cubicBezTo>
                <a:lnTo>
                  <a:pt x="3343275" y="647697"/>
                </a:lnTo>
                <a:cubicBezTo>
                  <a:pt x="3343275" y="668741"/>
                  <a:pt x="3326216" y="685800"/>
                  <a:pt x="3305172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293075" y="26479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426425" y="276225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安卓端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26425" y="3028950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移动端交互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842450" y="3448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381000" y="4038600"/>
            <a:ext cx="11430000" cy="1790700"/>
          </a:xfrm>
          <a:custGeom>
            <a:avLst/>
            <a:gdLst/>
            <a:ahLst/>
            <a:cxnLst/>
            <a:rect l="l" t="t" r="r" b="b"/>
            <a:pathLst>
              <a:path w="11430000" h="1790700">
                <a:moveTo>
                  <a:pt x="76194" y="0"/>
                </a:moveTo>
                <a:lnTo>
                  <a:pt x="11353806" y="0"/>
                </a:lnTo>
                <a:cubicBezTo>
                  <a:pt x="11395858" y="0"/>
                  <a:pt x="11430000" y="34142"/>
                  <a:pt x="11430000" y="76194"/>
                </a:cubicBezTo>
                <a:lnTo>
                  <a:pt x="11430000" y="1714506"/>
                </a:lnTo>
                <a:cubicBezTo>
                  <a:pt x="11430000" y="1756587"/>
                  <a:pt x="11395887" y="1790700"/>
                  <a:pt x="1135380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47688" y="4229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19150" y="4191000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核心技术栈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8163" y="4614863"/>
            <a:ext cx="2124075" cy="1057275"/>
          </a:xfrm>
          <a:custGeom>
            <a:avLst/>
            <a:gdLst/>
            <a:ahLst/>
            <a:cxnLst/>
            <a:rect l="l" t="t" r="r" b="b"/>
            <a:pathLst>
              <a:path w="2124075" h="1057275">
                <a:moveTo>
                  <a:pt x="76198" y="0"/>
                </a:moveTo>
                <a:lnTo>
                  <a:pt x="2047877" y="0"/>
                </a:lnTo>
                <a:cubicBezTo>
                  <a:pt x="2089960" y="0"/>
                  <a:pt x="2124075" y="34115"/>
                  <a:pt x="2124075" y="76198"/>
                </a:cubicBezTo>
                <a:lnTo>
                  <a:pt x="2124075" y="981077"/>
                </a:lnTo>
                <a:cubicBezTo>
                  <a:pt x="2124075" y="1023160"/>
                  <a:pt x="2089960" y="1057275"/>
                  <a:pt x="2047877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477566" y="47339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19125" y="5095875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3888" y="536257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 + NumPy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2786063" y="4614863"/>
            <a:ext cx="2124075" cy="1057275"/>
          </a:xfrm>
          <a:custGeom>
            <a:avLst/>
            <a:gdLst/>
            <a:ahLst/>
            <a:cxnLst/>
            <a:rect l="l" t="t" r="r" b="b"/>
            <a:pathLst>
              <a:path w="2124075" h="1057275">
                <a:moveTo>
                  <a:pt x="76198" y="0"/>
                </a:moveTo>
                <a:lnTo>
                  <a:pt x="2047877" y="0"/>
                </a:lnTo>
                <a:cubicBezTo>
                  <a:pt x="2089960" y="0"/>
                  <a:pt x="2124075" y="34115"/>
                  <a:pt x="2124075" y="76198"/>
                </a:cubicBezTo>
                <a:lnTo>
                  <a:pt x="2124075" y="981077"/>
                </a:lnTo>
                <a:cubicBezTo>
                  <a:pt x="2124075" y="1023160"/>
                  <a:pt x="2089960" y="1057275"/>
                  <a:pt x="2047877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3707606" y="4733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2867025" y="5095875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2871788" y="536257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PyTorch + ResNet50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033963" y="4614863"/>
            <a:ext cx="2124075" cy="1057275"/>
          </a:xfrm>
          <a:custGeom>
            <a:avLst/>
            <a:gdLst/>
            <a:ahLst/>
            <a:cxnLst/>
            <a:rect l="l" t="t" r="r" b="b"/>
            <a:pathLst>
              <a:path w="2124075" h="1057275">
                <a:moveTo>
                  <a:pt x="76198" y="0"/>
                </a:moveTo>
                <a:lnTo>
                  <a:pt x="2047877" y="0"/>
                </a:lnTo>
                <a:cubicBezTo>
                  <a:pt x="2089960" y="0"/>
                  <a:pt x="2124075" y="34115"/>
                  <a:pt x="2124075" y="76198"/>
                </a:cubicBezTo>
                <a:lnTo>
                  <a:pt x="2124075" y="981077"/>
                </a:lnTo>
                <a:cubicBezTo>
                  <a:pt x="2124075" y="1023160"/>
                  <a:pt x="2089960" y="1057275"/>
                  <a:pt x="2047877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5955506" y="4733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5114925" y="5095875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网页前端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119688" y="536257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上传/结果展示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281863" y="4614863"/>
            <a:ext cx="2124075" cy="1057275"/>
          </a:xfrm>
          <a:custGeom>
            <a:avLst/>
            <a:gdLst/>
            <a:ahLst/>
            <a:cxnLst/>
            <a:rect l="l" t="t" r="r" b="b"/>
            <a:pathLst>
              <a:path w="2124075" h="1057275">
                <a:moveTo>
                  <a:pt x="76198" y="0"/>
                </a:moveTo>
                <a:lnTo>
                  <a:pt x="2047877" y="0"/>
                </a:lnTo>
                <a:cubicBezTo>
                  <a:pt x="2089960" y="0"/>
                  <a:pt x="2124075" y="34115"/>
                  <a:pt x="2124075" y="76198"/>
                </a:cubicBezTo>
                <a:lnTo>
                  <a:pt x="2124075" y="981077"/>
                </a:lnTo>
                <a:cubicBezTo>
                  <a:pt x="2124075" y="1023160"/>
                  <a:pt x="2089960" y="1057275"/>
                  <a:pt x="2047877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239125" y="47339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7362825" y="5095875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安卓端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367587" y="536257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登录/诊断/历史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529763" y="4614863"/>
            <a:ext cx="2124075" cy="1057275"/>
          </a:xfrm>
          <a:custGeom>
            <a:avLst/>
            <a:gdLst/>
            <a:ahLst/>
            <a:cxnLst/>
            <a:rect l="l" t="t" r="r" b="b"/>
            <a:pathLst>
              <a:path w="2124075" h="1057275">
                <a:moveTo>
                  <a:pt x="76198" y="0"/>
                </a:moveTo>
                <a:lnTo>
                  <a:pt x="2047877" y="0"/>
                </a:lnTo>
                <a:cubicBezTo>
                  <a:pt x="2089960" y="0"/>
                  <a:pt x="2124075" y="34115"/>
                  <a:pt x="2124075" y="76198"/>
                </a:cubicBezTo>
                <a:lnTo>
                  <a:pt x="2124075" y="981077"/>
                </a:lnTo>
                <a:cubicBezTo>
                  <a:pt x="2124075" y="1023160"/>
                  <a:pt x="2089960" y="1057275"/>
                  <a:pt x="2047877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10469166" y="47339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9610725" y="5095875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615488" y="536257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接口/推理逻辑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52614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2573" y="0"/>
                </a:moveTo>
                <a:lnTo>
                  <a:pt x="435427" y="0"/>
                </a:lnTo>
                <a:cubicBezTo>
                  <a:pt x="475508" y="0"/>
                  <a:pt x="508000" y="32492"/>
                  <a:pt x="508000" y="72573"/>
                </a:cubicBezTo>
                <a:lnTo>
                  <a:pt x="508000" y="435427"/>
                </a:lnTo>
                <a:cubicBezTo>
                  <a:pt x="508000" y="475508"/>
                  <a:pt x="475508" y="508000"/>
                  <a:pt x="435427" y="508000"/>
                </a:cubicBezTo>
                <a:lnTo>
                  <a:pt x="72573" y="508000"/>
                </a:lnTo>
                <a:cubicBezTo>
                  <a:pt x="32492" y="508000"/>
                  <a:pt x="0" y="475508"/>
                  <a:pt x="0" y="435427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21607" y="671286"/>
            <a:ext cx="190500" cy="217714"/>
          </a:xfrm>
          <a:custGeom>
            <a:avLst/>
            <a:gdLst/>
            <a:ahLst/>
            <a:cxnLst/>
            <a:rect l="l" t="t" r="r" b="b"/>
            <a:pathLst>
              <a:path w="190500" h="217714">
                <a:moveTo>
                  <a:pt x="190500" y="87511"/>
                </a:moveTo>
                <a:cubicBezTo>
                  <a:pt x="184207" y="91678"/>
                  <a:pt x="176978" y="95037"/>
                  <a:pt x="169451" y="97716"/>
                </a:cubicBezTo>
                <a:cubicBezTo>
                  <a:pt x="149466" y="104860"/>
                  <a:pt x="123230" y="108857"/>
                  <a:pt x="95250" y="108857"/>
                </a:cubicBezTo>
                <a:cubicBezTo>
                  <a:pt x="67270" y="108857"/>
                  <a:pt x="40992" y="104818"/>
                  <a:pt x="21049" y="97716"/>
                </a:cubicBezTo>
                <a:cubicBezTo>
                  <a:pt x="13565" y="95037"/>
                  <a:pt x="6293" y="91678"/>
                  <a:pt x="0" y="87511"/>
                </a:cubicBezTo>
                <a:lnTo>
                  <a:pt x="0" y="122464"/>
                </a:lnTo>
                <a:cubicBezTo>
                  <a:pt x="0" y="141259"/>
                  <a:pt x="42650" y="156482"/>
                  <a:pt x="95250" y="156482"/>
                </a:cubicBezTo>
                <a:cubicBezTo>
                  <a:pt x="147850" y="156482"/>
                  <a:pt x="190500" y="141259"/>
                  <a:pt x="190500" y="122464"/>
                </a:cubicBezTo>
                <a:lnTo>
                  <a:pt x="190500" y="87511"/>
                </a:lnTo>
                <a:close/>
                <a:moveTo>
                  <a:pt x="190500" y="54429"/>
                </a:moveTo>
                <a:lnTo>
                  <a:pt x="190500" y="34018"/>
                </a:lnTo>
                <a:cubicBezTo>
                  <a:pt x="190500" y="15223"/>
                  <a:pt x="147850" y="0"/>
                  <a:pt x="95250" y="0"/>
                </a:cubicBezTo>
                <a:cubicBezTo>
                  <a:pt x="42650" y="0"/>
                  <a:pt x="0" y="15223"/>
                  <a:pt x="0" y="34018"/>
                </a:cubicBezTo>
                <a:lnTo>
                  <a:pt x="0" y="54429"/>
                </a:lnTo>
                <a:cubicBezTo>
                  <a:pt x="0" y="73223"/>
                  <a:pt x="42650" y="88446"/>
                  <a:pt x="95250" y="88446"/>
                </a:cubicBezTo>
                <a:cubicBezTo>
                  <a:pt x="147850" y="88446"/>
                  <a:pt x="190500" y="73223"/>
                  <a:pt x="190500" y="54429"/>
                </a:cubicBezTo>
                <a:close/>
                <a:moveTo>
                  <a:pt x="169451" y="165752"/>
                </a:moveTo>
                <a:cubicBezTo>
                  <a:pt x="149508" y="172853"/>
                  <a:pt x="123272" y="176893"/>
                  <a:pt x="95250" y="176893"/>
                </a:cubicBezTo>
                <a:cubicBezTo>
                  <a:pt x="67228" y="176893"/>
                  <a:pt x="40992" y="172853"/>
                  <a:pt x="21049" y="165752"/>
                </a:cubicBezTo>
                <a:cubicBezTo>
                  <a:pt x="13565" y="163073"/>
                  <a:pt x="6293" y="159714"/>
                  <a:pt x="0" y="155547"/>
                </a:cubicBezTo>
                <a:lnTo>
                  <a:pt x="0" y="183696"/>
                </a:lnTo>
                <a:cubicBezTo>
                  <a:pt x="0" y="202491"/>
                  <a:pt x="42650" y="217714"/>
                  <a:pt x="95250" y="217714"/>
                </a:cubicBezTo>
                <a:cubicBezTo>
                  <a:pt x="147850" y="217714"/>
                  <a:pt x="190500" y="202491"/>
                  <a:pt x="190500" y="183696"/>
                </a:cubicBezTo>
                <a:lnTo>
                  <a:pt x="190500" y="155547"/>
                </a:lnTo>
                <a:cubicBezTo>
                  <a:pt x="184207" y="159714"/>
                  <a:pt x="176978" y="163073"/>
                  <a:pt x="169451" y="165752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16000" y="362857"/>
            <a:ext cx="2757714" cy="435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数据预处理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834571"/>
            <a:ext cx="26307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Annotation File Auto-Generation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1161143"/>
            <a:ext cx="1161143" cy="36286"/>
          </a:xfrm>
          <a:custGeom>
            <a:avLst/>
            <a:gdLst/>
            <a:ahLst/>
            <a:cxnLst/>
            <a:rect l="l" t="t" r="r" b="b"/>
            <a:pathLst>
              <a:path w="1161143" h="36286">
                <a:moveTo>
                  <a:pt x="0" y="0"/>
                </a:moveTo>
                <a:lnTo>
                  <a:pt x="1161143" y="0"/>
                </a:lnTo>
                <a:lnTo>
                  <a:pt x="1161143" y="36286"/>
                </a:lnTo>
                <a:lnTo>
                  <a:pt x="0" y="36286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81000" y="1342571"/>
            <a:ext cx="5642429" cy="1723571"/>
          </a:xfrm>
          <a:custGeom>
            <a:avLst/>
            <a:gdLst/>
            <a:ahLst/>
            <a:cxnLst/>
            <a:rect l="l" t="t" r="r" b="b"/>
            <a:pathLst>
              <a:path w="5642429" h="1723571">
                <a:moveTo>
                  <a:pt x="36286" y="0"/>
                </a:moveTo>
                <a:lnTo>
                  <a:pt x="5569849" y="0"/>
                </a:lnTo>
                <a:cubicBezTo>
                  <a:pt x="5609907" y="0"/>
                  <a:pt x="5642429" y="32522"/>
                  <a:pt x="5642429" y="72580"/>
                </a:cubicBezTo>
                <a:lnTo>
                  <a:pt x="5642429" y="1650992"/>
                </a:lnTo>
                <a:cubicBezTo>
                  <a:pt x="5642429" y="1691076"/>
                  <a:pt x="5609934" y="1723571"/>
                  <a:pt x="5569849" y="1723571"/>
                </a:cubicBezTo>
                <a:lnTo>
                  <a:pt x="36286" y="1723571"/>
                </a:lnTo>
                <a:cubicBezTo>
                  <a:pt x="16246" y="1723571"/>
                  <a:pt x="0" y="1707326"/>
                  <a:pt x="0" y="1687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81000" y="1342571"/>
            <a:ext cx="36286" cy="1723571"/>
          </a:xfrm>
          <a:custGeom>
            <a:avLst/>
            <a:gdLst/>
            <a:ahLst/>
            <a:cxnLst/>
            <a:rect l="l" t="t" r="r" b="b"/>
            <a:pathLst>
              <a:path w="36286" h="1723571">
                <a:moveTo>
                  <a:pt x="36286" y="0"/>
                </a:moveTo>
                <a:lnTo>
                  <a:pt x="36286" y="0"/>
                </a:lnTo>
                <a:lnTo>
                  <a:pt x="36286" y="1723571"/>
                </a:lnTo>
                <a:lnTo>
                  <a:pt x="36286" y="1723571"/>
                </a:lnTo>
                <a:cubicBezTo>
                  <a:pt x="16246" y="1723571"/>
                  <a:pt x="0" y="1707326"/>
                  <a:pt x="0" y="1687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98714" y="1524000"/>
            <a:ext cx="163286" cy="217714"/>
          </a:xfrm>
          <a:custGeom>
            <a:avLst/>
            <a:gdLst/>
            <a:ahLst/>
            <a:cxnLst/>
            <a:rect l="l" t="t" r="r" b="b"/>
            <a:pathLst>
              <a:path w="163286" h="217714">
                <a:moveTo>
                  <a:pt x="132415" y="13607"/>
                </a:moveTo>
                <a:lnTo>
                  <a:pt x="136071" y="13607"/>
                </a:lnTo>
                <a:cubicBezTo>
                  <a:pt x="151082" y="13607"/>
                  <a:pt x="163286" y="25811"/>
                  <a:pt x="163286" y="40821"/>
                </a:cubicBezTo>
                <a:lnTo>
                  <a:pt x="163286" y="190500"/>
                </a:lnTo>
                <a:cubicBezTo>
                  <a:pt x="163286" y="205510"/>
                  <a:pt x="151082" y="217714"/>
                  <a:pt x="136071" y="217714"/>
                </a:cubicBezTo>
                <a:lnTo>
                  <a:pt x="27214" y="217714"/>
                </a:lnTo>
                <a:cubicBezTo>
                  <a:pt x="12204" y="217714"/>
                  <a:pt x="0" y="205510"/>
                  <a:pt x="0" y="190500"/>
                </a:cubicBezTo>
                <a:lnTo>
                  <a:pt x="0" y="40821"/>
                </a:lnTo>
                <a:cubicBezTo>
                  <a:pt x="0" y="25811"/>
                  <a:pt x="12204" y="13607"/>
                  <a:pt x="27214" y="13607"/>
                </a:cubicBezTo>
                <a:lnTo>
                  <a:pt x="30871" y="13607"/>
                </a:lnTo>
                <a:cubicBezTo>
                  <a:pt x="35549" y="5485"/>
                  <a:pt x="44351" y="0"/>
                  <a:pt x="54429" y="0"/>
                </a:cubicBezTo>
                <a:lnTo>
                  <a:pt x="108857" y="0"/>
                </a:lnTo>
                <a:cubicBezTo>
                  <a:pt x="118935" y="0"/>
                  <a:pt x="127737" y="5485"/>
                  <a:pt x="132415" y="13607"/>
                </a:cubicBezTo>
                <a:close/>
                <a:moveTo>
                  <a:pt x="105455" y="47625"/>
                </a:moveTo>
                <a:cubicBezTo>
                  <a:pt x="111111" y="47625"/>
                  <a:pt x="115661" y="43075"/>
                  <a:pt x="115661" y="37420"/>
                </a:cubicBezTo>
                <a:cubicBezTo>
                  <a:pt x="115661" y="31764"/>
                  <a:pt x="111111" y="27214"/>
                  <a:pt x="105455" y="27214"/>
                </a:cubicBezTo>
                <a:lnTo>
                  <a:pt x="57830" y="27214"/>
                </a:lnTo>
                <a:cubicBezTo>
                  <a:pt x="52175" y="27214"/>
                  <a:pt x="47625" y="31764"/>
                  <a:pt x="47625" y="37420"/>
                </a:cubicBezTo>
                <a:cubicBezTo>
                  <a:pt x="47625" y="43075"/>
                  <a:pt x="52175" y="47625"/>
                  <a:pt x="57830" y="47625"/>
                </a:cubicBezTo>
                <a:lnTo>
                  <a:pt x="105455" y="47625"/>
                </a:lnTo>
                <a:close/>
                <a:moveTo>
                  <a:pt x="54429" y="108857"/>
                </a:moveTo>
                <a:cubicBezTo>
                  <a:pt x="54429" y="101347"/>
                  <a:pt x="48331" y="95250"/>
                  <a:pt x="40821" y="95250"/>
                </a:cubicBezTo>
                <a:cubicBezTo>
                  <a:pt x="33311" y="95250"/>
                  <a:pt x="27214" y="101347"/>
                  <a:pt x="27214" y="108857"/>
                </a:cubicBezTo>
                <a:cubicBezTo>
                  <a:pt x="27214" y="116367"/>
                  <a:pt x="33311" y="122464"/>
                  <a:pt x="40821" y="122464"/>
                </a:cubicBezTo>
                <a:cubicBezTo>
                  <a:pt x="48331" y="122464"/>
                  <a:pt x="54429" y="116367"/>
                  <a:pt x="54429" y="108857"/>
                </a:cubicBezTo>
                <a:close/>
                <a:moveTo>
                  <a:pt x="68036" y="108857"/>
                </a:moveTo>
                <a:cubicBezTo>
                  <a:pt x="68036" y="114513"/>
                  <a:pt x="72586" y="119062"/>
                  <a:pt x="78241" y="119062"/>
                </a:cubicBezTo>
                <a:lnTo>
                  <a:pt x="125866" y="119062"/>
                </a:lnTo>
                <a:cubicBezTo>
                  <a:pt x="131522" y="119062"/>
                  <a:pt x="136071" y="114513"/>
                  <a:pt x="136071" y="108857"/>
                </a:cubicBezTo>
                <a:cubicBezTo>
                  <a:pt x="136071" y="103202"/>
                  <a:pt x="131522" y="98652"/>
                  <a:pt x="125866" y="98652"/>
                </a:cubicBezTo>
                <a:lnTo>
                  <a:pt x="78241" y="98652"/>
                </a:lnTo>
                <a:cubicBezTo>
                  <a:pt x="72586" y="98652"/>
                  <a:pt x="68036" y="103202"/>
                  <a:pt x="68036" y="108857"/>
                </a:cubicBezTo>
                <a:close/>
                <a:moveTo>
                  <a:pt x="68036" y="163286"/>
                </a:moveTo>
                <a:cubicBezTo>
                  <a:pt x="68036" y="168941"/>
                  <a:pt x="72586" y="173491"/>
                  <a:pt x="78241" y="173491"/>
                </a:cubicBezTo>
                <a:lnTo>
                  <a:pt x="125866" y="173491"/>
                </a:lnTo>
                <a:cubicBezTo>
                  <a:pt x="131522" y="173491"/>
                  <a:pt x="136071" y="168941"/>
                  <a:pt x="136071" y="163286"/>
                </a:cubicBezTo>
                <a:cubicBezTo>
                  <a:pt x="136071" y="157630"/>
                  <a:pt x="131522" y="153080"/>
                  <a:pt x="125866" y="153080"/>
                </a:cubicBezTo>
                <a:lnTo>
                  <a:pt x="78241" y="153080"/>
                </a:lnTo>
                <a:cubicBezTo>
                  <a:pt x="72586" y="153080"/>
                  <a:pt x="68036" y="157630"/>
                  <a:pt x="68036" y="163286"/>
                </a:cubicBezTo>
                <a:close/>
                <a:moveTo>
                  <a:pt x="40821" y="176893"/>
                </a:moveTo>
                <a:cubicBezTo>
                  <a:pt x="48331" y="176893"/>
                  <a:pt x="54429" y="170796"/>
                  <a:pt x="54429" y="163286"/>
                </a:cubicBezTo>
                <a:cubicBezTo>
                  <a:pt x="54429" y="155776"/>
                  <a:pt x="48331" y="149679"/>
                  <a:pt x="40821" y="149679"/>
                </a:cubicBezTo>
                <a:cubicBezTo>
                  <a:pt x="33311" y="149679"/>
                  <a:pt x="27214" y="155776"/>
                  <a:pt x="27214" y="163286"/>
                </a:cubicBezTo>
                <a:cubicBezTo>
                  <a:pt x="27214" y="170796"/>
                  <a:pt x="33311" y="176893"/>
                  <a:pt x="40821" y="176893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6429" y="1487714"/>
            <a:ext cx="5170714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核心需求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4286" y="190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6268" y="1941286"/>
            <a:ext cx="117929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0857" y="1886857"/>
            <a:ext cx="5080000" cy="235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数据集分散在4个类别文件夹，需自动整理为训练/验证/测试集标注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4286" y="2286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5567" y="2322286"/>
            <a:ext cx="1360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0857" y="2267857"/>
            <a:ext cx="5080000" cy="235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避免无效路径、重复样本，保证标注文件有效性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286" y="2667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3937" y="2703286"/>
            <a:ext cx="1360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0857" y="2648857"/>
            <a:ext cx="5080000" cy="235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支持少样本类别重复采样补齐，提升数据平衡性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2857" y="3211286"/>
            <a:ext cx="5660571" cy="3283857"/>
          </a:xfrm>
          <a:custGeom>
            <a:avLst/>
            <a:gdLst/>
            <a:ahLst/>
            <a:cxnLst/>
            <a:rect l="l" t="t" r="r" b="b"/>
            <a:pathLst>
              <a:path w="5660571" h="3283857">
                <a:moveTo>
                  <a:pt x="72573" y="0"/>
                </a:moveTo>
                <a:lnTo>
                  <a:pt x="5587998" y="0"/>
                </a:lnTo>
                <a:cubicBezTo>
                  <a:pt x="5628079" y="0"/>
                  <a:pt x="5660571" y="32492"/>
                  <a:pt x="5660571" y="72573"/>
                </a:cubicBezTo>
                <a:lnTo>
                  <a:pt x="5660571" y="3211284"/>
                </a:lnTo>
                <a:cubicBezTo>
                  <a:pt x="5660571" y="3251365"/>
                  <a:pt x="5628079" y="3283857"/>
                  <a:pt x="5587998" y="3283857"/>
                </a:cubicBezTo>
                <a:lnTo>
                  <a:pt x="72573" y="3283857"/>
                </a:lnTo>
                <a:cubicBezTo>
                  <a:pt x="32492" y="3283857"/>
                  <a:pt x="0" y="3251365"/>
                  <a:pt x="0" y="3211284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08000" y="3392714"/>
            <a:ext cx="272143" cy="217714"/>
          </a:xfrm>
          <a:custGeom>
            <a:avLst/>
            <a:gdLst/>
            <a:ahLst/>
            <a:cxnLst/>
            <a:rect l="l" t="t" r="r" b="b"/>
            <a:pathLst>
              <a:path w="272143" h="217714">
                <a:moveTo>
                  <a:pt x="176850" y="89509"/>
                </a:moveTo>
                <a:cubicBezTo>
                  <a:pt x="182038" y="88106"/>
                  <a:pt x="187481" y="90573"/>
                  <a:pt x="189820" y="95378"/>
                </a:cubicBezTo>
                <a:lnTo>
                  <a:pt x="197729" y="111366"/>
                </a:lnTo>
                <a:cubicBezTo>
                  <a:pt x="202109" y="111961"/>
                  <a:pt x="206403" y="113152"/>
                  <a:pt x="210443" y="114810"/>
                </a:cubicBezTo>
                <a:lnTo>
                  <a:pt x="225326" y="104903"/>
                </a:lnTo>
                <a:cubicBezTo>
                  <a:pt x="229791" y="101926"/>
                  <a:pt x="235701" y="102521"/>
                  <a:pt x="239486" y="106306"/>
                </a:cubicBezTo>
                <a:lnTo>
                  <a:pt x="247650" y="114470"/>
                </a:lnTo>
                <a:cubicBezTo>
                  <a:pt x="251434" y="118255"/>
                  <a:pt x="252030" y="124208"/>
                  <a:pt x="249053" y="128630"/>
                </a:cubicBezTo>
                <a:lnTo>
                  <a:pt x="239146" y="143470"/>
                </a:lnTo>
                <a:cubicBezTo>
                  <a:pt x="239953" y="145469"/>
                  <a:pt x="240676" y="147552"/>
                  <a:pt x="241272" y="149721"/>
                </a:cubicBezTo>
                <a:cubicBezTo>
                  <a:pt x="241867" y="151890"/>
                  <a:pt x="242250" y="154016"/>
                  <a:pt x="242547" y="156184"/>
                </a:cubicBezTo>
                <a:lnTo>
                  <a:pt x="258578" y="164094"/>
                </a:lnTo>
                <a:cubicBezTo>
                  <a:pt x="263383" y="166475"/>
                  <a:pt x="265850" y="171918"/>
                  <a:pt x="264446" y="177063"/>
                </a:cubicBezTo>
                <a:lnTo>
                  <a:pt x="261470" y="188204"/>
                </a:lnTo>
                <a:cubicBezTo>
                  <a:pt x="260067" y="193349"/>
                  <a:pt x="255261" y="196836"/>
                  <a:pt x="249904" y="196496"/>
                </a:cubicBezTo>
                <a:lnTo>
                  <a:pt x="232044" y="195348"/>
                </a:lnTo>
                <a:cubicBezTo>
                  <a:pt x="229365" y="198792"/>
                  <a:pt x="226261" y="201981"/>
                  <a:pt x="222732" y="204702"/>
                </a:cubicBezTo>
                <a:lnTo>
                  <a:pt x="223880" y="222519"/>
                </a:lnTo>
                <a:cubicBezTo>
                  <a:pt x="224220" y="227877"/>
                  <a:pt x="220733" y="232725"/>
                  <a:pt x="215588" y="234085"/>
                </a:cubicBezTo>
                <a:lnTo>
                  <a:pt x="204447" y="237062"/>
                </a:lnTo>
                <a:cubicBezTo>
                  <a:pt x="199260" y="238465"/>
                  <a:pt x="193859" y="235999"/>
                  <a:pt x="191478" y="231194"/>
                </a:cubicBezTo>
                <a:lnTo>
                  <a:pt x="183569" y="215205"/>
                </a:lnTo>
                <a:cubicBezTo>
                  <a:pt x="179189" y="214610"/>
                  <a:pt x="174894" y="213420"/>
                  <a:pt x="170855" y="211761"/>
                </a:cubicBezTo>
                <a:lnTo>
                  <a:pt x="155972" y="221669"/>
                </a:lnTo>
                <a:cubicBezTo>
                  <a:pt x="151507" y="224645"/>
                  <a:pt x="145596" y="224050"/>
                  <a:pt x="141812" y="220266"/>
                </a:cubicBezTo>
                <a:lnTo>
                  <a:pt x="133648" y="212101"/>
                </a:lnTo>
                <a:cubicBezTo>
                  <a:pt x="129863" y="208317"/>
                  <a:pt x="129268" y="202406"/>
                  <a:pt x="132244" y="197941"/>
                </a:cubicBezTo>
                <a:lnTo>
                  <a:pt x="142152" y="183059"/>
                </a:lnTo>
                <a:cubicBezTo>
                  <a:pt x="141344" y="181060"/>
                  <a:pt x="140621" y="178976"/>
                  <a:pt x="140026" y="176808"/>
                </a:cubicBezTo>
                <a:cubicBezTo>
                  <a:pt x="139431" y="174639"/>
                  <a:pt x="139048" y="172471"/>
                  <a:pt x="138750" y="170344"/>
                </a:cubicBezTo>
                <a:lnTo>
                  <a:pt x="122719" y="162435"/>
                </a:lnTo>
                <a:cubicBezTo>
                  <a:pt x="117914" y="160054"/>
                  <a:pt x="115491" y="154611"/>
                  <a:pt x="116851" y="149466"/>
                </a:cubicBezTo>
                <a:lnTo>
                  <a:pt x="119828" y="138325"/>
                </a:lnTo>
                <a:cubicBezTo>
                  <a:pt x="121231" y="133180"/>
                  <a:pt x="126036" y="129693"/>
                  <a:pt x="131394" y="130033"/>
                </a:cubicBezTo>
                <a:lnTo>
                  <a:pt x="149211" y="131181"/>
                </a:lnTo>
                <a:cubicBezTo>
                  <a:pt x="151890" y="127737"/>
                  <a:pt x="154994" y="124548"/>
                  <a:pt x="158523" y="121826"/>
                </a:cubicBezTo>
                <a:lnTo>
                  <a:pt x="157375" y="104052"/>
                </a:lnTo>
                <a:cubicBezTo>
                  <a:pt x="157035" y="98694"/>
                  <a:pt x="160522" y="93847"/>
                  <a:pt x="165667" y="92486"/>
                </a:cubicBezTo>
                <a:lnTo>
                  <a:pt x="176808" y="89509"/>
                </a:lnTo>
                <a:close/>
                <a:moveTo>
                  <a:pt x="190670" y="144576"/>
                </a:moveTo>
                <a:cubicBezTo>
                  <a:pt x="180344" y="144588"/>
                  <a:pt x="171970" y="152981"/>
                  <a:pt x="171982" y="163307"/>
                </a:cubicBezTo>
                <a:cubicBezTo>
                  <a:pt x="171993" y="173633"/>
                  <a:pt x="180386" y="182007"/>
                  <a:pt x="190713" y="181996"/>
                </a:cubicBezTo>
                <a:cubicBezTo>
                  <a:pt x="201039" y="181984"/>
                  <a:pt x="209413" y="173591"/>
                  <a:pt x="209401" y="163264"/>
                </a:cubicBezTo>
                <a:cubicBezTo>
                  <a:pt x="209389" y="152938"/>
                  <a:pt x="200996" y="144564"/>
                  <a:pt x="190670" y="144576"/>
                </a:cubicBezTo>
                <a:close/>
                <a:moveTo>
                  <a:pt x="95633" y="-19348"/>
                </a:moveTo>
                <a:lnTo>
                  <a:pt x="106774" y="-16371"/>
                </a:lnTo>
                <a:cubicBezTo>
                  <a:pt x="111919" y="-14968"/>
                  <a:pt x="115406" y="-10120"/>
                  <a:pt x="115065" y="-4805"/>
                </a:cubicBezTo>
                <a:lnTo>
                  <a:pt x="113917" y="12969"/>
                </a:lnTo>
                <a:cubicBezTo>
                  <a:pt x="117447" y="15691"/>
                  <a:pt x="120551" y="18837"/>
                  <a:pt x="123230" y="22324"/>
                </a:cubicBezTo>
                <a:lnTo>
                  <a:pt x="141089" y="21176"/>
                </a:lnTo>
                <a:cubicBezTo>
                  <a:pt x="146404" y="20836"/>
                  <a:pt x="151252" y="24323"/>
                  <a:pt x="152655" y="29468"/>
                </a:cubicBezTo>
                <a:lnTo>
                  <a:pt x="155632" y="40609"/>
                </a:lnTo>
                <a:cubicBezTo>
                  <a:pt x="156992" y="45754"/>
                  <a:pt x="154569" y="51197"/>
                  <a:pt x="149764" y="53578"/>
                </a:cubicBezTo>
                <a:lnTo>
                  <a:pt x="133733" y="61487"/>
                </a:lnTo>
                <a:cubicBezTo>
                  <a:pt x="133435" y="63656"/>
                  <a:pt x="133010" y="65825"/>
                  <a:pt x="132457" y="67951"/>
                </a:cubicBezTo>
                <a:cubicBezTo>
                  <a:pt x="131904" y="70077"/>
                  <a:pt x="131139" y="72203"/>
                  <a:pt x="130331" y="74201"/>
                </a:cubicBezTo>
                <a:lnTo>
                  <a:pt x="140239" y="89084"/>
                </a:lnTo>
                <a:cubicBezTo>
                  <a:pt x="143215" y="93549"/>
                  <a:pt x="142620" y="99460"/>
                  <a:pt x="138835" y="103244"/>
                </a:cubicBezTo>
                <a:lnTo>
                  <a:pt x="130671" y="111408"/>
                </a:lnTo>
                <a:cubicBezTo>
                  <a:pt x="126887" y="115193"/>
                  <a:pt x="120976" y="115788"/>
                  <a:pt x="116511" y="112812"/>
                </a:cubicBezTo>
                <a:lnTo>
                  <a:pt x="101628" y="102904"/>
                </a:lnTo>
                <a:cubicBezTo>
                  <a:pt x="97589" y="104562"/>
                  <a:pt x="93294" y="105753"/>
                  <a:pt x="88914" y="106348"/>
                </a:cubicBezTo>
                <a:lnTo>
                  <a:pt x="81005" y="122337"/>
                </a:lnTo>
                <a:cubicBezTo>
                  <a:pt x="78624" y="127142"/>
                  <a:pt x="73181" y="129566"/>
                  <a:pt x="68036" y="128205"/>
                </a:cubicBezTo>
                <a:lnTo>
                  <a:pt x="56895" y="125228"/>
                </a:lnTo>
                <a:cubicBezTo>
                  <a:pt x="51707" y="123825"/>
                  <a:pt x="48263" y="118977"/>
                  <a:pt x="48603" y="113662"/>
                </a:cubicBezTo>
                <a:lnTo>
                  <a:pt x="49751" y="95845"/>
                </a:lnTo>
                <a:cubicBezTo>
                  <a:pt x="46222" y="93124"/>
                  <a:pt x="43118" y="89977"/>
                  <a:pt x="40439" y="86490"/>
                </a:cubicBezTo>
                <a:lnTo>
                  <a:pt x="22579" y="87639"/>
                </a:lnTo>
                <a:cubicBezTo>
                  <a:pt x="17264" y="87979"/>
                  <a:pt x="12417" y="84492"/>
                  <a:pt x="11013" y="79347"/>
                </a:cubicBezTo>
                <a:lnTo>
                  <a:pt x="8037" y="68206"/>
                </a:lnTo>
                <a:cubicBezTo>
                  <a:pt x="6676" y="63061"/>
                  <a:pt x="9100" y="57618"/>
                  <a:pt x="13905" y="55236"/>
                </a:cubicBezTo>
                <a:lnTo>
                  <a:pt x="29936" y="47327"/>
                </a:lnTo>
                <a:cubicBezTo>
                  <a:pt x="30233" y="45159"/>
                  <a:pt x="30659" y="43033"/>
                  <a:pt x="31211" y="40864"/>
                </a:cubicBezTo>
                <a:cubicBezTo>
                  <a:pt x="31807" y="38695"/>
                  <a:pt x="32487" y="36612"/>
                  <a:pt x="33338" y="34613"/>
                </a:cubicBezTo>
                <a:lnTo>
                  <a:pt x="23430" y="19773"/>
                </a:lnTo>
                <a:cubicBezTo>
                  <a:pt x="20453" y="15308"/>
                  <a:pt x="21049" y="9397"/>
                  <a:pt x="24833" y="5613"/>
                </a:cubicBezTo>
                <a:lnTo>
                  <a:pt x="32997" y="-2551"/>
                </a:lnTo>
                <a:cubicBezTo>
                  <a:pt x="36782" y="-6336"/>
                  <a:pt x="42692" y="-6931"/>
                  <a:pt x="47157" y="-3955"/>
                </a:cubicBezTo>
                <a:lnTo>
                  <a:pt x="62040" y="5953"/>
                </a:lnTo>
                <a:cubicBezTo>
                  <a:pt x="66080" y="4295"/>
                  <a:pt x="70374" y="3104"/>
                  <a:pt x="74754" y="2509"/>
                </a:cubicBezTo>
                <a:lnTo>
                  <a:pt x="82663" y="-13480"/>
                </a:lnTo>
                <a:cubicBezTo>
                  <a:pt x="85045" y="-18285"/>
                  <a:pt x="90445" y="-20708"/>
                  <a:pt x="95633" y="-19348"/>
                </a:cubicBezTo>
                <a:close/>
                <a:moveTo>
                  <a:pt x="81813" y="35719"/>
                </a:moveTo>
                <a:cubicBezTo>
                  <a:pt x="71487" y="35719"/>
                  <a:pt x="63103" y="44102"/>
                  <a:pt x="63103" y="54429"/>
                </a:cubicBezTo>
                <a:cubicBezTo>
                  <a:pt x="63103" y="64755"/>
                  <a:pt x="71487" y="73138"/>
                  <a:pt x="81813" y="73138"/>
                </a:cubicBezTo>
                <a:cubicBezTo>
                  <a:pt x="92139" y="73138"/>
                  <a:pt x="100523" y="64755"/>
                  <a:pt x="100523" y="54429"/>
                </a:cubicBezTo>
                <a:cubicBezTo>
                  <a:pt x="100523" y="44102"/>
                  <a:pt x="92139" y="35719"/>
                  <a:pt x="81813" y="35719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80143" y="3356429"/>
            <a:ext cx="5207000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输出结果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2536" y="3760107"/>
            <a:ext cx="5361214" cy="625929"/>
          </a:xfrm>
          <a:custGeom>
            <a:avLst/>
            <a:gdLst/>
            <a:ahLst/>
            <a:cxnLst/>
            <a:rect l="l" t="t" r="r" b="b"/>
            <a:pathLst>
              <a:path w="5361214" h="625929">
                <a:moveTo>
                  <a:pt x="72570" y="0"/>
                </a:moveTo>
                <a:lnTo>
                  <a:pt x="5288644" y="0"/>
                </a:lnTo>
                <a:cubicBezTo>
                  <a:pt x="5328724" y="0"/>
                  <a:pt x="5361214" y="32491"/>
                  <a:pt x="5361214" y="72570"/>
                </a:cubicBezTo>
                <a:lnTo>
                  <a:pt x="5361214" y="553358"/>
                </a:lnTo>
                <a:cubicBezTo>
                  <a:pt x="5361214" y="593438"/>
                  <a:pt x="5328724" y="625929"/>
                  <a:pt x="5288644" y="625929"/>
                </a:cubicBezTo>
                <a:lnTo>
                  <a:pt x="72570" y="625929"/>
                </a:lnTo>
                <a:cubicBezTo>
                  <a:pt x="32491" y="625929"/>
                  <a:pt x="0" y="593438"/>
                  <a:pt x="0" y="553358"/>
                </a:cubicBezTo>
                <a:lnTo>
                  <a:pt x="0" y="72570"/>
                </a:lnTo>
                <a:cubicBezTo>
                  <a:pt x="0" y="32518"/>
                  <a:pt x="32518" y="0"/>
                  <a:pt x="725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80357" y="3964214"/>
            <a:ext cx="163286" cy="217714"/>
          </a:xfrm>
          <a:custGeom>
            <a:avLst/>
            <a:gdLst/>
            <a:ahLst/>
            <a:cxnLst/>
            <a:rect l="l" t="t" r="r" b="b"/>
            <a:pathLst>
              <a:path w="163286" h="217714">
                <a:moveTo>
                  <a:pt x="0" y="27214"/>
                </a:moveTo>
                <a:cubicBezTo>
                  <a:pt x="0" y="12204"/>
                  <a:pt x="12204" y="0"/>
                  <a:pt x="27214" y="0"/>
                </a:cubicBezTo>
                <a:lnTo>
                  <a:pt x="90785" y="0"/>
                </a:lnTo>
                <a:cubicBezTo>
                  <a:pt x="98014" y="0"/>
                  <a:pt x="104945" y="2849"/>
                  <a:pt x="110048" y="7952"/>
                </a:cubicBezTo>
                <a:lnTo>
                  <a:pt x="155334" y="53280"/>
                </a:lnTo>
                <a:cubicBezTo>
                  <a:pt x="160437" y="58383"/>
                  <a:pt x="163286" y="65314"/>
                  <a:pt x="163286" y="72543"/>
                </a:cubicBezTo>
                <a:lnTo>
                  <a:pt x="163286" y="190500"/>
                </a:lnTo>
                <a:cubicBezTo>
                  <a:pt x="163286" y="205510"/>
                  <a:pt x="151082" y="217714"/>
                  <a:pt x="136071" y="217714"/>
                </a:cubicBezTo>
                <a:lnTo>
                  <a:pt x="27214" y="217714"/>
                </a:lnTo>
                <a:cubicBezTo>
                  <a:pt x="12204" y="217714"/>
                  <a:pt x="0" y="205510"/>
                  <a:pt x="0" y="190500"/>
                </a:cubicBezTo>
                <a:lnTo>
                  <a:pt x="0" y="27214"/>
                </a:lnTo>
                <a:close/>
                <a:moveTo>
                  <a:pt x="88446" y="24876"/>
                </a:moveTo>
                <a:lnTo>
                  <a:pt x="88446" y="64634"/>
                </a:lnTo>
                <a:cubicBezTo>
                  <a:pt x="88446" y="70289"/>
                  <a:pt x="92996" y="74839"/>
                  <a:pt x="98652" y="74839"/>
                </a:cubicBezTo>
                <a:lnTo>
                  <a:pt x="138410" y="74839"/>
                </a:lnTo>
                <a:lnTo>
                  <a:pt x="88446" y="24876"/>
                </a:lnTo>
                <a:close/>
                <a:moveTo>
                  <a:pt x="51027" y="108857"/>
                </a:moveTo>
                <a:cubicBezTo>
                  <a:pt x="45371" y="108857"/>
                  <a:pt x="40821" y="113407"/>
                  <a:pt x="40821" y="119062"/>
                </a:cubicBezTo>
                <a:cubicBezTo>
                  <a:pt x="40821" y="124718"/>
                  <a:pt x="45371" y="129268"/>
                  <a:pt x="51027" y="129268"/>
                </a:cubicBezTo>
                <a:lnTo>
                  <a:pt x="112259" y="129268"/>
                </a:lnTo>
                <a:cubicBezTo>
                  <a:pt x="117914" y="129268"/>
                  <a:pt x="122464" y="124718"/>
                  <a:pt x="122464" y="119062"/>
                </a:cubicBezTo>
                <a:cubicBezTo>
                  <a:pt x="122464" y="113407"/>
                  <a:pt x="117914" y="108857"/>
                  <a:pt x="112259" y="108857"/>
                </a:cubicBezTo>
                <a:lnTo>
                  <a:pt x="51027" y="108857"/>
                </a:lnTo>
                <a:close/>
                <a:moveTo>
                  <a:pt x="51027" y="149679"/>
                </a:moveTo>
                <a:cubicBezTo>
                  <a:pt x="45371" y="149679"/>
                  <a:pt x="40821" y="154228"/>
                  <a:pt x="40821" y="159884"/>
                </a:cubicBezTo>
                <a:cubicBezTo>
                  <a:pt x="40821" y="165539"/>
                  <a:pt x="45371" y="170089"/>
                  <a:pt x="51027" y="170089"/>
                </a:cubicBezTo>
                <a:lnTo>
                  <a:pt x="112259" y="170089"/>
                </a:lnTo>
                <a:cubicBezTo>
                  <a:pt x="117914" y="170089"/>
                  <a:pt x="122464" y="165539"/>
                  <a:pt x="122464" y="159884"/>
                </a:cubicBezTo>
                <a:cubicBezTo>
                  <a:pt x="122464" y="154228"/>
                  <a:pt x="117914" y="149679"/>
                  <a:pt x="112259" y="149679"/>
                </a:cubicBezTo>
                <a:lnTo>
                  <a:pt x="51027" y="149679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06929" y="3873500"/>
            <a:ext cx="4826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train_annotations.txt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6929" y="4091214"/>
            <a:ext cx="4816929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训练集标注文件 (80%)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2536" y="4467679"/>
            <a:ext cx="5361214" cy="625929"/>
          </a:xfrm>
          <a:custGeom>
            <a:avLst/>
            <a:gdLst/>
            <a:ahLst/>
            <a:cxnLst/>
            <a:rect l="l" t="t" r="r" b="b"/>
            <a:pathLst>
              <a:path w="5361214" h="625929">
                <a:moveTo>
                  <a:pt x="72570" y="0"/>
                </a:moveTo>
                <a:lnTo>
                  <a:pt x="5288644" y="0"/>
                </a:lnTo>
                <a:cubicBezTo>
                  <a:pt x="5328724" y="0"/>
                  <a:pt x="5361214" y="32491"/>
                  <a:pt x="5361214" y="72570"/>
                </a:cubicBezTo>
                <a:lnTo>
                  <a:pt x="5361214" y="553358"/>
                </a:lnTo>
                <a:cubicBezTo>
                  <a:pt x="5361214" y="593438"/>
                  <a:pt x="5328724" y="625929"/>
                  <a:pt x="5288644" y="625929"/>
                </a:cubicBezTo>
                <a:lnTo>
                  <a:pt x="72570" y="625929"/>
                </a:lnTo>
                <a:cubicBezTo>
                  <a:pt x="32491" y="625929"/>
                  <a:pt x="0" y="593438"/>
                  <a:pt x="0" y="553358"/>
                </a:cubicBezTo>
                <a:lnTo>
                  <a:pt x="0" y="72570"/>
                </a:lnTo>
                <a:cubicBezTo>
                  <a:pt x="0" y="32518"/>
                  <a:pt x="32518" y="0"/>
                  <a:pt x="725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80357" y="4671786"/>
            <a:ext cx="163286" cy="217714"/>
          </a:xfrm>
          <a:custGeom>
            <a:avLst/>
            <a:gdLst/>
            <a:ahLst/>
            <a:cxnLst/>
            <a:rect l="l" t="t" r="r" b="b"/>
            <a:pathLst>
              <a:path w="163286" h="217714">
                <a:moveTo>
                  <a:pt x="0" y="27214"/>
                </a:moveTo>
                <a:cubicBezTo>
                  <a:pt x="0" y="12204"/>
                  <a:pt x="12204" y="0"/>
                  <a:pt x="27214" y="0"/>
                </a:cubicBezTo>
                <a:lnTo>
                  <a:pt x="90785" y="0"/>
                </a:lnTo>
                <a:cubicBezTo>
                  <a:pt x="98014" y="0"/>
                  <a:pt x="104945" y="2849"/>
                  <a:pt x="110048" y="7952"/>
                </a:cubicBezTo>
                <a:lnTo>
                  <a:pt x="155334" y="53280"/>
                </a:lnTo>
                <a:cubicBezTo>
                  <a:pt x="160437" y="58383"/>
                  <a:pt x="163286" y="65314"/>
                  <a:pt x="163286" y="72543"/>
                </a:cubicBezTo>
                <a:lnTo>
                  <a:pt x="163286" y="190500"/>
                </a:lnTo>
                <a:cubicBezTo>
                  <a:pt x="163286" y="205510"/>
                  <a:pt x="151082" y="217714"/>
                  <a:pt x="136071" y="217714"/>
                </a:cubicBezTo>
                <a:lnTo>
                  <a:pt x="27214" y="217714"/>
                </a:lnTo>
                <a:cubicBezTo>
                  <a:pt x="12204" y="217714"/>
                  <a:pt x="0" y="205510"/>
                  <a:pt x="0" y="190500"/>
                </a:cubicBezTo>
                <a:lnTo>
                  <a:pt x="0" y="27214"/>
                </a:lnTo>
                <a:close/>
                <a:moveTo>
                  <a:pt x="88446" y="24876"/>
                </a:moveTo>
                <a:lnTo>
                  <a:pt x="88446" y="64634"/>
                </a:lnTo>
                <a:cubicBezTo>
                  <a:pt x="88446" y="70289"/>
                  <a:pt x="92996" y="74839"/>
                  <a:pt x="98652" y="74839"/>
                </a:cubicBezTo>
                <a:lnTo>
                  <a:pt x="138410" y="74839"/>
                </a:lnTo>
                <a:lnTo>
                  <a:pt x="88446" y="24876"/>
                </a:lnTo>
                <a:close/>
                <a:moveTo>
                  <a:pt x="51027" y="108857"/>
                </a:moveTo>
                <a:cubicBezTo>
                  <a:pt x="45371" y="108857"/>
                  <a:pt x="40821" y="113407"/>
                  <a:pt x="40821" y="119062"/>
                </a:cubicBezTo>
                <a:cubicBezTo>
                  <a:pt x="40821" y="124718"/>
                  <a:pt x="45371" y="129268"/>
                  <a:pt x="51027" y="129268"/>
                </a:cubicBezTo>
                <a:lnTo>
                  <a:pt x="112259" y="129268"/>
                </a:lnTo>
                <a:cubicBezTo>
                  <a:pt x="117914" y="129268"/>
                  <a:pt x="122464" y="124718"/>
                  <a:pt x="122464" y="119062"/>
                </a:cubicBezTo>
                <a:cubicBezTo>
                  <a:pt x="122464" y="113407"/>
                  <a:pt x="117914" y="108857"/>
                  <a:pt x="112259" y="108857"/>
                </a:cubicBezTo>
                <a:lnTo>
                  <a:pt x="51027" y="108857"/>
                </a:lnTo>
                <a:close/>
                <a:moveTo>
                  <a:pt x="51027" y="149679"/>
                </a:moveTo>
                <a:cubicBezTo>
                  <a:pt x="45371" y="149679"/>
                  <a:pt x="40821" y="154228"/>
                  <a:pt x="40821" y="159884"/>
                </a:cubicBezTo>
                <a:cubicBezTo>
                  <a:pt x="40821" y="165539"/>
                  <a:pt x="45371" y="170089"/>
                  <a:pt x="51027" y="170089"/>
                </a:cubicBezTo>
                <a:lnTo>
                  <a:pt x="112259" y="170089"/>
                </a:lnTo>
                <a:cubicBezTo>
                  <a:pt x="117914" y="170089"/>
                  <a:pt x="122464" y="165539"/>
                  <a:pt x="122464" y="159884"/>
                </a:cubicBezTo>
                <a:cubicBezTo>
                  <a:pt x="122464" y="154228"/>
                  <a:pt x="117914" y="149679"/>
                  <a:pt x="112259" y="149679"/>
                </a:cubicBezTo>
                <a:lnTo>
                  <a:pt x="51027" y="149679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06929" y="4581071"/>
            <a:ext cx="4826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val_annotations.txt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6929" y="4798786"/>
            <a:ext cx="4816929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验证集标注文件 (10%)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2536" y="5175250"/>
            <a:ext cx="5361214" cy="625929"/>
          </a:xfrm>
          <a:custGeom>
            <a:avLst/>
            <a:gdLst/>
            <a:ahLst/>
            <a:cxnLst/>
            <a:rect l="l" t="t" r="r" b="b"/>
            <a:pathLst>
              <a:path w="5361214" h="625929">
                <a:moveTo>
                  <a:pt x="72570" y="0"/>
                </a:moveTo>
                <a:lnTo>
                  <a:pt x="5288644" y="0"/>
                </a:lnTo>
                <a:cubicBezTo>
                  <a:pt x="5328724" y="0"/>
                  <a:pt x="5361214" y="32491"/>
                  <a:pt x="5361214" y="72570"/>
                </a:cubicBezTo>
                <a:lnTo>
                  <a:pt x="5361214" y="553358"/>
                </a:lnTo>
                <a:cubicBezTo>
                  <a:pt x="5361214" y="593438"/>
                  <a:pt x="5328724" y="625929"/>
                  <a:pt x="5288644" y="625929"/>
                </a:cubicBezTo>
                <a:lnTo>
                  <a:pt x="72570" y="625929"/>
                </a:lnTo>
                <a:cubicBezTo>
                  <a:pt x="32491" y="625929"/>
                  <a:pt x="0" y="593438"/>
                  <a:pt x="0" y="553358"/>
                </a:cubicBezTo>
                <a:lnTo>
                  <a:pt x="0" y="72570"/>
                </a:lnTo>
                <a:cubicBezTo>
                  <a:pt x="0" y="32518"/>
                  <a:pt x="32518" y="0"/>
                  <a:pt x="725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80357" y="5379357"/>
            <a:ext cx="163286" cy="217714"/>
          </a:xfrm>
          <a:custGeom>
            <a:avLst/>
            <a:gdLst/>
            <a:ahLst/>
            <a:cxnLst/>
            <a:rect l="l" t="t" r="r" b="b"/>
            <a:pathLst>
              <a:path w="163286" h="217714">
                <a:moveTo>
                  <a:pt x="0" y="27214"/>
                </a:moveTo>
                <a:cubicBezTo>
                  <a:pt x="0" y="12204"/>
                  <a:pt x="12204" y="0"/>
                  <a:pt x="27214" y="0"/>
                </a:cubicBezTo>
                <a:lnTo>
                  <a:pt x="90785" y="0"/>
                </a:lnTo>
                <a:cubicBezTo>
                  <a:pt x="98014" y="0"/>
                  <a:pt x="104945" y="2849"/>
                  <a:pt x="110048" y="7952"/>
                </a:cubicBezTo>
                <a:lnTo>
                  <a:pt x="155334" y="53280"/>
                </a:lnTo>
                <a:cubicBezTo>
                  <a:pt x="160437" y="58383"/>
                  <a:pt x="163286" y="65314"/>
                  <a:pt x="163286" y="72543"/>
                </a:cubicBezTo>
                <a:lnTo>
                  <a:pt x="163286" y="190500"/>
                </a:lnTo>
                <a:cubicBezTo>
                  <a:pt x="163286" y="205510"/>
                  <a:pt x="151082" y="217714"/>
                  <a:pt x="136071" y="217714"/>
                </a:cubicBezTo>
                <a:lnTo>
                  <a:pt x="27214" y="217714"/>
                </a:lnTo>
                <a:cubicBezTo>
                  <a:pt x="12204" y="217714"/>
                  <a:pt x="0" y="205510"/>
                  <a:pt x="0" y="190500"/>
                </a:cubicBezTo>
                <a:lnTo>
                  <a:pt x="0" y="27214"/>
                </a:lnTo>
                <a:close/>
                <a:moveTo>
                  <a:pt x="88446" y="24876"/>
                </a:moveTo>
                <a:lnTo>
                  <a:pt x="88446" y="64634"/>
                </a:lnTo>
                <a:cubicBezTo>
                  <a:pt x="88446" y="70289"/>
                  <a:pt x="92996" y="74839"/>
                  <a:pt x="98652" y="74839"/>
                </a:cubicBezTo>
                <a:lnTo>
                  <a:pt x="138410" y="74839"/>
                </a:lnTo>
                <a:lnTo>
                  <a:pt x="88446" y="24876"/>
                </a:lnTo>
                <a:close/>
                <a:moveTo>
                  <a:pt x="51027" y="108857"/>
                </a:moveTo>
                <a:cubicBezTo>
                  <a:pt x="45371" y="108857"/>
                  <a:pt x="40821" y="113407"/>
                  <a:pt x="40821" y="119062"/>
                </a:cubicBezTo>
                <a:cubicBezTo>
                  <a:pt x="40821" y="124718"/>
                  <a:pt x="45371" y="129268"/>
                  <a:pt x="51027" y="129268"/>
                </a:cubicBezTo>
                <a:lnTo>
                  <a:pt x="112259" y="129268"/>
                </a:lnTo>
                <a:cubicBezTo>
                  <a:pt x="117914" y="129268"/>
                  <a:pt x="122464" y="124718"/>
                  <a:pt x="122464" y="119062"/>
                </a:cubicBezTo>
                <a:cubicBezTo>
                  <a:pt x="122464" y="113407"/>
                  <a:pt x="117914" y="108857"/>
                  <a:pt x="112259" y="108857"/>
                </a:cubicBezTo>
                <a:lnTo>
                  <a:pt x="51027" y="108857"/>
                </a:lnTo>
                <a:close/>
                <a:moveTo>
                  <a:pt x="51027" y="149679"/>
                </a:moveTo>
                <a:cubicBezTo>
                  <a:pt x="45371" y="149679"/>
                  <a:pt x="40821" y="154228"/>
                  <a:pt x="40821" y="159884"/>
                </a:cubicBezTo>
                <a:cubicBezTo>
                  <a:pt x="40821" y="165539"/>
                  <a:pt x="45371" y="170089"/>
                  <a:pt x="51027" y="170089"/>
                </a:cubicBezTo>
                <a:lnTo>
                  <a:pt x="112259" y="170089"/>
                </a:lnTo>
                <a:cubicBezTo>
                  <a:pt x="117914" y="170089"/>
                  <a:pt x="122464" y="165539"/>
                  <a:pt x="122464" y="159884"/>
                </a:cubicBezTo>
                <a:cubicBezTo>
                  <a:pt x="122464" y="154228"/>
                  <a:pt x="117914" y="149679"/>
                  <a:pt x="112259" y="149679"/>
                </a:cubicBezTo>
                <a:lnTo>
                  <a:pt x="51027" y="149679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06929" y="5288643"/>
            <a:ext cx="4826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test_annotations.txt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6929" y="5506357"/>
            <a:ext cx="4816929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测试集标注文件 (10%)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8000" y="5914571"/>
            <a:ext cx="5370286" cy="435429"/>
          </a:xfrm>
          <a:custGeom>
            <a:avLst/>
            <a:gdLst/>
            <a:ahLst/>
            <a:cxnLst/>
            <a:rect l="l" t="t" r="r" b="b"/>
            <a:pathLst>
              <a:path w="5370286" h="435429">
                <a:moveTo>
                  <a:pt x="72573" y="0"/>
                </a:moveTo>
                <a:lnTo>
                  <a:pt x="5297713" y="0"/>
                </a:lnTo>
                <a:cubicBezTo>
                  <a:pt x="5337794" y="0"/>
                  <a:pt x="5370286" y="32492"/>
                  <a:pt x="5370286" y="72573"/>
                </a:cubicBezTo>
                <a:lnTo>
                  <a:pt x="5370286" y="362856"/>
                </a:lnTo>
                <a:cubicBezTo>
                  <a:pt x="5370286" y="402937"/>
                  <a:pt x="5337794" y="435429"/>
                  <a:pt x="5297713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6C7A89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16857" y="6037036"/>
            <a:ext cx="798286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标注格式：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42571" y="6068786"/>
            <a:ext cx="1390196" cy="1496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/path/COVID/1.png 1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6714" y="1342571"/>
            <a:ext cx="5642429" cy="5152571"/>
          </a:xfrm>
          <a:custGeom>
            <a:avLst/>
            <a:gdLst/>
            <a:ahLst/>
            <a:cxnLst/>
            <a:rect l="l" t="t" r="r" b="b"/>
            <a:pathLst>
              <a:path w="5642429" h="5152571">
                <a:moveTo>
                  <a:pt x="36286" y="0"/>
                </a:moveTo>
                <a:lnTo>
                  <a:pt x="5569880" y="0"/>
                </a:lnTo>
                <a:cubicBezTo>
                  <a:pt x="5609948" y="0"/>
                  <a:pt x="5642429" y="32481"/>
                  <a:pt x="5642429" y="72548"/>
                </a:cubicBezTo>
                <a:lnTo>
                  <a:pt x="5642429" y="5080023"/>
                </a:lnTo>
                <a:cubicBezTo>
                  <a:pt x="5642429" y="5120090"/>
                  <a:pt x="5609948" y="5152571"/>
                  <a:pt x="5569880" y="5152571"/>
                </a:cubicBezTo>
                <a:lnTo>
                  <a:pt x="36286" y="5152571"/>
                </a:lnTo>
                <a:cubicBezTo>
                  <a:pt x="16246" y="5152571"/>
                  <a:pt x="0" y="5136326"/>
                  <a:pt x="0" y="5116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186714" y="1342571"/>
            <a:ext cx="36286" cy="5152571"/>
          </a:xfrm>
          <a:custGeom>
            <a:avLst/>
            <a:gdLst/>
            <a:ahLst/>
            <a:cxnLst/>
            <a:rect l="l" t="t" r="r" b="b"/>
            <a:pathLst>
              <a:path w="36286" h="5152571">
                <a:moveTo>
                  <a:pt x="36286" y="0"/>
                </a:moveTo>
                <a:lnTo>
                  <a:pt x="36286" y="0"/>
                </a:lnTo>
                <a:lnTo>
                  <a:pt x="36286" y="5152571"/>
                </a:lnTo>
                <a:lnTo>
                  <a:pt x="36286" y="5152571"/>
                </a:lnTo>
                <a:cubicBezTo>
                  <a:pt x="16246" y="5152571"/>
                  <a:pt x="0" y="5136326"/>
                  <a:pt x="0" y="5116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363607" y="1524000"/>
            <a:ext cx="244929" cy="217714"/>
          </a:xfrm>
          <a:custGeom>
            <a:avLst/>
            <a:gdLst/>
            <a:ahLst/>
            <a:cxnLst/>
            <a:rect l="l" t="t" r="r" b="b"/>
            <a:pathLst>
              <a:path w="244929" h="217714">
                <a:moveTo>
                  <a:pt x="153421" y="510"/>
                </a:moveTo>
                <a:cubicBezTo>
                  <a:pt x="146192" y="-1573"/>
                  <a:pt x="138665" y="2636"/>
                  <a:pt x="136582" y="9865"/>
                </a:cubicBezTo>
                <a:lnTo>
                  <a:pt x="82153" y="200365"/>
                </a:lnTo>
                <a:cubicBezTo>
                  <a:pt x="80070" y="207594"/>
                  <a:pt x="84279" y="215120"/>
                  <a:pt x="91508" y="217204"/>
                </a:cubicBezTo>
                <a:cubicBezTo>
                  <a:pt x="98737" y="219288"/>
                  <a:pt x="106263" y="215078"/>
                  <a:pt x="108347" y="207849"/>
                </a:cubicBezTo>
                <a:lnTo>
                  <a:pt x="162775" y="17349"/>
                </a:lnTo>
                <a:cubicBezTo>
                  <a:pt x="164859" y="10120"/>
                  <a:pt x="160649" y="2594"/>
                  <a:pt x="153421" y="510"/>
                </a:cubicBezTo>
                <a:close/>
                <a:moveTo>
                  <a:pt x="180890" y="58383"/>
                </a:moveTo>
                <a:cubicBezTo>
                  <a:pt x="175575" y="63698"/>
                  <a:pt x="175575" y="72330"/>
                  <a:pt x="180890" y="77646"/>
                </a:cubicBezTo>
                <a:lnTo>
                  <a:pt x="212101" y="108857"/>
                </a:lnTo>
                <a:lnTo>
                  <a:pt x="180890" y="140069"/>
                </a:lnTo>
                <a:cubicBezTo>
                  <a:pt x="175575" y="145384"/>
                  <a:pt x="175575" y="154016"/>
                  <a:pt x="180890" y="159331"/>
                </a:cubicBezTo>
                <a:cubicBezTo>
                  <a:pt x="186205" y="164646"/>
                  <a:pt x="194837" y="164646"/>
                  <a:pt x="200153" y="159331"/>
                </a:cubicBezTo>
                <a:lnTo>
                  <a:pt x="240974" y="118510"/>
                </a:lnTo>
                <a:cubicBezTo>
                  <a:pt x="246289" y="113194"/>
                  <a:pt x="246289" y="104562"/>
                  <a:pt x="240974" y="99247"/>
                </a:cubicBezTo>
                <a:lnTo>
                  <a:pt x="200153" y="58426"/>
                </a:lnTo>
                <a:cubicBezTo>
                  <a:pt x="194837" y="53110"/>
                  <a:pt x="186205" y="53110"/>
                  <a:pt x="180890" y="58426"/>
                </a:cubicBezTo>
                <a:close/>
                <a:moveTo>
                  <a:pt x="64081" y="58383"/>
                </a:moveTo>
                <a:cubicBezTo>
                  <a:pt x="58766" y="53068"/>
                  <a:pt x="50134" y="53068"/>
                  <a:pt x="44819" y="58383"/>
                </a:cubicBezTo>
                <a:lnTo>
                  <a:pt x="3997" y="99205"/>
                </a:lnTo>
                <a:cubicBezTo>
                  <a:pt x="-1318" y="104520"/>
                  <a:pt x="-1318" y="113152"/>
                  <a:pt x="3997" y="118467"/>
                </a:cubicBezTo>
                <a:lnTo>
                  <a:pt x="44819" y="159289"/>
                </a:lnTo>
                <a:cubicBezTo>
                  <a:pt x="50134" y="164604"/>
                  <a:pt x="58766" y="164604"/>
                  <a:pt x="64081" y="159289"/>
                </a:cubicBezTo>
                <a:cubicBezTo>
                  <a:pt x="69396" y="153973"/>
                  <a:pt x="69396" y="145341"/>
                  <a:pt x="64081" y="140026"/>
                </a:cubicBezTo>
                <a:lnTo>
                  <a:pt x="32870" y="108857"/>
                </a:lnTo>
                <a:lnTo>
                  <a:pt x="64039" y="77646"/>
                </a:lnTo>
                <a:cubicBezTo>
                  <a:pt x="69354" y="72330"/>
                  <a:pt x="69354" y="63698"/>
                  <a:pt x="64039" y="58383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622143" y="1487714"/>
            <a:ext cx="5170714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关键实现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4536" y="1891393"/>
            <a:ext cx="5324929" cy="1651000"/>
          </a:xfrm>
          <a:custGeom>
            <a:avLst/>
            <a:gdLst/>
            <a:ahLst/>
            <a:cxnLst/>
            <a:rect l="l" t="t" r="r" b="b"/>
            <a:pathLst>
              <a:path w="5324929" h="1651000">
                <a:moveTo>
                  <a:pt x="72578" y="0"/>
                </a:moveTo>
                <a:lnTo>
                  <a:pt x="5252351" y="0"/>
                </a:lnTo>
                <a:cubicBezTo>
                  <a:pt x="5292434" y="0"/>
                  <a:pt x="5324929" y="32494"/>
                  <a:pt x="5324929" y="72578"/>
                </a:cubicBezTo>
                <a:lnTo>
                  <a:pt x="5324929" y="1578422"/>
                </a:lnTo>
                <a:cubicBezTo>
                  <a:pt x="5324929" y="1618506"/>
                  <a:pt x="5292434" y="1651000"/>
                  <a:pt x="5252351" y="1651000"/>
                </a:cubicBezTo>
                <a:lnTo>
                  <a:pt x="72578" y="1651000"/>
                </a:lnTo>
                <a:cubicBezTo>
                  <a:pt x="32494" y="1651000"/>
                  <a:pt x="0" y="1618506"/>
                  <a:pt x="0" y="1578422"/>
                </a:cubicBezTo>
                <a:lnTo>
                  <a:pt x="0" y="72578"/>
                </a:lnTo>
                <a:cubicBezTo>
                  <a:pt x="0" y="32521"/>
                  <a:pt x="32521" y="0"/>
                  <a:pt x="7257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467929" y="2004786"/>
            <a:ext cx="51797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CE1E6"/>
                </a:solidFill>
                <a:highlight>
                  <a:srgbClr val="6C7A89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01 </a:t>
            </a:r>
            <a:r>
              <a:rPr lang="en-US" sz="128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路径校验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67929" y="2331357"/>
            <a:ext cx="5161643" cy="208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仅筛选实际存在的PNG格式X光图片，确保数据有效性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72464" y="2614839"/>
            <a:ext cx="5089071" cy="807357"/>
          </a:xfrm>
          <a:custGeom>
            <a:avLst/>
            <a:gdLst/>
            <a:ahLst/>
            <a:cxnLst/>
            <a:rect l="l" t="t" r="r" b="b"/>
            <a:pathLst>
              <a:path w="5089071" h="807357">
                <a:moveTo>
                  <a:pt x="72573" y="0"/>
                </a:moveTo>
                <a:lnTo>
                  <a:pt x="5016498" y="0"/>
                </a:lnTo>
                <a:cubicBezTo>
                  <a:pt x="5056579" y="0"/>
                  <a:pt x="5089071" y="32492"/>
                  <a:pt x="5089071" y="72573"/>
                </a:cubicBezTo>
                <a:lnTo>
                  <a:pt x="5089071" y="734784"/>
                </a:lnTo>
                <a:cubicBezTo>
                  <a:pt x="5089071" y="774865"/>
                  <a:pt x="5056579" y="807357"/>
                  <a:pt x="5016498" y="807357"/>
                </a:cubicBezTo>
                <a:lnTo>
                  <a:pt x="72573" y="807357"/>
                </a:lnTo>
                <a:cubicBezTo>
                  <a:pt x="32519" y="807357"/>
                  <a:pt x="0" y="774838"/>
                  <a:pt x="0" y="734784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 w="12700">
            <a:solidFill>
              <a:srgbClr val="6C7A8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467929" y="2610304"/>
            <a:ext cx="5134429" cy="798286"/>
          </a:xfrm>
          <a:prstGeom prst="rect">
            <a:avLst/>
          </a:prstGeom>
          <a:noFill/>
        </p:spPr>
        <p:txBody>
          <a:bodyPr wrap="square" lIns="72571" tIns="72571" rIns="72571" bIns="72571" rtlCol="0" anchor="ctr"/>
          <a:lstStyle/>
          <a:p>
            <a:pPr>
              <a:lnSpc>
                <a:spcPct val="130000"/>
              </a:lnSpc>
            </a:pPr>
            <a:r>
              <a:rPr lang="en-US" sz="855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if file_name.lower().endswith(".png"):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85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img_path = os.path.join(img_dir, file_name)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85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if os.path.exists(img_path):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85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valid_paths.append(img_path)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4536" y="3658054"/>
            <a:ext cx="5324929" cy="1415143"/>
          </a:xfrm>
          <a:custGeom>
            <a:avLst/>
            <a:gdLst/>
            <a:ahLst/>
            <a:cxnLst/>
            <a:rect l="l" t="t" r="r" b="b"/>
            <a:pathLst>
              <a:path w="5324929" h="1415143">
                <a:moveTo>
                  <a:pt x="72569" y="0"/>
                </a:moveTo>
                <a:lnTo>
                  <a:pt x="5252360" y="0"/>
                </a:lnTo>
                <a:cubicBezTo>
                  <a:pt x="5292412" y="0"/>
                  <a:pt x="5324929" y="32517"/>
                  <a:pt x="5324929" y="72569"/>
                </a:cubicBezTo>
                <a:lnTo>
                  <a:pt x="5324929" y="1342574"/>
                </a:lnTo>
                <a:cubicBezTo>
                  <a:pt x="5324929" y="1382626"/>
                  <a:pt x="5292412" y="1415143"/>
                  <a:pt x="5252360" y="1415143"/>
                </a:cubicBezTo>
                <a:lnTo>
                  <a:pt x="72569" y="1415143"/>
                </a:lnTo>
                <a:cubicBezTo>
                  <a:pt x="32517" y="1415143"/>
                  <a:pt x="0" y="1382626"/>
                  <a:pt x="0" y="1342574"/>
                </a:cubicBezTo>
                <a:lnTo>
                  <a:pt x="0" y="72569"/>
                </a:lnTo>
                <a:cubicBezTo>
                  <a:pt x="0" y="32517"/>
                  <a:pt x="32517" y="0"/>
                  <a:pt x="7256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467929" y="3771446"/>
            <a:ext cx="51797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CE1E6"/>
                </a:solidFill>
                <a:highlight>
                  <a:srgbClr val="6C7A89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02 </a:t>
            </a:r>
            <a:r>
              <a:rPr lang="en-US" sz="128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数据集划分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67929" y="4098018"/>
            <a:ext cx="5161643" cy="208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按8:1:1比例生成train/val/test标注文件，自动去重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67929" y="4376964"/>
            <a:ext cx="1651000" cy="580571"/>
          </a:xfrm>
          <a:custGeom>
            <a:avLst/>
            <a:gdLst/>
            <a:ahLst/>
            <a:cxnLst/>
            <a:rect l="l" t="t" r="r" b="b"/>
            <a:pathLst>
              <a:path w="1651000" h="580571">
                <a:moveTo>
                  <a:pt x="36286" y="0"/>
                </a:moveTo>
                <a:lnTo>
                  <a:pt x="1614714" y="0"/>
                </a:lnTo>
                <a:cubicBezTo>
                  <a:pt x="1634754" y="0"/>
                  <a:pt x="1651000" y="16246"/>
                  <a:pt x="1651000" y="36286"/>
                </a:cubicBezTo>
                <a:lnTo>
                  <a:pt x="1651000" y="544286"/>
                </a:lnTo>
                <a:cubicBezTo>
                  <a:pt x="1651000" y="564326"/>
                  <a:pt x="1634754" y="580571"/>
                  <a:pt x="1614714" y="580571"/>
                </a:cubicBezTo>
                <a:lnTo>
                  <a:pt x="36286" y="580571"/>
                </a:lnTo>
                <a:cubicBezTo>
                  <a:pt x="16246" y="580571"/>
                  <a:pt x="0" y="564326"/>
                  <a:pt x="0" y="544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486071" y="4449536"/>
            <a:ext cx="1614714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5" b="1" dirty="0">
                <a:solidFill>
                  <a:srgbClr val="98A6B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13286" y="4739821"/>
            <a:ext cx="1560286" cy="145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训练集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91500" y="4376964"/>
            <a:ext cx="1651000" cy="580571"/>
          </a:xfrm>
          <a:custGeom>
            <a:avLst/>
            <a:gdLst/>
            <a:ahLst/>
            <a:cxnLst/>
            <a:rect l="l" t="t" r="r" b="b"/>
            <a:pathLst>
              <a:path w="1651000" h="580571">
                <a:moveTo>
                  <a:pt x="36286" y="0"/>
                </a:moveTo>
                <a:lnTo>
                  <a:pt x="1614714" y="0"/>
                </a:lnTo>
                <a:cubicBezTo>
                  <a:pt x="1634754" y="0"/>
                  <a:pt x="1651000" y="16246"/>
                  <a:pt x="1651000" y="36286"/>
                </a:cubicBezTo>
                <a:lnTo>
                  <a:pt x="1651000" y="544286"/>
                </a:lnTo>
                <a:cubicBezTo>
                  <a:pt x="1651000" y="564326"/>
                  <a:pt x="1634754" y="580571"/>
                  <a:pt x="1614714" y="580571"/>
                </a:cubicBezTo>
                <a:lnTo>
                  <a:pt x="36286" y="580571"/>
                </a:lnTo>
                <a:cubicBezTo>
                  <a:pt x="16246" y="580571"/>
                  <a:pt x="0" y="564326"/>
                  <a:pt x="0" y="544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209643" y="4449536"/>
            <a:ext cx="1614714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5" b="1" dirty="0">
                <a:solidFill>
                  <a:srgbClr val="98A6B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36857" y="4739821"/>
            <a:ext cx="1560286" cy="145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验证集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915071" y="4376964"/>
            <a:ext cx="1651000" cy="580571"/>
          </a:xfrm>
          <a:custGeom>
            <a:avLst/>
            <a:gdLst/>
            <a:ahLst/>
            <a:cxnLst/>
            <a:rect l="l" t="t" r="r" b="b"/>
            <a:pathLst>
              <a:path w="1651000" h="580571">
                <a:moveTo>
                  <a:pt x="36286" y="0"/>
                </a:moveTo>
                <a:lnTo>
                  <a:pt x="1614714" y="0"/>
                </a:lnTo>
                <a:cubicBezTo>
                  <a:pt x="1634754" y="0"/>
                  <a:pt x="1651000" y="16246"/>
                  <a:pt x="1651000" y="36286"/>
                </a:cubicBezTo>
                <a:lnTo>
                  <a:pt x="1651000" y="544286"/>
                </a:lnTo>
                <a:cubicBezTo>
                  <a:pt x="1651000" y="564326"/>
                  <a:pt x="1634754" y="580571"/>
                  <a:pt x="1614714" y="580571"/>
                </a:cubicBezTo>
                <a:lnTo>
                  <a:pt x="36286" y="580571"/>
                </a:lnTo>
                <a:cubicBezTo>
                  <a:pt x="16246" y="580571"/>
                  <a:pt x="0" y="564326"/>
                  <a:pt x="0" y="544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9933214" y="4449536"/>
            <a:ext cx="1614714" cy="290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5" b="1" dirty="0">
                <a:solidFill>
                  <a:srgbClr val="98A6B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960429" y="4739821"/>
            <a:ext cx="1560286" cy="145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测试集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54536" y="5188857"/>
            <a:ext cx="5324929" cy="762000"/>
          </a:xfrm>
          <a:custGeom>
            <a:avLst/>
            <a:gdLst/>
            <a:ahLst/>
            <a:cxnLst/>
            <a:rect l="l" t="t" r="r" b="b"/>
            <a:pathLst>
              <a:path w="5324929" h="762000">
                <a:moveTo>
                  <a:pt x="72573" y="0"/>
                </a:moveTo>
                <a:lnTo>
                  <a:pt x="5252356" y="0"/>
                </a:lnTo>
                <a:cubicBezTo>
                  <a:pt x="5292437" y="0"/>
                  <a:pt x="5324929" y="32492"/>
                  <a:pt x="5324929" y="72573"/>
                </a:cubicBezTo>
                <a:lnTo>
                  <a:pt x="5324929" y="689427"/>
                </a:lnTo>
                <a:cubicBezTo>
                  <a:pt x="5324929" y="729508"/>
                  <a:pt x="5292437" y="762000"/>
                  <a:pt x="5252356" y="762000"/>
                </a:cubicBezTo>
                <a:lnTo>
                  <a:pt x="72573" y="762000"/>
                </a:lnTo>
                <a:cubicBezTo>
                  <a:pt x="32492" y="762000"/>
                  <a:pt x="0" y="729508"/>
                  <a:pt x="0" y="689427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6467929" y="5302250"/>
            <a:ext cx="51797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CE1E6"/>
                </a:solidFill>
                <a:highlight>
                  <a:srgbClr val="6C7A89">
                    <a:alpha val="10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03 </a:t>
            </a:r>
            <a:r>
              <a:rPr lang="en-US" sz="128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数据平衡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67929" y="5628821"/>
            <a:ext cx="5161643" cy="208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支持少样本类别（如COVID）重复采样补齐，提升模型泛化能力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99" y="484008"/>
            <a:ext cx="467318" cy="467318"/>
          </a:xfrm>
          <a:custGeom>
            <a:avLst/>
            <a:gdLst/>
            <a:ahLst/>
            <a:cxnLst/>
            <a:rect l="l" t="t" r="r" b="b"/>
            <a:pathLst>
              <a:path w="467318" h="467318">
                <a:moveTo>
                  <a:pt x="66761" y="0"/>
                </a:moveTo>
                <a:lnTo>
                  <a:pt x="400557" y="0"/>
                </a:lnTo>
                <a:cubicBezTo>
                  <a:pt x="437404" y="0"/>
                  <a:pt x="467318" y="29915"/>
                  <a:pt x="467318" y="66761"/>
                </a:cubicBezTo>
                <a:lnTo>
                  <a:pt x="467318" y="400557"/>
                </a:lnTo>
                <a:cubicBezTo>
                  <a:pt x="467318" y="437404"/>
                  <a:pt x="437404" y="467318"/>
                  <a:pt x="400557" y="467318"/>
                </a:cubicBezTo>
                <a:lnTo>
                  <a:pt x="66761" y="467318"/>
                </a:lnTo>
                <a:cubicBezTo>
                  <a:pt x="29915" y="467318"/>
                  <a:pt x="0" y="437404"/>
                  <a:pt x="0" y="400557"/>
                </a:cubicBezTo>
                <a:lnTo>
                  <a:pt x="0" y="66761"/>
                </a:lnTo>
                <a:cubicBezTo>
                  <a:pt x="0" y="29915"/>
                  <a:pt x="29915" y="0"/>
                  <a:pt x="66761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67318" y="617528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46940" y="21906"/>
                </a:moveTo>
                <a:cubicBezTo>
                  <a:pt x="46940" y="9818"/>
                  <a:pt x="56759" y="0"/>
                  <a:pt x="68846" y="0"/>
                </a:cubicBezTo>
                <a:lnTo>
                  <a:pt x="78234" y="0"/>
                </a:lnTo>
                <a:cubicBezTo>
                  <a:pt x="85158" y="0"/>
                  <a:pt x="90752" y="5594"/>
                  <a:pt x="90752" y="12517"/>
                </a:cubicBezTo>
                <a:lnTo>
                  <a:pt x="90752" y="187762"/>
                </a:lnTo>
                <a:cubicBezTo>
                  <a:pt x="90752" y="194686"/>
                  <a:pt x="85158" y="200279"/>
                  <a:pt x="78234" y="200279"/>
                </a:cubicBezTo>
                <a:lnTo>
                  <a:pt x="65717" y="200279"/>
                </a:lnTo>
                <a:cubicBezTo>
                  <a:pt x="54060" y="200279"/>
                  <a:pt x="44241" y="192299"/>
                  <a:pt x="41464" y="181503"/>
                </a:cubicBezTo>
                <a:cubicBezTo>
                  <a:pt x="41190" y="181503"/>
                  <a:pt x="40956" y="181503"/>
                  <a:pt x="40682" y="181503"/>
                </a:cubicBezTo>
                <a:cubicBezTo>
                  <a:pt x="23392" y="181503"/>
                  <a:pt x="9388" y="167499"/>
                  <a:pt x="9388" y="150209"/>
                </a:cubicBezTo>
                <a:cubicBezTo>
                  <a:pt x="9388" y="143168"/>
                  <a:pt x="11735" y="136675"/>
                  <a:pt x="15647" y="131433"/>
                </a:cubicBezTo>
                <a:cubicBezTo>
                  <a:pt x="8058" y="125722"/>
                  <a:pt x="3129" y="116647"/>
                  <a:pt x="3129" y="106398"/>
                </a:cubicBezTo>
                <a:cubicBezTo>
                  <a:pt x="3129" y="94311"/>
                  <a:pt x="10014" y="83789"/>
                  <a:pt x="20028" y="78586"/>
                </a:cubicBezTo>
                <a:cubicBezTo>
                  <a:pt x="17251" y="73892"/>
                  <a:pt x="15647" y="68416"/>
                  <a:pt x="15647" y="62587"/>
                </a:cubicBezTo>
                <a:cubicBezTo>
                  <a:pt x="15647" y="45298"/>
                  <a:pt x="29651" y="31294"/>
                  <a:pt x="46940" y="31294"/>
                </a:cubicBezTo>
                <a:lnTo>
                  <a:pt x="46940" y="21906"/>
                </a:lnTo>
                <a:close/>
                <a:moveTo>
                  <a:pt x="153339" y="21906"/>
                </a:moveTo>
                <a:lnTo>
                  <a:pt x="153339" y="31294"/>
                </a:lnTo>
                <a:cubicBezTo>
                  <a:pt x="170629" y="31294"/>
                  <a:pt x="184632" y="45298"/>
                  <a:pt x="184632" y="62587"/>
                </a:cubicBezTo>
                <a:cubicBezTo>
                  <a:pt x="184632" y="68455"/>
                  <a:pt x="183029" y="73931"/>
                  <a:pt x="180251" y="78586"/>
                </a:cubicBezTo>
                <a:cubicBezTo>
                  <a:pt x="190304" y="83789"/>
                  <a:pt x="197150" y="94272"/>
                  <a:pt x="197150" y="106398"/>
                </a:cubicBezTo>
                <a:cubicBezTo>
                  <a:pt x="197150" y="116647"/>
                  <a:pt x="192221" y="125722"/>
                  <a:pt x="184632" y="131433"/>
                </a:cubicBezTo>
                <a:cubicBezTo>
                  <a:pt x="188544" y="136675"/>
                  <a:pt x="190891" y="143168"/>
                  <a:pt x="190891" y="150209"/>
                </a:cubicBezTo>
                <a:cubicBezTo>
                  <a:pt x="190891" y="167499"/>
                  <a:pt x="176887" y="181503"/>
                  <a:pt x="159598" y="181503"/>
                </a:cubicBezTo>
                <a:cubicBezTo>
                  <a:pt x="159324" y="181503"/>
                  <a:pt x="159089" y="181503"/>
                  <a:pt x="158815" y="181503"/>
                </a:cubicBezTo>
                <a:cubicBezTo>
                  <a:pt x="156038" y="192299"/>
                  <a:pt x="146220" y="200279"/>
                  <a:pt x="134563" y="200279"/>
                </a:cubicBezTo>
                <a:lnTo>
                  <a:pt x="122045" y="200279"/>
                </a:lnTo>
                <a:cubicBezTo>
                  <a:pt x="115121" y="200279"/>
                  <a:pt x="109528" y="194686"/>
                  <a:pt x="109528" y="187762"/>
                </a:cubicBezTo>
                <a:lnTo>
                  <a:pt x="109528" y="12517"/>
                </a:lnTo>
                <a:cubicBezTo>
                  <a:pt x="109528" y="5594"/>
                  <a:pt x="115121" y="0"/>
                  <a:pt x="122045" y="0"/>
                </a:cubicBezTo>
                <a:lnTo>
                  <a:pt x="131433" y="0"/>
                </a:lnTo>
                <a:cubicBezTo>
                  <a:pt x="143520" y="0"/>
                  <a:pt x="153339" y="9818"/>
                  <a:pt x="153339" y="21906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34637" y="333799"/>
            <a:ext cx="1802513" cy="40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4637" y="767737"/>
            <a:ext cx="1685684" cy="23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Improved ResNet50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34637" y="1068156"/>
            <a:ext cx="1068156" cy="33380"/>
          </a:xfrm>
          <a:custGeom>
            <a:avLst/>
            <a:gdLst/>
            <a:ahLst/>
            <a:cxnLst/>
            <a:rect l="l" t="t" r="r" b="b"/>
            <a:pathLst>
              <a:path w="1068156" h="33380">
                <a:moveTo>
                  <a:pt x="0" y="0"/>
                </a:moveTo>
                <a:lnTo>
                  <a:pt x="1068156" y="0"/>
                </a:lnTo>
                <a:lnTo>
                  <a:pt x="1068156" y="33380"/>
                </a:lnTo>
                <a:lnTo>
                  <a:pt x="0" y="3338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50489" y="1201676"/>
            <a:ext cx="5699614" cy="3287918"/>
          </a:xfrm>
          <a:custGeom>
            <a:avLst/>
            <a:gdLst/>
            <a:ahLst/>
            <a:cxnLst/>
            <a:rect l="l" t="t" r="r" b="b"/>
            <a:pathLst>
              <a:path w="5699614" h="3287918">
                <a:moveTo>
                  <a:pt x="33380" y="0"/>
                </a:moveTo>
                <a:lnTo>
                  <a:pt x="5632869" y="0"/>
                </a:lnTo>
                <a:cubicBezTo>
                  <a:pt x="5669731" y="0"/>
                  <a:pt x="5699614" y="29883"/>
                  <a:pt x="5699614" y="66745"/>
                </a:cubicBezTo>
                <a:lnTo>
                  <a:pt x="5699614" y="3221173"/>
                </a:lnTo>
                <a:cubicBezTo>
                  <a:pt x="5699614" y="3258035"/>
                  <a:pt x="5669731" y="3287918"/>
                  <a:pt x="5632869" y="3287918"/>
                </a:cubicBezTo>
                <a:lnTo>
                  <a:pt x="33380" y="3287918"/>
                </a:lnTo>
                <a:cubicBezTo>
                  <a:pt x="14945" y="3287918"/>
                  <a:pt x="0" y="3272973"/>
                  <a:pt x="0" y="325453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50489" y="1201676"/>
            <a:ext cx="33380" cy="3287918"/>
          </a:xfrm>
          <a:custGeom>
            <a:avLst/>
            <a:gdLst/>
            <a:ahLst/>
            <a:cxnLst/>
            <a:rect l="l" t="t" r="r" b="b"/>
            <a:pathLst>
              <a:path w="33380" h="3287918">
                <a:moveTo>
                  <a:pt x="33380" y="0"/>
                </a:moveTo>
                <a:lnTo>
                  <a:pt x="33380" y="0"/>
                </a:lnTo>
                <a:lnTo>
                  <a:pt x="33380" y="3287918"/>
                </a:lnTo>
                <a:lnTo>
                  <a:pt x="33380" y="3287918"/>
                </a:lnTo>
                <a:cubicBezTo>
                  <a:pt x="14945" y="3287918"/>
                  <a:pt x="0" y="3272973"/>
                  <a:pt x="0" y="325453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79836" y="1335195"/>
            <a:ext cx="225314" cy="200279"/>
          </a:xfrm>
          <a:custGeom>
            <a:avLst/>
            <a:gdLst/>
            <a:ahLst/>
            <a:cxnLst/>
            <a:rect l="l" t="t" r="r" b="b"/>
            <a:pathLst>
              <a:path w="225314" h="200279">
                <a:moveTo>
                  <a:pt x="97010" y="34423"/>
                </a:moveTo>
                <a:lnTo>
                  <a:pt x="128304" y="34423"/>
                </a:lnTo>
                <a:lnTo>
                  <a:pt x="128304" y="53199"/>
                </a:lnTo>
                <a:lnTo>
                  <a:pt x="97010" y="53199"/>
                </a:lnTo>
                <a:lnTo>
                  <a:pt x="97010" y="34423"/>
                </a:lnTo>
                <a:close/>
                <a:moveTo>
                  <a:pt x="93881" y="12517"/>
                </a:moveTo>
                <a:cubicBezTo>
                  <a:pt x="83515" y="12517"/>
                  <a:pt x="75105" y="20928"/>
                  <a:pt x="75105" y="31294"/>
                </a:cubicBezTo>
                <a:lnTo>
                  <a:pt x="75105" y="56329"/>
                </a:lnTo>
                <a:cubicBezTo>
                  <a:pt x="75105" y="66695"/>
                  <a:pt x="83515" y="75105"/>
                  <a:pt x="93881" y="75105"/>
                </a:cubicBezTo>
                <a:lnTo>
                  <a:pt x="100140" y="75105"/>
                </a:lnTo>
                <a:lnTo>
                  <a:pt x="100140" y="87622"/>
                </a:lnTo>
                <a:lnTo>
                  <a:pt x="12517" y="87622"/>
                </a:lnTo>
                <a:cubicBezTo>
                  <a:pt x="5594" y="87622"/>
                  <a:pt x="0" y="93216"/>
                  <a:pt x="0" y="100140"/>
                </a:cubicBezTo>
                <a:cubicBezTo>
                  <a:pt x="0" y="107063"/>
                  <a:pt x="5594" y="112657"/>
                  <a:pt x="12517" y="112657"/>
                </a:cubicBezTo>
                <a:lnTo>
                  <a:pt x="50070" y="112657"/>
                </a:lnTo>
                <a:lnTo>
                  <a:pt x="50070" y="125175"/>
                </a:lnTo>
                <a:lnTo>
                  <a:pt x="43811" y="125175"/>
                </a:lnTo>
                <a:cubicBezTo>
                  <a:pt x="33445" y="125175"/>
                  <a:pt x="25035" y="133585"/>
                  <a:pt x="25035" y="143951"/>
                </a:cubicBezTo>
                <a:lnTo>
                  <a:pt x="25035" y="168986"/>
                </a:lnTo>
                <a:cubicBezTo>
                  <a:pt x="25035" y="179352"/>
                  <a:pt x="33445" y="187762"/>
                  <a:pt x="43811" y="187762"/>
                </a:cubicBezTo>
                <a:lnTo>
                  <a:pt x="81363" y="187762"/>
                </a:lnTo>
                <a:cubicBezTo>
                  <a:pt x="91729" y="187762"/>
                  <a:pt x="100140" y="179352"/>
                  <a:pt x="100140" y="168986"/>
                </a:cubicBezTo>
                <a:lnTo>
                  <a:pt x="100140" y="143951"/>
                </a:lnTo>
                <a:cubicBezTo>
                  <a:pt x="100140" y="133585"/>
                  <a:pt x="91729" y="125175"/>
                  <a:pt x="81363" y="125175"/>
                </a:cubicBezTo>
                <a:lnTo>
                  <a:pt x="75105" y="125175"/>
                </a:lnTo>
                <a:lnTo>
                  <a:pt x="75105" y="112657"/>
                </a:lnTo>
                <a:lnTo>
                  <a:pt x="150209" y="112657"/>
                </a:lnTo>
                <a:lnTo>
                  <a:pt x="150209" y="125175"/>
                </a:lnTo>
                <a:lnTo>
                  <a:pt x="143951" y="125175"/>
                </a:lnTo>
                <a:cubicBezTo>
                  <a:pt x="133585" y="125175"/>
                  <a:pt x="125175" y="133585"/>
                  <a:pt x="125175" y="143951"/>
                </a:cubicBezTo>
                <a:lnTo>
                  <a:pt x="125175" y="168986"/>
                </a:lnTo>
                <a:cubicBezTo>
                  <a:pt x="125175" y="179352"/>
                  <a:pt x="133585" y="187762"/>
                  <a:pt x="143951" y="187762"/>
                </a:cubicBezTo>
                <a:lnTo>
                  <a:pt x="181503" y="187762"/>
                </a:lnTo>
                <a:cubicBezTo>
                  <a:pt x="191869" y="187762"/>
                  <a:pt x="200279" y="179352"/>
                  <a:pt x="200279" y="168986"/>
                </a:cubicBezTo>
                <a:lnTo>
                  <a:pt x="200279" y="143951"/>
                </a:lnTo>
                <a:cubicBezTo>
                  <a:pt x="200279" y="133585"/>
                  <a:pt x="191869" y="125175"/>
                  <a:pt x="181503" y="125175"/>
                </a:cubicBezTo>
                <a:lnTo>
                  <a:pt x="175244" y="125175"/>
                </a:lnTo>
                <a:lnTo>
                  <a:pt x="175244" y="112657"/>
                </a:lnTo>
                <a:lnTo>
                  <a:pt x="212797" y="112657"/>
                </a:lnTo>
                <a:cubicBezTo>
                  <a:pt x="219720" y="112657"/>
                  <a:pt x="225314" y="107063"/>
                  <a:pt x="225314" y="100140"/>
                </a:cubicBezTo>
                <a:cubicBezTo>
                  <a:pt x="225314" y="93216"/>
                  <a:pt x="219720" y="87622"/>
                  <a:pt x="212797" y="87622"/>
                </a:cubicBezTo>
                <a:lnTo>
                  <a:pt x="125175" y="87622"/>
                </a:lnTo>
                <a:lnTo>
                  <a:pt x="125175" y="75105"/>
                </a:lnTo>
                <a:lnTo>
                  <a:pt x="131433" y="75105"/>
                </a:lnTo>
                <a:cubicBezTo>
                  <a:pt x="141799" y="75105"/>
                  <a:pt x="150209" y="66695"/>
                  <a:pt x="150209" y="56329"/>
                </a:cubicBezTo>
                <a:lnTo>
                  <a:pt x="150209" y="31294"/>
                </a:lnTo>
                <a:cubicBezTo>
                  <a:pt x="150209" y="20928"/>
                  <a:pt x="141799" y="12517"/>
                  <a:pt x="131433" y="12517"/>
                </a:cubicBezTo>
                <a:lnTo>
                  <a:pt x="93881" y="12517"/>
                </a:lnTo>
                <a:close/>
                <a:moveTo>
                  <a:pt x="175244" y="147080"/>
                </a:moveTo>
                <a:lnTo>
                  <a:pt x="178374" y="147080"/>
                </a:lnTo>
                <a:lnTo>
                  <a:pt x="178374" y="165856"/>
                </a:lnTo>
                <a:lnTo>
                  <a:pt x="147080" y="165856"/>
                </a:lnTo>
                <a:lnTo>
                  <a:pt x="147080" y="147080"/>
                </a:lnTo>
                <a:lnTo>
                  <a:pt x="175244" y="147080"/>
                </a:lnTo>
                <a:close/>
                <a:moveTo>
                  <a:pt x="75105" y="147080"/>
                </a:moveTo>
                <a:lnTo>
                  <a:pt x="78234" y="147080"/>
                </a:lnTo>
                <a:lnTo>
                  <a:pt x="78234" y="165856"/>
                </a:lnTo>
                <a:lnTo>
                  <a:pt x="46940" y="165856"/>
                </a:lnTo>
                <a:lnTo>
                  <a:pt x="46940" y="147080"/>
                </a:lnTo>
                <a:lnTo>
                  <a:pt x="75105" y="14708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7667" y="1301815"/>
            <a:ext cx="5332435" cy="267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模型选型与适配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1491" y="1673166"/>
            <a:ext cx="5474300" cy="942982"/>
          </a:xfrm>
          <a:custGeom>
            <a:avLst/>
            <a:gdLst/>
            <a:ahLst/>
            <a:cxnLst/>
            <a:rect l="l" t="t" r="r" b="b"/>
            <a:pathLst>
              <a:path w="5474300" h="942982">
                <a:moveTo>
                  <a:pt x="66763" y="0"/>
                </a:moveTo>
                <a:lnTo>
                  <a:pt x="5407537" y="0"/>
                </a:lnTo>
                <a:cubicBezTo>
                  <a:pt x="5444409" y="0"/>
                  <a:pt x="5474300" y="29891"/>
                  <a:pt x="5474300" y="66763"/>
                </a:cubicBezTo>
                <a:lnTo>
                  <a:pt x="5474300" y="876218"/>
                </a:lnTo>
                <a:cubicBezTo>
                  <a:pt x="5474300" y="913091"/>
                  <a:pt x="5444409" y="942982"/>
                  <a:pt x="5407537" y="942982"/>
                </a:cubicBezTo>
                <a:lnTo>
                  <a:pt x="66763" y="942982"/>
                </a:lnTo>
                <a:cubicBezTo>
                  <a:pt x="29891" y="942982"/>
                  <a:pt x="0" y="913091"/>
                  <a:pt x="0" y="876218"/>
                </a:cubicBezTo>
                <a:lnTo>
                  <a:pt x="0" y="66763"/>
                </a:lnTo>
                <a:cubicBezTo>
                  <a:pt x="0" y="29916"/>
                  <a:pt x="29916" y="0"/>
                  <a:pt x="6676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96665" y="1819203"/>
            <a:ext cx="150209" cy="150209"/>
          </a:xfrm>
          <a:custGeom>
            <a:avLst/>
            <a:gdLst/>
            <a:ahLst/>
            <a:cxnLst/>
            <a:rect l="l" t="t" r="r" b="b"/>
            <a:pathLst>
              <a:path w="150209" h="150209">
                <a:moveTo>
                  <a:pt x="65805" y="-733"/>
                </a:moveTo>
                <a:cubicBezTo>
                  <a:pt x="71614" y="-4078"/>
                  <a:pt x="78772" y="-4078"/>
                  <a:pt x="84581" y="-733"/>
                </a:cubicBezTo>
                <a:lnTo>
                  <a:pt x="136186" y="29044"/>
                </a:lnTo>
                <a:cubicBezTo>
                  <a:pt x="141995" y="32389"/>
                  <a:pt x="145574" y="38609"/>
                  <a:pt x="145574" y="45298"/>
                </a:cubicBezTo>
                <a:lnTo>
                  <a:pt x="145574" y="104853"/>
                </a:lnTo>
                <a:cubicBezTo>
                  <a:pt x="145574" y="111572"/>
                  <a:pt x="141995" y="117762"/>
                  <a:pt x="136186" y="121106"/>
                </a:cubicBezTo>
                <a:lnTo>
                  <a:pt x="84581" y="150943"/>
                </a:lnTo>
                <a:cubicBezTo>
                  <a:pt x="78772" y="154287"/>
                  <a:pt x="71614" y="154287"/>
                  <a:pt x="65805" y="150943"/>
                </a:cubicBezTo>
                <a:lnTo>
                  <a:pt x="14229" y="121165"/>
                </a:lnTo>
                <a:cubicBezTo>
                  <a:pt x="8420" y="117821"/>
                  <a:pt x="4841" y="111601"/>
                  <a:pt x="4841" y="104912"/>
                </a:cubicBezTo>
                <a:lnTo>
                  <a:pt x="4841" y="45356"/>
                </a:lnTo>
                <a:cubicBezTo>
                  <a:pt x="4841" y="38638"/>
                  <a:pt x="8420" y="32448"/>
                  <a:pt x="14229" y="29103"/>
                </a:cubicBezTo>
                <a:lnTo>
                  <a:pt x="65805" y="-733"/>
                </a:lnTo>
                <a:close/>
                <a:moveTo>
                  <a:pt x="126769" y="104883"/>
                </a:moveTo>
                <a:lnTo>
                  <a:pt x="126769" y="56153"/>
                </a:lnTo>
                <a:lnTo>
                  <a:pt x="84581" y="80503"/>
                </a:lnTo>
                <a:lnTo>
                  <a:pt x="84581" y="129233"/>
                </a:lnTo>
                <a:lnTo>
                  <a:pt x="126769" y="104883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67737" y="1777478"/>
            <a:ext cx="5148846" cy="23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基础模型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5803" y="2077897"/>
            <a:ext cx="5332435" cy="433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050" b="1" dirty="0">
                <a:solidFill>
                  <a:srgbClr val="98A6B5"/>
                </a:solidFill>
                <a:highlight>
                  <a:srgbClr val="6C7A89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ResNet50 </a:t>
            </a:r>
            <a:r>
              <a:rPr lang="en-US" sz="105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作为基础架构，利用ImageNet预训练权重进行迁移学习，加速收敛并提升泛化能力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1491" y="2691253"/>
            <a:ext cx="5474300" cy="1694029"/>
          </a:xfrm>
          <a:custGeom>
            <a:avLst/>
            <a:gdLst/>
            <a:ahLst/>
            <a:cxnLst/>
            <a:rect l="l" t="t" r="r" b="b"/>
            <a:pathLst>
              <a:path w="5474300" h="1694029">
                <a:moveTo>
                  <a:pt x="66762" y="0"/>
                </a:moveTo>
                <a:lnTo>
                  <a:pt x="5407538" y="0"/>
                </a:lnTo>
                <a:cubicBezTo>
                  <a:pt x="5444410" y="0"/>
                  <a:pt x="5474300" y="29890"/>
                  <a:pt x="5474300" y="66762"/>
                </a:cubicBezTo>
                <a:lnTo>
                  <a:pt x="5474300" y="1627267"/>
                </a:lnTo>
                <a:cubicBezTo>
                  <a:pt x="5474300" y="1664139"/>
                  <a:pt x="5444410" y="1694029"/>
                  <a:pt x="5407538" y="1694029"/>
                </a:cubicBezTo>
                <a:lnTo>
                  <a:pt x="66762" y="1694029"/>
                </a:lnTo>
                <a:cubicBezTo>
                  <a:pt x="29890" y="1694029"/>
                  <a:pt x="0" y="1664139"/>
                  <a:pt x="0" y="1627267"/>
                </a:cubicBezTo>
                <a:lnTo>
                  <a:pt x="0" y="66762"/>
                </a:lnTo>
                <a:cubicBezTo>
                  <a:pt x="0" y="29915"/>
                  <a:pt x="29915" y="0"/>
                  <a:pt x="667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87277" y="2837290"/>
            <a:ext cx="168986" cy="150209"/>
          </a:xfrm>
          <a:custGeom>
            <a:avLst/>
            <a:gdLst/>
            <a:ahLst/>
            <a:cxnLst/>
            <a:rect l="l" t="t" r="r" b="b"/>
            <a:pathLst>
              <a:path w="168986" h="150209">
                <a:moveTo>
                  <a:pt x="149447" y="28927"/>
                </a:moveTo>
                <a:cubicBezTo>
                  <a:pt x="151676" y="26697"/>
                  <a:pt x="155402" y="27255"/>
                  <a:pt x="156517" y="30189"/>
                </a:cubicBezTo>
                <a:cubicBezTo>
                  <a:pt x="158512" y="35381"/>
                  <a:pt x="159598" y="41044"/>
                  <a:pt x="159598" y="46940"/>
                </a:cubicBezTo>
                <a:cubicBezTo>
                  <a:pt x="159598" y="72875"/>
                  <a:pt x="138592" y="93881"/>
                  <a:pt x="112657" y="93881"/>
                </a:cubicBezTo>
                <a:cubicBezTo>
                  <a:pt x="107523" y="93881"/>
                  <a:pt x="102565" y="93059"/>
                  <a:pt x="97930" y="91534"/>
                </a:cubicBezTo>
                <a:lnTo>
                  <a:pt x="43097" y="146366"/>
                </a:lnTo>
                <a:cubicBezTo>
                  <a:pt x="34853" y="154610"/>
                  <a:pt x="21475" y="154610"/>
                  <a:pt x="13231" y="146366"/>
                </a:cubicBezTo>
                <a:cubicBezTo>
                  <a:pt x="4987" y="138122"/>
                  <a:pt x="4987" y="124744"/>
                  <a:pt x="13231" y="116500"/>
                </a:cubicBezTo>
                <a:lnTo>
                  <a:pt x="68064" y="61668"/>
                </a:lnTo>
                <a:cubicBezTo>
                  <a:pt x="66538" y="57033"/>
                  <a:pt x="65717" y="52104"/>
                  <a:pt x="65717" y="46940"/>
                </a:cubicBezTo>
                <a:cubicBezTo>
                  <a:pt x="65717" y="21006"/>
                  <a:pt x="86722" y="0"/>
                  <a:pt x="112657" y="0"/>
                </a:cubicBezTo>
                <a:cubicBezTo>
                  <a:pt x="118554" y="0"/>
                  <a:pt x="124216" y="1085"/>
                  <a:pt x="129409" y="3080"/>
                </a:cubicBezTo>
                <a:cubicBezTo>
                  <a:pt x="132343" y="4195"/>
                  <a:pt x="132871" y="7921"/>
                  <a:pt x="130670" y="10151"/>
                </a:cubicBezTo>
                <a:lnTo>
                  <a:pt x="104648" y="36173"/>
                </a:lnTo>
                <a:cubicBezTo>
                  <a:pt x="103768" y="37054"/>
                  <a:pt x="103269" y="38256"/>
                  <a:pt x="103269" y="39489"/>
                </a:cubicBezTo>
                <a:lnTo>
                  <a:pt x="103269" y="51634"/>
                </a:lnTo>
                <a:cubicBezTo>
                  <a:pt x="103269" y="54216"/>
                  <a:pt x="105381" y="56329"/>
                  <a:pt x="107963" y="56329"/>
                </a:cubicBezTo>
                <a:lnTo>
                  <a:pt x="120109" y="56329"/>
                </a:lnTo>
                <a:cubicBezTo>
                  <a:pt x="121341" y="56329"/>
                  <a:pt x="122544" y="55830"/>
                  <a:pt x="123424" y="54950"/>
                </a:cubicBezTo>
                <a:lnTo>
                  <a:pt x="149447" y="28927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67737" y="2795565"/>
            <a:ext cx="5148846" cy="2336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关键适配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5803" y="3095984"/>
            <a:ext cx="5332435" cy="2169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针对X光灰度图特点，修改ResNet50输入层以适配单通道输入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9975" y="3383885"/>
            <a:ext cx="5257331" cy="892912"/>
          </a:xfrm>
          <a:custGeom>
            <a:avLst/>
            <a:gdLst/>
            <a:ahLst/>
            <a:cxnLst/>
            <a:rect l="l" t="t" r="r" b="b"/>
            <a:pathLst>
              <a:path w="5257331" h="892912">
                <a:moveTo>
                  <a:pt x="66763" y="0"/>
                </a:moveTo>
                <a:lnTo>
                  <a:pt x="5190568" y="0"/>
                </a:lnTo>
                <a:cubicBezTo>
                  <a:pt x="5227440" y="0"/>
                  <a:pt x="5257331" y="29891"/>
                  <a:pt x="5257331" y="66763"/>
                </a:cubicBezTo>
                <a:lnTo>
                  <a:pt x="5257331" y="826149"/>
                </a:lnTo>
                <a:cubicBezTo>
                  <a:pt x="5257331" y="863021"/>
                  <a:pt x="5227440" y="892912"/>
                  <a:pt x="5190568" y="892912"/>
                </a:cubicBezTo>
                <a:lnTo>
                  <a:pt x="66763" y="892912"/>
                </a:lnTo>
                <a:cubicBezTo>
                  <a:pt x="29891" y="892912"/>
                  <a:pt x="0" y="863021"/>
                  <a:pt x="0" y="826149"/>
                </a:cubicBezTo>
                <a:lnTo>
                  <a:pt x="0" y="66763"/>
                </a:lnTo>
                <a:cubicBezTo>
                  <a:pt x="0" y="29916"/>
                  <a:pt x="29916" y="0"/>
                  <a:pt x="66763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 w="12700">
            <a:solidFill>
              <a:srgbClr val="6C7A8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75803" y="3379713"/>
            <a:ext cx="5299055" cy="884567"/>
          </a:xfrm>
          <a:prstGeom prst="rect">
            <a:avLst/>
          </a:prstGeom>
          <a:noFill/>
        </p:spPr>
        <p:txBody>
          <a:bodyPr wrap="square" lIns="66760" tIns="66760" rIns="66760" bIns="66760" rtlCol="0" anchor="ctr"/>
          <a:lstStyle/>
          <a:p>
            <a:pPr>
              <a:lnSpc>
                <a:spcPct val="130000"/>
              </a:lnSpc>
            </a:pPr>
            <a:r>
              <a:rPr lang="en-US" sz="79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model.conv1 = nn.Conv2d(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9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in_channels=1, # 单通道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9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out_channels=64, kernel_size=7,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9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stride=2, padding=3, bias=False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9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799" y="4589733"/>
            <a:ext cx="5716304" cy="1936033"/>
          </a:xfrm>
          <a:custGeom>
            <a:avLst/>
            <a:gdLst/>
            <a:ahLst/>
            <a:cxnLst/>
            <a:rect l="l" t="t" r="r" b="b"/>
            <a:pathLst>
              <a:path w="5716304" h="1936033">
                <a:moveTo>
                  <a:pt x="66754" y="0"/>
                </a:moveTo>
                <a:lnTo>
                  <a:pt x="5649549" y="0"/>
                </a:lnTo>
                <a:cubicBezTo>
                  <a:pt x="5686417" y="0"/>
                  <a:pt x="5716304" y="29887"/>
                  <a:pt x="5716304" y="66754"/>
                </a:cubicBezTo>
                <a:lnTo>
                  <a:pt x="5716304" y="1869278"/>
                </a:lnTo>
                <a:cubicBezTo>
                  <a:pt x="5716304" y="1906146"/>
                  <a:pt x="5686417" y="1936033"/>
                  <a:pt x="5649549" y="1936033"/>
                </a:cubicBezTo>
                <a:lnTo>
                  <a:pt x="66754" y="1936033"/>
                </a:lnTo>
                <a:cubicBezTo>
                  <a:pt x="29887" y="1936033"/>
                  <a:pt x="0" y="1906146"/>
                  <a:pt x="0" y="1869278"/>
                </a:cubicBezTo>
                <a:lnTo>
                  <a:pt x="0" y="66754"/>
                </a:lnTo>
                <a:cubicBezTo>
                  <a:pt x="0" y="29912"/>
                  <a:pt x="29912" y="0"/>
                  <a:pt x="66754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58973" y="4723253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12517" y="25035"/>
                </a:moveTo>
                <a:cubicBezTo>
                  <a:pt x="5594" y="25035"/>
                  <a:pt x="0" y="30629"/>
                  <a:pt x="0" y="37552"/>
                </a:cubicBezTo>
                <a:cubicBezTo>
                  <a:pt x="0" y="44476"/>
                  <a:pt x="5594" y="50070"/>
                  <a:pt x="12517" y="50070"/>
                </a:cubicBezTo>
                <a:lnTo>
                  <a:pt x="46432" y="50070"/>
                </a:lnTo>
                <a:cubicBezTo>
                  <a:pt x="51243" y="61140"/>
                  <a:pt x="62274" y="68846"/>
                  <a:pt x="75105" y="68846"/>
                </a:cubicBezTo>
                <a:cubicBezTo>
                  <a:pt x="87935" y="68846"/>
                  <a:pt x="98966" y="61140"/>
                  <a:pt x="103778" y="50070"/>
                </a:cubicBezTo>
                <a:lnTo>
                  <a:pt x="187762" y="50070"/>
                </a:lnTo>
                <a:cubicBezTo>
                  <a:pt x="194686" y="50070"/>
                  <a:pt x="200279" y="44476"/>
                  <a:pt x="200279" y="37552"/>
                </a:cubicBezTo>
                <a:cubicBezTo>
                  <a:pt x="200279" y="30629"/>
                  <a:pt x="194686" y="25035"/>
                  <a:pt x="187762" y="25035"/>
                </a:cubicBezTo>
                <a:lnTo>
                  <a:pt x="103778" y="25035"/>
                </a:lnTo>
                <a:cubicBezTo>
                  <a:pt x="98966" y="13965"/>
                  <a:pt x="87935" y="6259"/>
                  <a:pt x="75105" y="6259"/>
                </a:cubicBezTo>
                <a:cubicBezTo>
                  <a:pt x="62274" y="6259"/>
                  <a:pt x="51243" y="13965"/>
                  <a:pt x="46432" y="25035"/>
                </a:cubicBezTo>
                <a:lnTo>
                  <a:pt x="12517" y="25035"/>
                </a:lnTo>
                <a:close/>
                <a:moveTo>
                  <a:pt x="12517" y="87622"/>
                </a:moveTo>
                <a:cubicBezTo>
                  <a:pt x="5594" y="87622"/>
                  <a:pt x="0" y="93216"/>
                  <a:pt x="0" y="100140"/>
                </a:cubicBezTo>
                <a:cubicBezTo>
                  <a:pt x="0" y="107063"/>
                  <a:pt x="5594" y="112657"/>
                  <a:pt x="12517" y="112657"/>
                </a:cubicBezTo>
                <a:lnTo>
                  <a:pt x="109019" y="112657"/>
                </a:lnTo>
                <a:cubicBezTo>
                  <a:pt x="113831" y="123727"/>
                  <a:pt x="124862" y="131433"/>
                  <a:pt x="137692" y="131433"/>
                </a:cubicBezTo>
                <a:cubicBezTo>
                  <a:pt x="150522" y="131433"/>
                  <a:pt x="161553" y="123727"/>
                  <a:pt x="166365" y="112657"/>
                </a:cubicBezTo>
                <a:lnTo>
                  <a:pt x="187762" y="112657"/>
                </a:lnTo>
                <a:cubicBezTo>
                  <a:pt x="194686" y="112657"/>
                  <a:pt x="200279" y="107063"/>
                  <a:pt x="200279" y="100140"/>
                </a:cubicBezTo>
                <a:cubicBezTo>
                  <a:pt x="200279" y="93216"/>
                  <a:pt x="194686" y="87622"/>
                  <a:pt x="187762" y="87622"/>
                </a:cubicBezTo>
                <a:lnTo>
                  <a:pt x="166365" y="87622"/>
                </a:lnTo>
                <a:cubicBezTo>
                  <a:pt x="161553" y="76552"/>
                  <a:pt x="150522" y="68846"/>
                  <a:pt x="137692" y="68846"/>
                </a:cubicBezTo>
                <a:cubicBezTo>
                  <a:pt x="124862" y="68846"/>
                  <a:pt x="113831" y="76552"/>
                  <a:pt x="109019" y="87622"/>
                </a:cubicBezTo>
                <a:lnTo>
                  <a:pt x="12517" y="87622"/>
                </a:lnTo>
                <a:close/>
                <a:moveTo>
                  <a:pt x="12517" y="150209"/>
                </a:moveTo>
                <a:cubicBezTo>
                  <a:pt x="5594" y="150209"/>
                  <a:pt x="0" y="155803"/>
                  <a:pt x="0" y="162727"/>
                </a:cubicBezTo>
                <a:cubicBezTo>
                  <a:pt x="0" y="169651"/>
                  <a:pt x="5594" y="175244"/>
                  <a:pt x="12517" y="175244"/>
                </a:cubicBezTo>
                <a:lnTo>
                  <a:pt x="33914" y="175244"/>
                </a:lnTo>
                <a:cubicBezTo>
                  <a:pt x="38726" y="186314"/>
                  <a:pt x="49757" y="194021"/>
                  <a:pt x="62587" y="194021"/>
                </a:cubicBezTo>
                <a:cubicBezTo>
                  <a:pt x="75418" y="194021"/>
                  <a:pt x="86449" y="186314"/>
                  <a:pt x="91260" y="175244"/>
                </a:cubicBezTo>
                <a:lnTo>
                  <a:pt x="187762" y="175244"/>
                </a:lnTo>
                <a:cubicBezTo>
                  <a:pt x="194686" y="175244"/>
                  <a:pt x="200279" y="169651"/>
                  <a:pt x="200279" y="162727"/>
                </a:cubicBezTo>
                <a:cubicBezTo>
                  <a:pt x="200279" y="155803"/>
                  <a:pt x="194686" y="150209"/>
                  <a:pt x="187762" y="150209"/>
                </a:cubicBezTo>
                <a:lnTo>
                  <a:pt x="91260" y="150209"/>
                </a:lnTo>
                <a:cubicBezTo>
                  <a:pt x="86449" y="139139"/>
                  <a:pt x="75418" y="131433"/>
                  <a:pt x="62587" y="131433"/>
                </a:cubicBezTo>
                <a:cubicBezTo>
                  <a:pt x="49757" y="131433"/>
                  <a:pt x="38726" y="139139"/>
                  <a:pt x="33914" y="150209"/>
                </a:cubicBezTo>
                <a:lnTo>
                  <a:pt x="12517" y="150209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84287" y="4689873"/>
            <a:ext cx="5365815" cy="267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训练参数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8111" y="5061224"/>
            <a:ext cx="2712115" cy="642563"/>
          </a:xfrm>
          <a:custGeom>
            <a:avLst/>
            <a:gdLst/>
            <a:ahLst/>
            <a:cxnLst/>
            <a:rect l="l" t="t" r="r" b="b"/>
            <a:pathLst>
              <a:path w="2712115" h="642563">
                <a:moveTo>
                  <a:pt x="66762" y="0"/>
                </a:moveTo>
                <a:lnTo>
                  <a:pt x="2645353" y="0"/>
                </a:lnTo>
                <a:cubicBezTo>
                  <a:pt x="2682225" y="0"/>
                  <a:pt x="2712115" y="29890"/>
                  <a:pt x="2712115" y="66762"/>
                </a:cubicBezTo>
                <a:lnTo>
                  <a:pt x="2712115" y="575800"/>
                </a:lnTo>
                <a:cubicBezTo>
                  <a:pt x="2712115" y="612647"/>
                  <a:pt x="2682200" y="642563"/>
                  <a:pt x="2645353" y="642563"/>
                </a:cubicBezTo>
                <a:lnTo>
                  <a:pt x="66762" y="642563"/>
                </a:lnTo>
                <a:cubicBezTo>
                  <a:pt x="29890" y="642563"/>
                  <a:pt x="0" y="612672"/>
                  <a:pt x="0" y="575800"/>
                </a:cubicBezTo>
                <a:lnTo>
                  <a:pt x="0" y="66762"/>
                </a:lnTo>
                <a:cubicBezTo>
                  <a:pt x="0" y="29915"/>
                  <a:pt x="29915" y="0"/>
                  <a:pt x="667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75663" y="5132156"/>
            <a:ext cx="2637010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批次大小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8973" y="5365815"/>
            <a:ext cx="2670390" cy="267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28069" y="5061224"/>
            <a:ext cx="2712115" cy="642563"/>
          </a:xfrm>
          <a:custGeom>
            <a:avLst/>
            <a:gdLst/>
            <a:ahLst/>
            <a:cxnLst/>
            <a:rect l="l" t="t" r="r" b="b"/>
            <a:pathLst>
              <a:path w="2712115" h="642563">
                <a:moveTo>
                  <a:pt x="66762" y="0"/>
                </a:moveTo>
                <a:lnTo>
                  <a:pt x="2645353" y="0"/>
                </a:lnTo>
                <a:cubicBezTo>
                  <a:pt x="2682225" y="0"/>
                  <a:pt x="2712115" y="29890"/>
                  <a:pt x="2712115" y="66762"/>
                </a:cubicBezTo>
                <a:lnTo>
                  <a:pt x="2712115" y="575800"/>
                </a:lnTo>
                <a:cubicBezTo>
                  <a:pt x="2712115" y="612647"/>
                  <a:pt x="2682200" y="642563"/>
                  <a:pt x="2645353" y="642563"/>
                </a:cubicBezTo>
                <a:lnTo>
                  <a:pt x="66762" y="642563"/>
                </a:lnTo>
                <a:cubicBezTo>
                  <a:pt x="29890" y="642563"/>
                  <a:pt x="0" y="612672"/>
                  <a:pt x="0" y="575800"/>
                </a:cubicBezTo>
                <a:lnTo>
                  <a:pt x="0" y="66762"/>
                </a:lnTo>
                <a:cubicBezTo>
                  <a:pt x="0" y="29915"/>
                  <a:pt x="29915" y="0"/>
                  <a:pt x="667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265621" y="5132156"/>
            <a:ext cx="2637010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训练轮数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48931" y="5365815"/>
            <a:ext cx="2670390" cy="267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8111" y="5778891"/>
            <a:ext cx="2712115" cy="642563"/>
          </a:xfrm>
          <a:custGeom>
            <a:avLst/>
            <a:gdLst/>
            <a:ahLst/>
            <a:cxnLst/>
            <a:rect l="l" t="t" r="r" b="b"/>
            <a:pathLst>
              <a:path w="2712115" h="642563">
                <a:moveTo>
                  <a:pt x="66762" y="0"/>
                </a:moveTo>
                <a:lnTo>
                  <a:pt x="2645353" y="0"/>
                </a:lnTo>
                <a:cubicBezTo>
                  <a:pt x="2682225" y="0"/>
                  <a:pt x="2712115" y="29890"/>
                  <a:pt x="2712115" y="66762"/>
                </a:cubicBezTo>
                <a:lnTo>
                  <a:pt x="2712115" y="575800"/>
                </a:lnTo>
                <a:cubicBezTo>
                  <a:pt x="2712115" y="612647"/>
                  <a:pt x="2682200" y="642563"/>
                  <a:pt x="2645353" y="642563"/>
                </a:cubicBezTo>
                <a:lnTo>
                  <a:pt x="66762" y="642563"/>
                </a:lnTo>
                <a:cubicBezTo>
                  <a:pt x="29890" y="642563"/>
                  <a:pt x="0" y="612672"/>
                  <a:pt x="0" y="575800"/>
                </a:cubicBezTo>
                <a:lnTo>
                  <a:pt x="0" y="66762"/>
                </a:lnTo>
                <a:cubicBezTo>
                  <a:pt x="0" y="29915"/>
                  <a:pt x="29915" y="0"/>
                  <a:pt x="667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75663" y="5849823"/>
            <a:ext cx="2637010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8973" y="6083483"/>
            <a:ext cx="2670390" cy="267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1e-4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28069" y="5778891"/>
            <a:ext cx="2712115" cy="642563"/>
          </a:xfrm>
          <a:custGeom>
            <a:avLst/>
            <a:gdLst/>
            <a:ahLst/>
            <a:cxnLst/>
            <a:rect l="l" t="t" r="r" b="b"/>
            <a:pathLst>
              <a:path w="2712115" h="642563">
                <a:moveTo>
                  <a:pt x="66762" y="0"/>
                </a:moveTo>
                <a:lnTo>
                  <a:pt x="2645353" y="0"/>
                </a:lnTo>
                <a:cubicBezTo>
                  <a:pt x="2682225" y="0"/>
                  <a:pt x="2712115" y="29890"/>
                  <a:pt x="2712115" y="66762"/>
                </a:cubicBezTo>
                <a:lnTo>
                  <a:pt x="2712115" y="575800"/>
                </a:lnTo>
                <a:cubicBezTo>
                  <a:pt x="2712115" y="612647"/>
                  <a:pt x="2682200" y="642563"/>
                  <a:pt x="2645353" y="642563"/>
                </a:cubicBezTo>
                <a:lnTo>
                  <a:pt x="66762" y="642563"/>
                </a:lnTo>
                <a:cubicBezTo>
                  <a:pt x="29890" y="642563"/>
                  <a:pt x="0" y="612672"/>
                  <a:pt x="0" y="575800"/>
                </a:cubicBezTo>
                <a:lnTo>
                  <a:pt x="0" y="66762"/>
                </a:lnTo>
                <a:cubicBezTo>
                  <a:pt x="0" y="29915"/>
                  <a:pt x="29915" y="0"/>
                  <a:pt x="667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265621" y="5849823"/>
            <a:ext cx="2637010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图像尺寸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48931" y="6083483"/>
            <a:ext cx="2670390" cy="267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224×224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64129" y="1201676"/>
            <a:ext cx="5699614" cy="5324090"/>
          </a:xfrm>
          <a:custGeom>
            <a:avLst/>
            <a:gdLst/>
            <a:ahLst/>
            <a:cxnLst/>
            <a:rect l="l" t="t" r="r" b="b"/>
            <a:pathLst>
              <a:path w="5699614" h="5324090">
                <a:moveTo>
                  <a:pt x="33380" y="0"/>
                </a:moveTo>
                <a:lnTo>
                  <a:pt x="5632850" y="0"/>
                </a:lnTo>
                <a:cubicBezTo>
                  <a:pt x="5669723" y="0"/>
                  <a:pt x="5699614" y="29891"/>
                  <a:pt x="5699614" y="66764"/>
                </a:cubicBezTo>
                <a:lnTo>
                  <a:pt x="5699614" y="5257326"/>
                </a:lnTo>
                <a:cubicBezTo>
                  <a:pt x="5699614" y="5294199"/>
                  <a:pt x="5669723" y="5324090"/>
                  <a:pt x="5632850" y="5324090"/>
                </a:cubicBezTo>
                <a:lnTo>
                  <a:pt x="33380" y="5324090"/>
                </a:lnTo>
                <a:cubicBezTo>
                  <a:pt x="14945" y="5324090"/>
                  <a:pt x="0" y="5309146"/>
                  <a:pt x="0" y="5290710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164129" y="1201676"/>
            <a:ext cx="33380" cy="5324090"/>
          </a:xfrm>
          <a:custGeom>
            <a:avLst/>
            <a:gdLst/>
            <a:ahLst/>
            <a:cxnLst/>
            <a:rect l="l" t="t" r="r" b="b"/>
            <a:pathLst>
              <a:path w="33380" h="5324090">
                <a:moveTo>
                  <a:pt x="33380" y="0"/>
                </a:moveTo>
                <a:lnTo>
                  <a:pt x="33380" y="0"/>
                </a:lnTo>
                <a:lnTo>
                  <a:pt x="33380" y="5324090"/>
                </a:lnTo>
                <a:lnTo>
                  <a:pt x="33380" y="5324090"/>
                </a:lnTo>
                <a:cubicBezTo>
                  <a:pt x="14945" y="5324090"/>
                  <a:pt x="0" y="5309146"/>
                  <a:pt x="0" y="5290710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305993" y="1335195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50070" y="125175"/>
                </a:moveTo>
                <a:lnTo>
                  <a:pt x="9584" y="125175"/>
                </a:lnTo>
                <a:cubicBezTo>
                  <a:pt x="-156" y="125175"/>
                  <a:pt x="-6141" y="114574"/>
                  <a:pt x="-1134" y="106203"/>
                </a:cubicBezTo>
                <a:lnTo>
                  <a:pt x="19559" y="71702"/>
                </a:lnTo>
                <a:cubicBezTo>
                  <a:pt x="22962" y="66030"/>
                  <a:pt x="29064" y="62587"/>
                  <a:pt x="35675" y="62587"/>
                </a:cubicBezTo>
                <a:lnTo>
                  <a:pt x="72836" y="62587"/>
                </a:lnTo>
                <a:cubicBezTo>
                  <a:pt x="102604" y="12165"/>
                  <a:pt x="147002" y="9623"/>
                  <a:pt x="176692" y="13965"/>
                </a:cubicBezTo>
                <a:cubicBezTo>
                  <a:pt x="181699" y="14708"/>
                  <a:pt x="185610" y="18620"/>
                  <a:pt x="186314" y="23588"/>
                </a:cubicBezTo>
                <a:cubicBezTo>
                  <a:pt x="190656" y="53277"/>
                  <a:pt x="188114" y="97675"/>
                  <a:pt x="137692" y="127443"/>
                </a:cubicBezTo>
                <a:lnTo>
                  <a:pt x="137692" y="164605"/>
                </a:lnTo>
                <a:cubicBezTo>
                  <a:pt x="137692" y="171215"/>
                  <a:pt x="134250" y="177318"/>
                  <a:pt x="128578" y="180721"/>
                </a:cubicBezTo>
                <a:lnTo>
                  <a:pt x="94076" y="201414"/>
                </a:lnTo>
                <a:cubicBezTo>
                  <a:pt x="85745" y="206421"/>
                  <a:pt x="75105" y="200397"/>
                  <a:pt x="75105" y="190696"/>
                </a:cubicBezTo>
                <a:lnTo>
                  <a:pt x="75105" y="150209"/>
                </a:lnTo>
                <a:cubicBezTo>
                  <a:pt x="75105" y="136401"/>
                  <a:pt x="63878" y="125175"/>
                  <a:pt x="50070" y="125175"/>
                </a:cubicBezTo>
                <a:lnTo>
                  <a:pt x="50031" y="125175"/>
                </a:lnTo>
                <a:close/>
                <a:moveTo>
                  <a:pt x="156468" y="62587"/>
                </a:moveTo>
                <a:cubicBezTo>
                  <a:pt x="156468" y="52224"/>
                  <a:pt x="148055" y="43811"/>
                  <a:pt x="137692" y="43811"/>
                </a:cubicBezTo>
                <a:cubicBezTo>
                  <a:pt x="127329" y="43811"/>
                  <a:pt x="118916" y="52224"/>
                  <a:pt x="118916" y="62587"/>
                </a:cubicBezTo>
                <a:cubicBezTo>
                  <a:pt x="118916" y="72950"/>
                  <a:pt x="127329" y="81363"/>
                  <a:pt x="137692" y="81363"/>
                </a:cubicBezTo>
                <a:cubicBezTo>
                  <a:pt x="148055" y="81363"/>
                  <a:pt x="156468" y="72950"/>
                  <a:pt x="156468" y="6258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531307" y="1301815"/>
            <a:ext cx="5332435" cy="267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训练优化策略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85131" y="1673166"/>
            <a:ext cx="5474300" cy="550768"/>
          </a:xfrm>
          <a:custGeom>
            <a:avLst/>
            <a:gdLst/>
            <a:ahLst/>
            <a:cxnLst/>
            <a:rect l="l" t="t" r="r" b="b"/>
            <a:pathLst>
              <a:path w="5474300" h="550768">
                <a:moveTo>
                  <a:pt x="66759" y="0"/>
                </a:moveTo>
                <a:lnTo>
                  <a:pt x="5407541" y="0"/>
                </a:lnTo>
                <a:cubicBezTo>
                  <a:pt x="5444411" y="0"/>
                  <a:pt x="5474300" y="29889"/>
                  <a:pt x="5474300" y="66759"/>
                </a:cubicBezTo>
                <a:lnTo>
                  <a:pt x="5474300" y="484009"/>
                </a:lnTo>
                <a:cubicBezTo>
                  <a:pt x="5474300" y="520879"/>
                  <a:pt x="5444411" y="550768"/>
                  <a:pt x="5407541" y="550768"/>
                </a:cubicBezTo>
                <a:lnTo>
                  <a:pt x="66759" y="550768"/>
                </a:lnTo>
                <a:cubicBezTo>
                  <a:pt x="29914" y="550768"/>
                  <a:pt x="0" y="520854"/>
                  <a:pt x="0" y="484009"/>
                </a:cubicBezTo>
                <a:lnTo>
                  <a:pt x="0" y="66759"/>
                </a:lnTo>
                <a:cubicBezTo>
                  <a:pt x="0" y="29914"/>
                  <a:pt x="29914" y="0"/>
                  <a:pt x="667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356063" y="1760789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133520" y="0"/>
                </a:moveTo>
                <a:lnTo>
                  <a:pt x="133520" y="0"/>
                </a:lnTo>
                <a:cubicBezTo>
                  <a:pt x="207211" y="0"/>
                  <a:pt x="267039" y="59828"/>
                  <a:pt x="267039" y="133520"/>
                </a:cubicBezTo>
                <a:lnTo>
                  <a:pt x="267039" y="133520"/>
                </a:lnTo>
                <a:cubicBezTo>
                  <a:pt x="267039" y="207211"/>
                  <a:pt x="207211" y="267039"/>
                  <a:pt x="133520" y="267039"/>
                </a:cubicBezTo>
                <a:lnTo>
                  <a:pt x="133520" y="267039"/>
                </a:lnTo>
                <a:cubicBezTo>
                  <a:pt x="59828" y="267039"/>
                  <a:pt x="0" y="207211"/>
                  <a:pt x="0" y="133520"/>
                </a:cubicBezTo>
                <a:lnTo>
                  <a:pt x="0" y="133520"/>
                </a:lnTo>
                <a:cubicBezTo>
                  <a:pt x="0" y="59828"/>
                  <a:pt x="59828" y="0"/>
                  <a:pt x="13352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440556" y="1835893"/>
            <a:ext cx="102226" cy="116830"/>
          </a:xfrm>
          <a:custGeom>
            <a:avLst/>
            <a:gdLst/>
            <a:ahLst/>
            <a:cxnLst/>
            <a:rect l="l" t="t" r="r" b="b"/>
            <a:pathLst>
              <a:path w="102226" h="116830">
                <a:moveTo>
                  <a:pt x="99214" y="15996"/>
                </a:moveTo>
                <a:cubicBezTo>
                  <a:pt x="102477" y="18369"/>
                  <a:pt x="103207" y="22932"/>
                  <a:pt x="100834" y="26195"/>
                </a:cubicBezTo>
                <a:lnTo>
                  <a:pt x="42419" y="106516"/>
                </a:lnTo>
                <a:cubicBezTo>
                  <a:pt x="41164" y="108250"/>
                  <a:pt x="39225" y="109322"/>
                  <a:pt x="37080" y="109505"/>
                </a:cubicBezTo>
                <a:cubicBezTo>
                  <a:pt x="34935" y="109687"/>
                  <a:pt x="32858" y="108889"/>
                  <a:pt x="31352" y="107383"/>
                </a:cubicBezTo>
                <a:lnTo>
                  <a:pt x="2145" y="78175"/>
                </a:lnTo>
                <a:cubicBezTo>
                  <a:pt x="-707" y="75323"/>
                  <a:pt x="-707" y="70691"/>
                  <a:pt x="2145" y="67839"/>
                </a:cubicBezTo>
                <a:cubicBezTo>
                  <a:pt x="4997" y="64986"/>
                  <a:pt x="9629" y="64986"/>
                  <a:pt x="12482" y="67839"/>
                </a:cubicBezTo>
                <a:lnTo>
                  <a:pt x="35642" y="90999"/>
                </a:lnTo>
                <a:lnTo>
                  <a:pt x="89037" y="17593"/>
                </a:lnTo>
                <a:cubicBezTo>
                  <a:pt x="91410" y="14330"/>
                  <a:pt x="95974" y="13600"/>
                  <a:pt x="99237" y="15973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723242" y="1744099"/>
            <a:ext cx="5032016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AdamW优化器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23242" y="1977758"/>
            <a:ext cx="5023671" cy="175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2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带权重衰减，有效减少过拟合，提升模型泛化能力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85131" y="2299039"/>
            <a:ext cx="5474300" cy="550768"/>
          </a:xfrm>
          <a:custGeom>
            <a:avLst/>
            <a:gdLst/>
            <a:ahLst/>
            <a:cxnLst/>
            <a:rect l="l" t="t" r="r" b="b"/>
            <a:pathLst>
              <a:path w="5474300" h="550768">
                <a:moveTo>
                  <a:pt x="66759" y="0"/>
                </a:moveTo>
                <a:lnTo>
                  <a:pt x="5407541" y="0"/>
                </a:lnTo>
                <a:cubicBezTo>
                  <a:pt x="5444411" y="0"/>
                  <a:pt x="5474300" y="29889"/>
                  <a:pt x="5474300" y="66759"/>
                </a:cubicBezTo>
                <a:lnTo>
                  <a:pt x="5474300" y="484009"/>
                </a:lnTo>
                <a:cubicBezTo>
                  <a:pt x="5474300" y="520879"/>
                  <a:pt x="5444411" y="550768"/>
                  <a:pt x="5407541" y="550768"/>
                </a:cubicBezTo>
                <a:lnTo>
                  <a:pt x="66759" y="550768"/>
                </a:lnTo>
                <a:cubicBezTo>
                  <a:pt x="29914" y="550768"/>
                  <a:pt x="0" y="520854"/>
                  <a:pt x="0" y="484009"/>
                </a:cubicBezTo>
                <a:lnTo>
                  <a:pt x="0" y="66759"/>
                </a:lnTo>
                <a:cubicBezTo>
                  <a:pt x="0" y="29914"/>
                  <a:pt x="29914" y="0"/>
                  <a:pt x="667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356063" y="2386661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133520" y="0"/>
                </a:moveTo>
                <a:lnTo>
                  <a:pt x="133520" y="0"/>
                </a:lnTo>
                <a:cubicBezTo>
                  <a:pt x="207211" y="0"/>
                  <a:pt x="267039" y="59828"/>
                  <a:pt x="267039" y="133520"/>
                </a:cubicBezTo>
                <a:lnTo>
                  <a:pt x="267039" y="133520"/>
                </a:lnTo>
                <a:cubicBezTo>
                  <a:pt x="267039" y="207211"/>
                  <a:pt x="207211" y="267039"/>
                  <a:pt x="133520" y="267039"/>
                </a:cubicBezTo>
                <a:lnTo>
                  <a:pt x="133520" y="267039"/>
                </a:lnTo>
                <a:cubicBezTo>
                  <a:pt x="59828" y="267039"/>
                  <a:pt x="0" y="207211"/>
                  <a:pt x="0" y="133520"/>
                </a:cubicBezTo>
                <a:lnTo>
                  <a:pt x="0" y="133520"/>
                </a:lnTo>
                <a:cubicBezTo>
                  <a:pt x="0" y="59828"/>
                  <a:pt x="59828" y="0"/>
                  <a:pt x="13352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440556" y="2461766"/>
            <a:ext cx="102226" cy="116830"/>
          </a:xfrm>
          <a:custGeom>
            <a:avLst/>
            <a:gdLst/>
            <a:ahLst/>
            <a:cxnLst/>
            <a:rect l="l" t="t" r="r" b="b"/>
            <a:pathLst>
              <a:path w="102226" h="116830">
                <a:moveTo>
                  <a:pt x="99214" y="15996"/>
                </a:moveTo>
                <a:cubicBezTo>
                  <a:pt x="102477" y="18369"/>
                  <a:pt x="103207" y="22932"/>
                  <a:pt x="100834" y="26195"/>
                </a:cubicBezTo>
                <a:lnTo>
                  <a:pt x="42419" y="106516"/>
                </a:lnTo>
                <a:cubicBezTo>
                  <a:pt x="41164" y="108250"/>
                  <a:pt x="39225" y="109322"/>
                  <a:pt x="37080" y="109505"/>
                </a:cubicBezTo>
                <a:cubicBezTo>
                  <a:pt x="34935" y="109687"/>
                  <a:pt x="32858" y="108889"/>
                  <a:pt x="31352" y="107383"/>
                </a:cubicBezTo>
                <a:lnTo>
                  <a:pt x="2145" y="78175"/>
                </a:lnTo>
                <a:cubicBezTo>
                  <a:pt x="-707" y="75323"/>
                  <a:pt x="-707" y="70691"/>
                  <a:pt x="2145" y="67839"/>
                </a:cubicBezTo>
                <a:cubicBezTo>
                  <a:pt x="4997" y="64986"/>
                  <a:pt x="9629" y="64986"/>
                  <a:pt x="12482" y="67839"/>
                </a:cubicBezTo>
                <a:lnTo>
                  <a:pt x="35642" y="90999"/>
                </a:lnTo>
                <a:lnTo>
                  <a:pt x="89037" y="17593"/>
                </a:lnTo>
                <a:cubicBezTo>
                  <a:pt x="91410" y="14330"/>
                  <a:pt x="95974" y="13600"/>
                  <a:pt x="99237" y="15973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723242" y="2369971"/>
            <a:ext cx="5032016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余弦退火学习率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23242" y="2603630"/>
            <a:ext cx="5023671" cy="175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2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动态调整学习率，提升收敛效果与训练稳定性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85131" y="2924912"/>
            <a:ext cx="5474300" cy="550768"/>
          </a:xfrm>
          <a:custGeom>
            <a:avLst/>
            <a:gdLst/>
            <a:ahLst/>
            <a:cxnLst/>
            <a:rect l="l" t="t" r="r" b="b"/>
            <a:pathLst>
              <a:path w="5474300" h="550768">
                <a:moveTo>
                  <a:pt x="66759" y="0"/>
                </a:moveTo>
                <a:lnTo>
                  <a:pt x="5407541" y="0"/>
                </a:lnTo>
                <a:cubicBezTo>
                  <a:pt x="5444411" y="0"/>
                  <a:pt x="5474300" y="29889"/>
                  <a:pt x="5474300" y="66759"/>
                </a:cubicBezTo>
                <a:lnTo>
                  <a:pt x="5474300" y="484009"/>
                </a:lnTo>
                <a:cubicBezTo>
                  <a:pt x="5474300" y="520879"/>
                  <a:pt x="5444411" y="550768"/>
                  <a:pt x="5407541" y="550768"/>
                </a:cubicBezTo>
                <a:lnTo>
                  <a:pt x="66759" y="550768"/>
                </a:lnTo>
                <a:cubicBezTo>
                  <a:pt x="29914" y="550768"/>
                  <a:pt x="0" y="520854"/>
                  <a:pt x="0" y="484009"/>
                </a:cubicBezTo>
                <a:lnTo>
                  <a:pt x="0" y="66759"/>
                </a:lnTo>
                <a:cubicBezTo>
                  <a:pt x="0" y="29914"/>
                  <a:pt x="29914" y="0"/>
                  <a:pt x="667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6356063" y="3012534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133520" y="0"/>
                </a:moveTo>
                <a:lnTo>
                  <a:pt x="133520" y="0"/>
                </a:lnTo>
                <a:cubicBezTo>
                  <a:pt x="207211" y="0"/>
                  <a:pt x="267039" y="59828"/>
                  <a:pt x="267039" y="133520"/>
                </a:cubicBezTo>
                <a:lnTo>
                  <a:pt x="267039" y="133520"/>
                </a:lnTo>
                <a:cubicBezTo>
                  <a:pt x="267039" y="207211"/>
                  <a:pt x="207211" y="267039"/>
                  <a:pt x="133520" y="267039"/>
                </a:cubicBezTo>
                <a:lnTo>
                  <a:pt x="133520" y="267039"/>
                </a:lnTo>
                <a:cubicBezTo>
                  <a:pt x="59828" y="267039"/>
                  <a:pt x="0" y="207211"/>
                  <a:pt x="0" y="133520"/>
                </a:cubicBezTo>
                <a:lnTo>
                  <a:pt x="0" y="133520"/>
                </a:lnTo>
                <a:cubicBezTo>
                  <a:pt x="0" y="59828"/>
                  <a:pt x="59828" y="0"/>
                  <a:pt x="13352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440556" y="3087639"/>
            <a:ext cx="102226" cy="116830"/>
          </a:xfrm>
          <a:custGeom>
            <a:avLst/>
            <a:gdLst/>
            <a:ahLst/>
            <a:cxnLst/>
            <a:rect l="l" t="t" r="r" b="b"/>
            <a:pathLst>
              <a:path w="102226" h="116830">
                <a:moveTo>
                  <a:pt x="99214" y="15996"/>
                </a:moveTo>
                <a:cubicBezTo>
                  <a:pt x="102477" y="18369"/>
                  <a:pt x="103207" y="22932"/>
                  <a:pt x="100834" y="26195"/>
                </a:cubicBezTo>
                <a:lnTo>
                  <a:pt x="42419" y="106516"/>
                </a:lnTo>
                <a:cubicBezTo>
                  <a:pt x="41164" y="108250"/>
                  <a:pt x="39225" y="109322"/>
                  <a:pt x="37080" y="109505"/>
                </a:cubicBezTo>
                <a:cubicBezTo>
                  <a:pt x="34935" y="109687"/>
                  <a:pt x="32858" y="108889"/>
                  <a:pt x="31352" y="107383"/>
                </a:cubicBezTo>
                <a:lnTo>
                  <a:pt x="2145" y="78175"/>
                </a:lnTo>
                <a:cubicBezTo>
                  <a:pt x="-707" y="75323"/>
                  <a:pt x="-707" y="70691"/>
                  <a:pt x="2145" y="67839"/>
                </a:cubicBezTo>
                <a:cubicBezTo>
                  <a:pt x="4997" y="64986"/>
                  <a:pt x="9629" y="64986"/>
                  <a:pt x="12482" y="67839"/>
                </a:cubicBezTo>
                <a:lnTo>
                  <a:pt x="35642" y="90999"/>
                </a:lnTo>
                <a:lnTo>
                  <a:pt x="89037" y="17593"/>
                </a:lnTo>
                <a:cubicBezTo>
                  <a:pt x="91410" y="14330"/>
                  <a:pt x="95974" y="13600"/>
                  <a:pt x="99237" y="15973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723242" y="2995844"/>
            <a:ext cx="5032016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Dropout (0.3)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23242" y="3229503"/>
            <a:ext cx="5023671" cy="175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2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正则化技术，防止过拟合，增强模型鲁棒性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85131" y="3550784"/>
            <a:ext cx="5474300" cy="550768"/>
          </a:xfrm>
          <a:custGeom>
            <a:avLst/>
            <a:gdLst/>
            <a:ahLst/>
            <a:cxnLst/>
            <a:rect l="l" t="t" r="r" b="b"/>
            <a:pathLst>
              <a:path w="5474300" h="550768">
                <a:moveTo>
                  <a:pt x="66759" y="0"/>
                </a:moveTo>
                <a:lnTo>
                  <a:pt x="5407541" y="0"/>
                </a:lnTo>
                <a:cubicBezTo>
                  <a:pt x="5444411" y="0"/>
                  <a:pt x="5474300" y="29889"/>
                  <a:pt x="5474300" y="66759"/>
                </a:cubicBezTo>
                <a:lnTo>
                  <a:pt x="5474300" y="484009"/>
                </a:lnTo>
                <a:cubicBezTo>
                  <a:pt x="5474300" y="520879"/>
                  <a:pt x="5444411" y="550768"/>
                  <a:pt x="5407541" y="550768"/>
                </a:cubicBezTo>
                <a:lnTo>
                  <a:pt x="66759" y="550768"/>
                </a:lnTo>
                <a:cubicBezTo>
                  <a:pt x="29914" y="550768"/>
                  <a:pt x="0" y="520854"/>
                  <a:pt x="0" y="484009"/>
                </a:cubicBezTo>
                <a:lnTo>
                  <a:pt x="0" y="66759"/>
                </a:lnTo>
                <a:cubicBezTo>
                  <a:pt x="0" y="29914"/>
                  <a:pt x="29914" y="0"/>
                  <a:pt x="667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6356063" y="3638407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133520" y="0"/>
                </a:moveTo>
                <a:lnTo>
                  <a:pt x="133520" y="0"/>
                </a:lnTo>
                <a:cubicBezTo>
                  <a:pt x="207211" y="0"/>
                  <a:pt x="267039" y="59828"/>
                  <a:pt x="267039" y="133520"/>
                </a:cubicBezTo>
                <a:lnTo>
                  <a:pt x="267039" y="133520"/>
                </a:lnTo>
                <a:cubicBezTo>
                  <a:pt x="267039" y="207211"/>
                  <a:pt x="207211" y="267039"/>
                  <a:pt x="133520" y="267039"/>
                </a:cubicBezTo>
                <a:lnTo>
                  <a:pt x="133520" y="267039"/>
                </a:lnTo>
                <a:cubicBezTo>
                  <a:pt x="59828" y="267039"/>
                  <a:pt x="0" y="207211"/>
                  <a:pt x="0" y="133520"/>
                </a:cubicBezTo>
                <a:lnTo>
                  <a:pt x="0" y="133520"/>
                </a:lnTo>
                <a:cubicBezTo>
                  <a:pt x="0" y="59828"/>
                  <a:pt x="59828" y="0"/>
                  <a:pt x="13352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440556" y="3713511"/>
            <a:ext cx="102226" cy="116830"/>
          </a:xfrm>
          <a:custGeom>
            <a:avLst/>
            <a:gdLst/>
            <a:ahLst/>
            <a:cxnLst/>
            <a:rect l="l" t="t" r="r" b="b"/>
            <a:pathLst>
              <a:path w="102226" h="116830">
                <a:moveTo>
                  <a:pt x="99214" y="15996"/>
                </a:moveTo>
                <a:cubicBezTo>
                  <a:pt x="102477" y="18369"/>
                  <a:pt x="103207" y="22932"/>
                  <a:pt x="100834" y="26195"/>
                </a:cubicBezTo>
                <a:lnTo>
                  <a:pt x="42419" y="106516"/>
                </a:lnTo>
                <a:cubicBezTo>
                  <a:pt x="41164" y="108250"/>
                  <a:pt x="39225" y="109322"/>
                  <a:pt x="37080" y="109505"/>
                </a:cubicBezTo>
                <a:cubicBezTo>
                  <a:pt x="34935" y="109687"/>
                  <a:pt x="32858" y="108889"/>
                  <a:pt x="31352" y="107383"/>
                </a:cubicBezTo>
                <a:lnTo>
                  <a:pt x="2145" y="78175"/>
                </a:lnTo>
                <a:cubicBezTo>
                  <a:pt x="-707" y="75323"/>
                  <a:pt x="-707" y="70691"/>
                  <a:pt x="2145" y="67839"/>
                </a:cubicBezTo>
                <a:cubicBezTo>
                  <a:pt x="4997" y="64986"/>
                  <a:pt x="9629" y="64986"/>
                  <a:pt x="12482" y="67839"/>
                </a:cubicBezTo>
                <a:lnTo>
                  <a:pt x="35642" y="90999"/>
                </a:lnTo>
                <a:lnTo>
                  <a:pt x="89037" y="17593"/>
                </a:lnTo>
                <a:cubicBezTo>
                  <a:pt x="91410" y="14330"/>
                  <a:pt x="95974" y="13600"/>
                  <a:pt x="99237" y="15973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6723242" y="3621717"/>
            <a:ext cx="5032016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梯度裁剪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23242" y="3855376"/>
            <a:ext cx="5023671" cy="175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2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避免梯度爆炸，确保训练过程稳定收敛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85131" y="4176657"/>
            <a:ext cx="5474300" cy="550768"/>
          </a:xfrm>
          <a:custGeom>
            <a:avLst/>
            <a:gdLst/>
            <a:ahLst/>
            <a:cxnLst/>
            <a:rect l="l" t="t" r="r" b="b"/>
            <a:pathLst>
              <a:path w="5474300" h="550768">
                <a:moveTo>
                  <a:pt x="66759" y="0"/>
                </a:moveTo>
                <a:lnTo>
                  <a:pt x="5407541" y="0"/>
                </a:lnTo>
                <a:cubicBezTo>
                  <a:pt x="5444411" y="0"/>
                  <a:pt x="5474300" y="29889"/>
                  <a:pt x="5474300" y="66759"/>
                </a:cubicBezTo>
                <a:lnTo>
                  <a:pt x="5474300" y="484009"/>
                </a:lnTo>
                <a:cubicBezTo>
                  <a:pt x="5474300" y="520879"/>
                  <a:pt x="5444411" y="550768"/>
                  <a:pt x="5407541" y="550768"/>
                </a:cubicBezTo>
                <a:lnTo>
                  <a:pt x="66759" y="550768"/>
                </a:lnTo>
                <a:cubicBezTo>
                  <a:pt x="29914" y="550768"/>
                  <a:pt x="0" y="520854"/>
                  <a:pt x="0" y="484009"/>
                </a:cubicBezTo>
                <a:lnTo>
                  <a:pt x="0" y="66759"/>
                </a:lnTo>
                <a:cubicBezTo>
                  <a:pt x="0" y="29914"/>
                  <a:pt x="29914" y="0"/>
                  <a:pt x="667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1" name="Shape 59"/>
          <p:cNvSpPr/>
          <p:nvPr/>
        </p:nvSpPr>
        <p:spPr>
          <a:xfrm>
            <a:off x="6356063" y="4264279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133520" y="0"/>
                </a:moveTo>
                <a:lnTo>
                  <a:pt x="133520" y="0"/>
                </a:lnTo>
                <a:cubicBezTo>
                  <a:pt x="207211" y="0"/>
                  <a:pt x="267039" y="59828"/>
                  <a:pt x="267039" y="133520"/>
                </a:cubicBezTo>
                <a:lnTo>
                  <a:pt x="267039" y="133520"/>
                </a:lnTo>
                <a:cubicBezTo>
                  <a:pt x="267039" y="207211"/>
                  <a:pt x="207211" y="267039"/>
                  <a:pt x="133520" y="267039"/>
                </a:cubicBezTo>
                <a:lnTo>
                  <a:pt x="133520" y="267039"/>
                </a:lnTo>
                <a:cubicBezTo>
                  <a:pt x="59828" y="267039"/>
                  <a:pt x="0" y="207211"/>
                  <a:pt x="0" y="133520"/>
                </a:cubicBezTo>
                <a:lnTo>
                  <a:pt x="0" y="133520"/>
                </a:lnTo>
                <a:cubicBezTo>
                  <a:pt x="0" y="59828"/>
                  <a:pt x="59828" y="0"/>
                  <a:pt x="13352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62" name="Shape 60"/>
          <p:cNvSpPr/>
          <p:nvPr/>
        </p:nvSpPr>
        <p:spPr>
          <a:xfrm>
            <a:off x="6440556" y="4339384"/>
            <a:ext cx="102226" cy="116830"/>
          </a:xfrm>
          <a:custGeom>
            <a:avLst/>
            <a:gdLst/>
            <a:ahLst/>
            <a:cxnLst/>
            <a:rect l="l" t="t" r="r" b="b"/>
            <a:pathLst>
              <a:path w="102226" h="116830">
                <a:moveTo>
                  <a:pt x="99214" y="15996"/>
                </a:moveTo>
                <a:cubicBezTo>
                  <a:pt x="102477" y="18369"/>
                  <a:pt x="103207" y="22932"/>
                  <a:pt x="100834" y="26195"/>
                </a:cubicBezTo>
                <a:lnTo>
                  <a:pt x="42419" y="106516"/>
                </a:lnTo>
                <a:cubicBezTo>
                  <a:pt x="41164" y="108250"/>
                  <a:pt x="39225" y="109322"/>
                  <a:pt x="37080" y="109505"/>
                </a:cubicBezTo>
                <a:cubicBezTo>
                  <a:pt x="34935" y="109687"/>
                  <a:pt x="32858" y="108889"/>
                  <a:pt x="31352" y="107383"/>
                </a:cubicBezTo>
                <a:lnTo>
                  <a:pt x="2145" y="78175"/>
                </a:lnTo>
                <a:cubicBezTo>
                  <a:pt x="-707" y="75323"/>
                  <a:pt x="-707" y="70691"/>
                  <a:pt x="2145" y="67839"/>
                </a:cubicBezTo>
                <a:cubicBezTo>
                  <a:pt x="4997" y="64986"/>
                  <a:pt x="9629" y="64986"/>
                  <a:pt x="12482" y="67839"/>
                </a:cubicBezTo>
                <a:lnTo>
                  <a:pt x="35642" y="90999"/>
                </a:lnTo>
                <a:lnTo>
                  <a:pt x="89037" y="17593"/>
                </a:lnTo>
                <a:cubicBezTo>
                  <a:pt x="91410" y="14330"/>
                  <a:pt x="95974" y="13600"/>
                  <a:pt x="99237" y="15973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63" name="Text 61"/>
          <p:cNvSpPr/>
          <p:nvPr/>
        </p:nvSpPr>
        <p:spPr>
          <a:xfrm>
            <a:off x="6723242" y="4247589"/>
            <a:ext cx="5032016" cy="20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数据增强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23242" y="4481248"/>
            <a:ext cx="5023671" cy="175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2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随机裁剪/翻转/旋转，提升模型泛化能力</a:t>
            </a:r>
            <a:endParaRPr lang="en-US" sz="1600" dirty="0"/>
          </a:p>
        </p:txBody>
      </p:sp>
      <p:sp>
        <p:nvSpPr>
          <p:cNvPr id="65" name="Shape 58"/>
          <p:cNvSpPr/>
          <p:nvPr/>
        </p:nvSpPr>
        <p:spPr>
          <a:xfrm>
            <a:off x="6305993" y="4815047"/>
            <a:ext cx="5474300" cy="550768"/>
          </a:xfrm>
          <a:custGeom>
            <a:avLst/>
            <a:gdLst/>
            <a:ahLst/>
            <a:cxnLst/>
            <a:rect l="l" t="t" r="r" b="b"/>
            <a:pathLst>
              <a:path w="5474300" h="550768">
                <a:moveTo>
                  <a:pt x="66759" y="0"/>
                </a:moveTo>
                <a:lnTo>
                  <a:pt x="5407541" y="0"/>
                </a:lnTo>
                <a:cubicBezTo>
                  <a:pt x="5444411" y="0"/>
                  <a:pt x="5474300" y="29889"/>
                  <a:pt x="5474300" y="66759"/>
                </a:cubicBezTo>
                <a:lnTo>
                  <a:pt x="5474300" y="484009"/>
                </a:lnTo>
                <a:cubicBezTo>
                  <a:pt x="5474300" y="520879"/>
                  <a:pt x="5444411" y="550768"/>
                  <a:pt x="5407541" y="550768"/>
                </a:cubicBezTo>
                <a:lnTo>
                  <a:pt x="66759" y="550768"/>
                </a:lnTo>
                <a:cubicBezTo>
                  <a:pt x="29914" y="550768"/>
                  <a:pt x="0" y="520854"/>
                  <a:pt x="0" y="484009"/>
                </a:cubicBezTo>
                <a:lnTo>
                  <a:pt x="0" y="66759"/>
                </a:lnTo>
                <a:cubicBezTo>
                  <a:pt x="0" y="29914"/>
                  <a:pt x="29914" y="0"/>
                  <a:pt x="667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59"/>
          <p:cNvSpPr/>
          <p:nvPr/>
        </p:nvSpPr>
        <p:spPr>
          <a:xfrm>
            <a:off x="6356062" y="4965256"/>
            <a:ext cx="267039" cy="267039"/>
          </a:xfrm>
          <a:custGeom>
            <a:avLst/>
            <a:gdLst/>
            <a:ahLst/>
            <a:cxnLst/>
            <a:rect l="l" t="t" r="r" b="b"/>
            <a:pathLst>
              <a:path w="267039" h="267039">
                <a:moveTo>
                  <a:pt x="133520" y="0"/>
                </a:moveTo>
                <a:lnTo>
                  <a:pt x="133520" y="0"/>
                </a:lnTo>
                <a:cubicBezTo>
                  <a:pt x="207211" y="0"/>
                  <a:pt x="267039" y="59828"/>
                  <a:pt x="267039" y="133520"/>
                </a:cubicBezTo>
                <a:lnTo>
                  <a:pt x="267039" y="133520"/>
                </a:lnTo>
                <a:cubicBezTo>
                  <a:pt x="267039" y="207211"/>
                  <a:pt x="207211" y="267039"/>
                  <a:pt x="133520" y="267039"/>
                </a:cubicBezTo>
                <a:lnTo>
                  <a:pt x="133520" y="267039"/>
                </a:lnTo>
                <a:cubicBezTo>
                  <a:pt x="59828" y="267039"/>
                  <a:pt x="0" y="207211"/>
                  <a:pt x="0" y="133520"/>
                </a:cubicBezTo>
                <a:lnTo>
                  <a:pt x="0" y="133520"/>
                </a:lnTo>
                <a:cubicBezTo>
                  <a:pt x="0" y="59828"/>
                  <a:pt x="59828" y="0"/>
                  <a:pt x="13352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8" name="Shape 60"/>
          <p:cNvSpPr/>
          <p:nvPr/>
        </p:nvSpPr>
        <p:spPr>
          <a:xfrm>
            <a:off x="6446292" y="5040360"/>
            <a:ext cx="102226" cy="116830"/>
          </a:xfrm>
          <a:custGeom>
            <a:avLst/>
            <a:gdLst/>
            <a:ahLst/>
            <a:cxnLst/>
            <a:rect l="l" t="t" r="r" b="b"/>
            <a:pathLst>
              <a:path w="102226" h="116830">
                <a:moveTo>
                  <a:pt x="99214" y="15996"/>
                </a:moveTo>
                <a:cubicBezTo>
                  <a:pt x="102477" y="18369"/>
                  <a:pt x="103207" y="22932"/>
                  <a:pt x="100834" y="26195"/>
                </a:cubicBezTo>
                <a:lnTo>
                  <a:pt x="42419" y="106516"/>
                </a:lnTo>
                <a:cubicBezTo>
                  <a:pt x="41164" y="108250"/>
                  <a:pt x="39225" y="109322"/>
                  <a:pt x="37080" y="109505"/>
                </a:cubicBezTo>
                <a:cubicBezTo>
                  <a:pt x="34935" y="109687"/>
                  <a:pt x="32858" y="108889"/>
                  <a:pt x="31352" y="107383"/>
                </a:cubicBezTo>
                <a:lnTo>
                  <a:pt x="2145" y="78175"/>
                </a:lnTo>
                <a:cubicBezTo>
                  <a:pt x="-707" y="75323"/>
                  <a:pt x="-707" y="70691"/>
                  <a:pt x="2145" y="67839"/>
                </a:cubicBezTo>
                <a:cubicBezTo>
                  <a:pt x="4997" y="64986"/>
                  <a:pt x="9629" y="64986"/>
                  <a:pt x="12482" y="67839"/>
                </a:cubicBezTo>
                <a:lnTo>
                  <a:pt x="35642" y="90999"/>
                </a:lnTo>
                <a:lnTo>
                  <a:pt x="89037" y="17593"/>
                </a:lnTo>
                <a:cubicBezTo>
                  <a:pt x="91410" y="14330"/>
                  <a:pt x="95974" y="13600"/>
                  <a:pt x="99237" y="15973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69" name="文本框 68"/>
          <p:cNvSpPr txBox="1"/>
          <p:nvPr/>
        </p:nvSpPr>
        <p:spPr>
          <a:xfrm>
            <a:off x="6623102" y="4852619"/>
            <a:ext cx="25208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严格控制训练轮数</a:t>
            </a:r>
            <a:endParaRPr lang="zh-CN" altLang="en-US" sz="1050" b="1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623102" y="5073490"/>
            <a:ext cx="2207244" cy="233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2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防止模型过拟合</a:t>
            </a:r>
            <a:endParaRPr lang="zh-CN" altLang="en-US" sz="92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4603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4500" y="587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89000" y="3175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模型评估与效果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9000" y="730250"/>
            <a:ext cx="2746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Model Evaluation &amp; Performance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9000" y="101600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>
                <a:moveTo>
                  <a:pt x="0" y="0"/>
                </a:moveTo>
                <a:lnTo>
                  <a:pt x="1016000" y="0"/>
                </a:lnTo>
                <a:lnTo>
                  <a:pt x="1016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25438" y="1182688"/>
            <a:ext cx="3754438" cy="1666875"/>
          </a:xfrm>
          <a:custGeom>
            <a:avLst/>
            <a:gdLst/>
            <a:ahLst/>
            <a:cxnLst/>
            <a:rect l="l" t="t" r="r" b="b"/>
            <a:pathLst>
              <a:path w="3754438" h="1666875">
                <a:moveTo>
                  <a:pt x="63508" y="0"/>
                </a:moveTo>
                <a:lnTo>
                  <a:pt x="3690930" y="0"/>
                </a:lnTo>
                <a:cubicBezTo>
                  <a:pt x="3726004" y="0"/>
                  <a:pt x="3754438" y="28433"/>
                  <a:pt x="3754438" y="63508"/>
                </a:cubicBezTo>
                <a:lnTo>
                  <a:pt x="3754438" y="1603367"/>
                </a:lnTo>
                <a:cubicBezTo>
                  <a:pt x="3754438" y="1638442"/>
                  <a:pt x="3726004" y="1666875"/>
                  <a:pt x="3690930" y="1666875"/>
                </a:cubicBezTo>
                <a:lnTo>
                  <a:pt x="63508" y="1666875"/>
                </a:lnTo>
                <a:cubicBezTo>
                  <a:pt x="28433" y="1666875"/>
                  <a:pt x="0" y="1638442"/>
                  <a:pt x="0" y="160336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254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058417" y="13493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2438" y="1730375"/>
            <a:ext cx="3500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分类准确率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0375" y="2016125"/>
            <a:ext cx="3484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测试集整体准确率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69045" y="2301875"/>
            <a:ext cx="881063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98A6B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≥95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39603" y="2424906"/>
            <a:ext cx="2460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dirty="0">
                <a:solidFill>
                  <a:srgbClr val="98A6B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0083" y="1182688"/>
            <a:ext cx="3754438" cy="1666875"/>
          </a:xfrm>
          <a:custGeom>
            <a:avLst/>
            <a:gdLst/>
            <a:ahLst/>
            <a:cxnLst/>
            <a:rect l="l" t="t" r="r" b="b"/>
            <a:pathLst>
              <a:path w="3754438" h="1666875">
                <a:moveTo>
                  <a:pt x="63508" y="0"/>
                </a:moveTo>
                <a:lnTo>
                  <a:pt x="3690930" y="0"/>
                </a:lnTo>
                <a:cubicBezTo>
                  <a:pt x="3726004" y="0"/>
                  <a:pt x="3754438" y="28433"/>
                  <a:pt x="3754438" y="63508"/>
                </a:cubicBezTo>
                <a:lnTo>
                  <a:pt x="3754438" y="1603367"/>
                </a:lnTo>
                <a:cubicBezTo>
                  <a:pt x="3754438" y="1638442"/>
                  <a:pt x="3726004" y="1666875"/>
                  <a:pt x="3690930" y="1666875"/>
                </a:cubicBezTo>
                <a:lnTo>
                  <a:pt x="63508" y="1666875"/>
                </a:lnTo>
                <a:cubicBezTo>
                  <a:pt x="28433" y="1666875"/>
                  <a:pt x="0" y="1638442"/>
                  <a:pt x="0" y="160336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25400">
            <a:solidFill>
              <a:srgbClr val="98A6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988782" y="13493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89297" y="156270"/>
                </a:moveTo>
                <a:lnTo>
                  <a:pt x="89297" y="178594"/>
                </a:lnTo>
                <a:lnTo>
                  <a:pt x="66973" y="178594"/>
                </a:lnTo>
                <a:cubicBezTo>
                  <a:pt x="62061" y="178594"/>
                  <a:pt x="58043" y="182612"/>
                  <a:pt x="58043" y="187523"/>
                </a:cubicBezTo>
                <a:lnTo>
                  <a:pt x="58043" y="205383"/>
                </a:lnTo>
                <a:cubicBezTo>
                  <a:pt x="58043" y="210294"/>
                  <a:pt x="62061" y="214313"/>
                  <a:pt x="66973" y="214313"/>
                </a:cubicBezTo>
                <a:lnTo>
                  <a:pt x="89297" y="214313"/>
                </a:lnTo>
                <a:lnTo>
                  <a:pt x="89297" y="236637"/>
                </a:lnTo>
                <a:cubicBezTo>
                  <a:pt x="89297" y="241548"/>
                  <a:pt x="93315" y="245566"/>
                  <a:pt x="98227" y="245566"/>
                </a:cubicBezTo>
                <a:lnTo>
                  <a:pt x="116086" y="245566"/>
                </a:lnTo>
                <a:cubicBezTo>
                  <a:pt x="120997" y="245566"/>
                  <a:pt x="125016" y="241548"/>
                  <a:pt x="125016" y="236637"/>
                </a:cubicBezTo>
                <a:lnTo>
                  <a:pt x="125016" y="214313"/>
                </a:lnTo>
                <a:lnTo>
                  <a:pt x="147340" y="214313"/>
                </a:lnTo>
                <a:cubicBezTo>
                  <a:pt x="152251" y="214313"/>
                  <a:pt x="156270" y="210294"/>
                  <a:pt x="156270" y="205383"/>
                </a:cubicBezTo>
                <a:lnTo>
                  <a:pt x="156270" y="187523"/>
                </a:lnTo>
                <a:cubicBezTo>
                  <a:pt x="156270" y="182612"/>
                  <a:pt x="152251" y="178594"/>
                  <a:pt x="147340" y="178594"/>
                </a:cubicBezTo>
                <a:lnTo>
                  <a:pt x="125016" y="178594"/>
                </a:lnTo>
                <a:lnTo>
                  <a:pt x="125016" y="156270"/>
                </a:lnTo>
                <a:cubicBezTo>
                  <a:pt x="125016" y="151358"/>
                  <a:pt x="120997" y="147340"/>
                  <a:pt x="116086" y="147340"/>
                </a:cubicBezTo>
                <a:lnTo>
                  <a:pt x="98227" y="147340"/>
                </a:lnTo>
                <a:cubicBezTo>
                  <a:pt x="93315" y="147340"/>
                  <a:pt x="89297" y="151358"/>
                  <a:pt x="89297" y="15627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47083" y="1730375"/>
            <a:ext cx="3500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分类报告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55021" y="2016125"/>
            <a:ext cx="3484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Precision/Recall/F1-Score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75598" y="2301875"/>
            <a:ext cx="404813" cy="222250"/>
          </a:xfrm>
          <a:custGeom>
            <a:avLst/>
            <a:gdLst/>
            <a:ahLst/>
            <a:cxnLst/>
            <a:rect l="l" t="t" r="r" b="b"/>
            <a:pathLst>
              <a:path w="404813" h="222250">
                <a:moveTo>
                  <a:pt x="31751" y="0"/>
                </a:moveTo>
                <a:lnTo>
                  <a:pt x="373062" y="0"/>
                </a:lnTo>
                <a:cubicBezTo>
                  <a:pt x="390597" y="0"/>
                  <a:pt x="404813" y="14215"/>
                  <a:pt x="404813" y="31751"/>
                </a:cubicBezTo>
                <a:lnTo>
                  <a:pt x="404813" y="190499"/>
                </a:lnTo>
                <a:cubicBezTo>
                  <a:pt x="404813" y="208035"/>
                  <a:pt x="390597" y="222250"/>
                  <a:pt x="373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98A6B5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547816" y="2301875"/>
            <a:ext cx="460375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4类别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44840" y="2301875"/>
            <a:ext cx="571500" cy="222250"/>
          </a:xfrm>
          <a:custGeom>
            <a:avLst/>
            <a:gdLst/>
            <a:ahLst/>
            <a:cxnLst/>
            <a:rect l="l" t="t" r="r" b="b"/>
            <a:pathLst>
              <a:path w="571500" h="222250">
                <a:moveTo>
                  <a:pt x="31751" y="0"/>
                </a:moveTo>
                <a:lnTo>
                  <a:pt x="539749" y="0"/>
                </a:lnTo>
                <a:cubicBezTo>
                  <a:pt x="557285" y="0"/>
                  <a:pt x="571500" y="14215"/>
                  <a:pt x="571500" y="31751"/>
                </a:cubicBezTo>
                <a:lnTo>
                  <a:pt x="571500" y="190499"/>
                </a:lnTo>
                <a:cubicBezTo>
                  <a:pt x="571500" y="208035"/>
                  <a:pt x="557285" y="222250"/>
                  <a:pt x="5397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98A6B5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017059" y="2301875"/>
            <a:ext cx="627063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分别评估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4729" y="1182688"/>
            <a:ext cx="3754438" cy="1666875"/>
          </a:xfrm>
          <a:custGeom>
            <a:avLst/>
            <a:gdLst/>
            <a:ahLst/>
            <a:cxnLst/>
            <a:rect l="l" t="t" r="r" b="b"/>
            <a:pathLst>
              <a:path w="3754438" h="1666875">
                <a:moveTo>
                  <a:pt x="63508" y="0"/>
                </a:moveTo>
                <a:lnTo>
                  <a:pt x="3690930" y="0"/>
                </a:lnTo>
                <a:cubicBezTo>
                  <a:pt x="3726004" y="0"/>
                  <a:pt x="3754438" y="28433"/>
                  <a:pt x="3754438" y="63508"/>
                </a:cubicBezTo>
                <a:lnTo>
                  <a:pt x="3754438" y="1603367"/>
                </a:lnTo>
                <a:cubicBezTo>
                  <a:pt x="3754438" y="1638442"/>
                  <a:pt x="3726004" y="1666875"/>
                  <a:pt x="3690930" y="1666875"/>
                </a:cubicBezTo>
                <a:lnTo>
                  <a:pt x="63508" y="1666875"/>
                </a:lnTo>
                <a:cubicBezTo>
                  <a:pt x="28433" y="1666875"/>
                  <a:pt x="0" y="1638442"/>
                  <a:pt x="0" y="160336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254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847709" y="13493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133945" y="53578"/>
                </a:moveTo>
                <a:cubicBezTo>
                  <a:pt x="137685" y="53578"/>
                  <a:pt x="141256" y="55141"/>
                  <a:pt x="143824" y="57931"/>
                </a:cubicBezTo>
                <a:lnTo>
                  <a:pt x="183505" y="101185"/>
                </a:lnTo>
                <a:lnTo>
                  <a:pt x="209290" y="75344"/>
                </a:lnTo>
                <a:cubicBezTo>
                  <a:pt x="214536" y="70098"/>
                  <a:pt x="223019" y="70098"/>
                  <a:pt x="228209" y="75344"/>
                </a:cubicBezTo>
                <a:lnTo>
                  <a:pt x="263928" y="111063"/>
                </a:lnTo>
                <a:cubicBezTo>
                  <a:pt x="266440" y="113574"/>
                  <a:pt x="267835" y="116979"/>
                  <a:pt x="267835" y="120551"/>
                </a:cubicBezTo>
                <a:lnTo>
                  <a:pt x="267835" y="183059"/>
                </a:lnTo>
                <a:cubicBezTo>
                  <a:pt x="267835" y="190481"/>
                  <a:pt x="261863" y="196453"/>
                  <a:pt x="254440" y="196453"/>
                </a:cubicBezTo>
                <a:lnTo>
                  <a:pt x="84776" y="196453"/>
                </a:lnTo>
                <a:cubicBezTo>
                  <a:pt x="77353" y="196453"/>
                  <a:pt x="71382" y="190481"/>
                  <a:pt x="71382" y="183059"/>
                </a:cubicBezTo>
                <a:lnTo>
                  <a:pt x="71382" y="120551"/>
                </a:lnTo>
                <a:cubicBezTo>
                  <a:pt x="71382" y="117202"/>
                  <a:pt x="72665" y="113965"/>
                  <a:pt x="74898" y="111509"/>
                </a:cubicBezTo>
                <a:lnTo>
                  <a:pt x="124011" y="57931"/>
                </a:lnTo>
                <a:cubicBezTo>
                  <a:pt x="126523" y="55141"/>
                  <a:pt x="130150" y="53578"/>
                  <a:pt x="133890" y="53578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41729" y="1730375"/>
            <a:ext cx="3500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可视化结果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49667" y="2016125"/>
            <a:ext cx="3484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训练曲线/混淆矩阵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499079" y="2301875"/>
            <a:ext cx="341313" cy="222250"/>
          </a:xfrm>
          <a:custGeom>
            <a:avLst/>
            <a:gdLst/>
            <a:ahLst/>
            <a:cxnLst/>
            <a:rect l="l" t="t" r="r" b="b"/>
            <a:pathLst>
              <a:path w="341313" h="222250">
                <a:moveTo>
                  <a:pt x="31751" y="0"/>
                </a:moveTo>
                <a:lnTo>
                  <a:pt x="309562" y="0"/>
                </a:lnTo>
                <a:cubicBezTo>
                  <a:pt x="327097" y="0"/>
                  <a:pt x="341313" y="14215"/>
                  <a:pt x="341313" y="31751"/>
                </a:cubicBezTo>
                <a:lnTo>
                  <a:pt x="341313" y="190499"/>
                </a:lnTo>
                <a:cubicBezTo>
                  <a:pt x="341313" y="208035"/>
                  <a:pt x="327097" y="222250"/>
                  <a:pt x="3095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471298" y="2301875"/>
            <a:ext cx="396875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03954" y="2301875"/>
            <a:ext cx="579438" cy="222250"/>
          </a:xfrm>
          <a:custGeom>
            <a:avLst/>
            <a:gdLst/>
            <a:ahLst/>
            <a:cxnLst/>
            <a:rect l="l" t="t" r="r" b="b"/>
            <a:pathLst>
              <a:path w="579438" h="222250">
                <a:moveTo>
                  <a:pt x="31751" y="0"/>
                </a:moveTo>
                <a:lnTo>
                  <a:pt x="547687" y="0"/>
                </a:lnTo>
                <a:cubicBezTo>
                  <a:pt x="565222" y="0"/>
                  <a:pt x="579438" y="14215"/>
                  <a:pt x="579438" y="31751"/>
                </a:cubicBezTo>
                <a:lnTo>
                  <a:pt x="579438" y="190499"/>
                </a:lnTo>
                <a:cubicBezTo>
                  <a:pt x="579438" y="208035"/>
                  <a:pt x="565222" y="222250"/>
                  <a:pt x="547687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876172" y="2301875"/>
            <a:ext cx="635000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7500" y="2984500"/>
            <a:ext cx="5715000" cy="3921125"/>
          </a:xfrm>
          <a:custGeom>
            <a:avLst/>
            <a:gdLst/>
            <a:ahLst/>
            <a:cxnLst/>
            <a:rect l="l" t="t" r="r" b="b"/>
            <a:pathLst>
              <a:path w="5715000" h="3921125">
                <a:moveTo>
                  <a:pt x="63483" y="0"/>
                </a:moveTo>
                <a:lnTo>
                  <a:pt x="5651517" y="0"/>
                </a:lnTo>
                <a:cubicBezTo>
                  <a:pt x="5686578" y="0"/>
                  <a:pt x="5715000" y="28422"/>
                  <a:pt x="5715000" y="63483"/>
                </a:cubicBezTo>
                <a:lnTo>
                  <a:pt x="5715000" y="3857642"/>
                </a:lnTo>
                <a:cubicBezTo>
                  <a:pt x="5715000" y="3892703"/>
                  <a:pt x="5686578" y="3921125"/>
                  <a:pt x="5651517" y="3921125"/>
                </a:cubicBezTo>
                <a:lnTo>
                  <a:pt x="63483" y="3921125"/>
                </a:lnTo>
                <a:cubicBezTo>
                  <a:pt x="28422" y="3921125"/>
                  <a:pt x="0" y="3892703"/>
                  <a:pt x="0" y="3857642"/>
                </a:cubicBezTo>
                <a:lnTo>
                  <a:pt x="0" y="63483"/>
                </a:lnTo>
                <a:cubicBezTo>
                  <a:pt x="0" y="28446"/>
                  <a:pt x="28446" y="0"/>
                  <a:pt x="63483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80219" y="3143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35719"/>
                </a:moveTo>
                <a:lnTo>
                  <a:pt x="142875" y="59531"/>
                </a:lnTo>
                <a:lnTo>
                  <a:pt x="119063" y="59531"/>
                </a:lnTo>
                <a:lnTo>
                  <a:pt x="119063" y="35719"/>
                </a:lnTo>
                <a:lnTo>
                  <a:pt x="142875" y="35719"/>
                </a:lnTo>
                <a:close/>
                <a:moveTo>
                  <a:pt x="142875" y="83344"/>
                </a:moveTo>
                <a:lnTo>
                  <a:pt x="142875" y="107156"/>
                </a:lnTo>
                <a:lnTo>
                  <a:pt x="119063" y="107156"/>
                </a:lnTo>
                <a:lnTo>
                  <a:pt x="119063" y="83344"/>
                </a:lnTo>
                <a:lnTo>
                  <a:pt x="142875" y="83344"/>
                </a:lnTo>
                <a:close/>
                <a:moveTo>
                  <a:pt x="142875" y="130969"/>
                </a:moveTo>
                <a:lnTo>
                  <a:pt x="142875" y="154781"/>
                </a:lnTo>
                <a:lnTo>
                  <a:pt x="119063" y="154781"/>
                </a:lnTo>
                <a:lnTo>
                  <a:pt x="119063" y="130969"/>
                </a:lnTo>
                <a:lnTo>
                  <a:pt x="142875" y="130969"/>
                </a:lnTo>
                <a:close/>
                <a:moveTo>
                  <a:pt x="95250" y="107156"/>
                </a:moveTo>
                <a:lnTo>
                  <a:pt x="71438" y="107156"/>
                </a:lnTo>
                <a:lnTo>
                  <a:pt x="71438" y="83344"/>
                </a:lnTo>
                <a:lnTo>
                  <a:pt x="95250" y="83344"/>
                </a:lnTo>
                <a:lnTo>
                  <a:pt x="95250" y="107156"/>
                </a:lnTo>
                <a:close/>
                <a:moveTo>
                  <a:pt x="71438" y="130969"/>
                </a:moveTo>
                <a:lnTo>
                  <a:pt x="95250" y="130969"/>
                </a:lnTo>
                <a:lnTo>
                  <a:pt x="95250" y="154781"/>
                </a:lnTo>
                <a:lnTo>
                  <a:pt x="71438" y="154781"/>
                </a:lnTo>
                <a:lnTo>
                  <a:pt x="71438" y="130969"/>
                </a:lnTo>
                <a:close/>
                <a:moveTo>
                  <a:pt x="47625" y="107156"/>
                </a:moveTo>
                <a:lnTo>
                  <a:pt x="23812" y="107156"/>
                </a:lnTo>
                <a:lnTo>
                  <a:pt x="23812" y="83344"/>
                </a:lnTo>
                <a:lnTo>
                  <a:pt x="47625" y="83344"/>
                </a:lnTo>
                <a:lnTo>
                  <a:pt x="47625" y="107156"/>
                </a:lnTo>
                <a:close/>
                <a:moveTo>
                  <a:pt x="23812" y="130969"/>
                </a:moveTo>
                <a:lnTo>
                  <a:pt x="47625" y="130969"/>
                </a:lnTo>
                <a:lnTo>
                  <a:pt x="47625" y="154781"/>
                </a:lnTo>
                <a:lnTo>
                  <a:pt x="23812" y="154781"/>
                </a:lnTo>
                <a:lnTo>
                  <a:pt x="23812" y="130969"/>
                </a:lnTo>
                <a:close/>
                <a:moveTo>
                  <a:pt x="23812" y="59531"/>
                </a:moveTo>
                <a:lnTo>
                  <a:pt x="23812" y="35719"/>
                </a:lnTo>
                <a:lnTo>
                  <a:pt x="47625" y="35719"/>
                </a:lnTo>
                <a:lnTo>
                  <a:pt x="47625" y="59531"/>
                </a:lnTo>
                <a:lnTo>
                  <a:pt x="23812" y="59531"/>
                </a:lnTo>
                <a:close/>
                <a:moveTo>
                  <a:pt x="71438" y="59531"/>
                </a:moveTo>
                <a:lnTo>
                  <a:pt x="71438" y="35719"/>
                </a:lnTo>
                <a:lnTo>
                  <a:pt x="95250" y="35719"/>
                </a:lnTo>
                <a:lnTo>
                  <a:pt x="95250" y="59531"/>
                </a:lnTo>
                <a:lnTo>
                  <a:pt x="71438" y="59531"/>
                </a:lnTo>
                <a:close/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2625" y="3111500"/>
            <a:ext cx="531812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混淆矩阵示例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8469" y="3464719"/>
            <a:ext cx="5453063" cy="2039938"/>
          </a:xfrm>
          <a:custGeom>
            <a:avLst/>
            <a:gdLst/>
            <a:ahLst/>
            <a:cxnLst/>
            <a:rect l="l" t="t" r="r" b="b"/>
            <a:pathLst>
              <a:path w="5453063" h="2039938">
                <a:moveTo>
                  <a:pt x="63503" y="0"/>
                </a:moveTo>
                <a:lnTo>
                  <a:pt x="5389559" y="0"/>
                </a:lnTo>
                <a:cubicBezTo>
                  <a:pt x="5424631" y="0"/>
                  <a:pt x="5453063" y="28431"/>
                  <a:pt x="5453063" y="63503"/>
                </a:cubicBezTo>
                <a:lnTo>
                  <a:pt x="5453063" y="1976434"/>
                </a:lnTo>
                <a:cubicBezTo>
                  <a:pt x="5453063" y="2011506"/>
                  <a:pt x="5424631" y="2039938"/>
                  <a:pt x="5389559" y="2039938"/>
                </a:cubicBezTo>
                <a:lnTo>
                  <a:pt x="63503" y="2039938"/>
                </a:lnTo>
                <a:cubicBezTo>
                  <a:pt x="28431" y="2039938"/>
                  <a:pt x="0" y="2011506"/>
                  <a:pt x="0" y="1976434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623963" y="3595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596182" y="3595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正常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668550" y="3595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640769" y="3595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细菌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13138" y="3595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685356" y="3595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57725" y="3595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729944" y="3595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COVID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9438" y="3913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51656" y="3913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正常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623963" y="3913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8A6B5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596182" y="3913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85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668550" y="3913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2640769" y="3913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713138" y="3913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3685356" y="3913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757725" y="3913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729944" y="3913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79438" y="4230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51656" y="4230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细菌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623963" y="4230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596182" y="4230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668550" y="4230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8A6B5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2640769" y="4230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92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713138" y="4230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3685356" y="4230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757725" y="4230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4729944" y="4230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79438" y="4548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551656" y="4548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病毒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623963" y="4548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596182" y="4548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2668550" y="4548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2640769" y="4548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713138" y="4548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8A6B5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3685356" y="4548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88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757725" y="45481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4729944" y="45481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79438" y="4865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551656" y="4865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COVID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623963" y="4865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1596182" y="4865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2668550" y="4865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2640769" y="4865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713138" y="4865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6C7A89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3685356" y="4865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4757725" y="4865688"/>
            <a:ext cx="1016000" cy="285750"/>
          </a:xfrm>
          <a:custGeom>
            <a:avLst/>
            <a:gdLst/>
            <a:ahLst/>
            <a:cxnLst/>
            <a:rect l="l" t="t" r="r" b="b"/>
            <a:pathLst>
              <a:path w="1016000" h="285750">
                <a:moveTo>
                  <a:pt x="31750" y="0"/>
                </a:moveTo>
                <a:lnTo>
                  <a:pt x="984250" y="0"/>
                </a:lnTo>
                <a:cubicBezTo>
                  <a:pt x="1001785" y="0"/>
                  <a:pt x="1016000" y="14215"/>
                  <a:pt x="1016000" y="31750"/>
                </a:cubicBezTo>
                <a:lnTo>
                  <a:pt x="1016000" y="254000"/>
                </a:lnTo>
                <a:cubicBezTo>
                  <a:pt x="1016000" y="271535"/>
                  <a:pt x="1001785" y="285750"/>
                  <a:pt x="98425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8A6B5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4729944" y="4865688"/>
            <a:ext cx="1071563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76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595313" y="523081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722313" y="5214938"/>
            <a:ext cx="5103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对角线元素表示正确分类的样本数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159500" y="2984500"/>
            <a:ext cx="5715000" cy="2016125"/>
          </a:xfrm>
          <a:custGeom>
            <a:avLst/>
            <a:gdLst/>
            <a:ahLst/>
            <a:cxnLst/>
            <a:rect l="l" t="t" r="r" b="b"/>
            <a:pathLst>
              <a:path w="5715000" h="2016125">
                <a:moveTo>
                  <a:pt x="63508" y="0"/>
                </a:moveTo>
                <a:lnTo>
                  <a:pt x="5651492" y="0"/>
                </a:lnTo>
                <a:cubicBezTo>
                  <a:pt x="5686567" y="0"/>
                  <a:pt x="5715000" y="28433"/>
                  <a:pt x="5715000" y="63508"/>
                </a:cubicBezTo>
                <a:lnTo>
                  <a:pt x="5715000" y="1952617"/>
                </a:lnTo>
                <a:cubicBezTo>
                  <a:pt x="5715000" y="1987692"/>
                  <a:pt x="5686567" y="2016125"/>
                  <a:pt x="5651492" y="2016125"/>
                </a:cubicBezTo>
                <a:lnTo>
                  <a:pt x="63508" y="2016125"/>
                </a:lnTo>
                <a:cubicBezTo>
                  <a:pt x="28433" y="2016125"/>
                  <a:pt x="0" y="1987692"/>
                  <a:pt x="0" y="195261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6310313" y="3143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/>
          <p:nvPr/>
        </p:nvSpPr>
        <p:spPr>
          <a:xfrm>
            <a:off x="6524625" y="3111500"/>
            <a:ext cx="531812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训练曲线监控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290469" y="3464719"/>
            <a:ext cx="5453063" cy="1404938"/>
          </a:xfrm>
          <a:custGeom>
            <a:avLst/>
            <a:gdLst/>
            <a:ahLst/>
            <a:cxnLst/>
            <a:rect l="l" t="t" r="r" b="b"/>
            <a:pathLst>
              <a:path w="5453063" h="1404938">
                <a:moveTo>
                  <a:pt x="63503" y="0"/>
                </a:moveTo>
                <a:lnTo>
                  <a:pt x="5389559" y="0"/>
                </a:lnTo>
                <a:cubicBezTo>
                  <a:pt x="5424631" y="0"/>
                  <a:pt x="5453062" y="28431"/>
                  <a:pt x="5453062" y="63503"/>
                </a:cubicBezTo>
                <a:lnTo>
                  <a:pt x="5453063" y="1341434"/>
                </a:lnTo>
                <a:cubicBezTo>
                  <a:pt x="5453062" y="1376506"/>
                  <a:pt x="5424631" y="1404938"/>
                  <a:pt x="5389559" y="1404938"/>
                </a:cubicBezTo>
                <a:lnTo>
                  <a:pt x="63503" y="1404938"/>
                </a:lnTo>
                <a:cubicBezTo>
                  <a:pt x="28431" y="1404938"/>
                  <a:pt x="0" y="1376506"/>
                  <a:pt x="0" y="1341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/>
          <p:nvPr/>
        </p:nvSpPr>
        <p:spPr>
          <a:xfrm>
            <a:off x="6389688" y="3563938"/>
            <a:ext cx="500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训练损失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1346780" y="3563938"/>
            <a:ext cx="349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8A6B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↓ 0.12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389688" y="3754438"/>
            <a:ext cx="5254625" cy="63500"/>
          </a:xfrm>
          <a:custGeom>
            <a:avLst/>
            <a:gdLst/>
            <a:ahLst/>
            <a:cxnLst/>
            <a:rect l="l" t="t" r="r" b="b"/>
            <a:pathLst>
              <a:path w="5254625" h="63500">
                <a:moveTo>
                  <a:pt x="31750" y="0"/>
                </a:moveTo>
                <a:lnTo>
                  <a:pt x="5222875" y="0"/>
                </a:lnTo>
                <a:cubicBezTo>
                  <a:pt x="5240398" y="0"/>
                  <a:pt x="5254625" y="14227"/>
                  <a:pt x="5254625" y="31750"/>
                </a:cubicBezTo>
                <a:lnTo>
                  <a:pt x="5254625" y="31750"/>
                </a:lnTo>
                <a:cubicBezTo>
                  <a:pt x="5254625" y="49273"/>
                  <a:pt x="5240398" y="63500"/>
                  <a:pt x="5222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562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>
            <a:off x="6389688" y="3754438"/>
            <a:ext cx="4627563" cy="63500"/>
          </a:xfrm>
          <a:custGeom>
            <a:avLst/>
            <a:gdLst/>
            <a:ahLst/>
            <a:cxnLst/>
            <a:rect l="l" t="t" r="r" b="b"/>
            <a:pathLst>
              <a:path w="4627563" h="63500">
                <a:moveTo>
                  <a:pt x="0" y="0"/>
                </a:moveTo>
                <a:lnTo>
                  <a:pt x="4627563" y="0"/>
                </a:lnTo>
                <a:lnTo>
                  <a:pt x="4627563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/>
              </a:gs>
              <a:gs pos="100000">
                <a:srgbClr val="98A6B5"/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91" name="Text 89"/>
          <p:cNvSpPr/>
          <p:nvPr/>
        </p:nvSpPr>
        <p:spPr>
          <a:xfrm>
            <a:off x="6389688" y="3881438"/>
            <a:ext cx="500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验证损失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11343122" y="3881438"/>
            <a:ext cx="357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8A6B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↓ 0.18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6389688" y="4071938"/>
            <a:ext cx="5254625" cy="63500"/>
          </a:xfrm>
          <a:custGeom>
            <a:avLst/>
            <a:gdLst/>
            <a:ahLst/>
            <a:cxnLst/>
            <a:rect l="l" t="t" r="r" b="b"/>
            <a:pathLst>
              <a:path w="5254625" h="63500">
                <a:moveTo>
                  <a:pt x="31750" y="0"/>
                </a:moveTo>
                <a:lnTo>
                  <a:pt x="5222875" y="0"/>
                </a:lnTo>
                <a:cubicBezTo>
                  <a:pt x="5240398" y="0"/>
                  <a:pt x="5254625" y="14227"/>
                  <a:pt x="5254625" y="31750"/>
                </a:cubicBezTo>
                <a:lnTo>
                  <a:pt x="5254625" y="31750"/>
                </a:lnTo>
                <a:cubicBezTo>
                  <a:pt x="5254625" y="49273"/>
                  <a:pt x="5240398" y="63500"/>
                  <a:pt x="5222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562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92"/>
          <p:cNvSpPr/>
          <p:nvPr/>
        </p:nvSpPr>
        <p:spPr>
          <a:xfrm>
            <a:off x="6389688" y="4071938"/>
            <a:ext cx="4310063" cy="63500"/>
          </a:xfrm>
          <a:custGeom>
            <a:avLst/>
            <a:gdLst/>
            <a:ahLst/>
            <a:cxnLst/>
            <a:rect l="l" t="t" r="r" b="b"/>
            <a:pathLst>
              <a:path w="4310063" h="63500">
                <a:moveTo>
                  <a:pt x="0" y="0"/>
                </a:moveTo>
                <a:lnTo>
                  <a:pt x="4310063" y="0"/>
                </a:lnTo>
                <a:lnTo>
                  <a:pt x="4310063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C7A89"/>
              </a:gs>
              <a:gs pos="100000">
                <a:srgbClr val="98A6B5"/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95" name="Text 93"/>
          <p:cNvSpPr/>
          <p:nvPr/>
        </p:nvSpPr>
        <p:spPr>
          <a:xfrm>
            <a:off x="6389688" y="4198938"/>
            <a:ext cx="611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训练准确率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11242104" y="4198938"/>
            <a:ext cx="460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8A6B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↑ 94.2%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6389688" y="4389438"/>
            <a:ext cx="5254625" cy="63500"/>
          </a:xfrm>
          <a:custGeom>
            <a:avLst/>
            <a:gdLst/>
            <a:ahLst/>
            <a:cxnLst/>
            <a:rect l="l" t="t" r="r" b="b"/>
            <a:pathLst>
              <a:path w="5254625" h="63500">
                <a:moveTo>
                  <a:pt x="31750" y="0"/>
                </a:moveTo>
                <a:lnTo>
                  <a:pt x="5222875" y="0"/>
                </a:lnTo>
                <a:cubicBezTo>
                  <a:pt x="5240398" y="0"/>
                  <a:pt x="5254625" y="14227"/>
                  <a:pt x="5254625" y="31750"/>
                </a:cubicBezTo>
                <a:lnTo>
                  <a:pt x="5254625" y="31750"/>
                </a:lnTo>
                <a:cubicBezTo>
                  <a:pt x="5254625" y="49273"/>
                  <a:pt x="5240398" y="63500"/>
                  <a:pt x="5222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562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8" name="Shape 96"/>
          <p:cNvSpPr/>
          <p:nvPr/>
        </p:nvSpPr>
        <p:spPr>
          <a:xfrm>
            <a:off x="6389688" y="4389438"/>
            <a:ext cx="4937125" cy="63500"/>
          </a:xfrm>
          <a:custGeom>
            <a:avLst/>
            <a:gdLst/>
            <a:ahLst/>
            <a:cxnLst/>
            <a:rect l="l" t="t" r="r" b="b"/>
            <a:pathLst>
              <a:path w="4937125" h="63500">
                <a:moveTo>
                  <a:pt x="0" y="0"/>
                </a:moveTo>
                <a:lnTo>
                  <a:pt x="4937125" y="0"/>
                </a:lnTo>
                <a:lnTo>
                  <a:pt x="4937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8A6B5"/>
              </a:gs>
              <a:gs pos="100000">
                <a:srgbClr val="6C7A89"/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99" name="Text 97"/>
          <p:cNvSpPr/>
          <p:nvPr/>
        </p:nvSpPr>
        <p:spPr>
          <a:xfrm>
            <a:off x="6389688" y="4516438"/>
            <a:ext cx="611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验证准确率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11259468" y="4516438"/>
            <a:ext cx="436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98A6B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↑ 91.8%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6389688" y="4706938"/>
            <a:ext cx="5254625" cy="63500"/>
          </a:xfrm>
          <a:custGeom>
            <a:avLst/>
            <a:gdLst/>
            <a:ahLst/>
            <a:cxnLst/>
            <a:rect l="l" t="t" r="r" b="b"/>
            <a:pathLst>
              <a:path w="5254625" h="63500">
                <a:moveTo>
                  <a:pt x="31750" y="0"/>
                </a:moveTo>
                <a:lnTo>
                  <a:pt x="5222875" y="0"/>
                </a:lnTo>
                <a:cubicBezTo>
                  <a:pt x="5240398" y="0"/>
                  <a:pt x="5254625" y="14227"/>
                  <a:pt x="5254625" y="31750"/>
                </a:cubicBezTo>
                <a:lnTo>
                  <a:pt x="5254625" y="31750"/>
                </a:lnTo>
                <a:cubicBezTo>
                  <a:pt x="5254625" y="49273"/>
                  <a:pt x="5240398" y="63500"/>
                  <a:pt x="52228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562">
              <a:alpha val="4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2" name="Shape 100"/>
          <p:cNvSpPr/>
          <p:nvPr/>
        </p:nvSpPr>
        <p:spPr>
          <a:xfrm>
            <a:off x="6389688" y="4706938"/>
            <a:ext cx="4833938" cy="63500"/>
          </a:xfrm>
          <a:custGeom>
            <a:avLst/>
            <a:gdLst/>
            <a:ahLst/>
            <a:cxnLst/>
            <a:rect l="l" t="t" r="r" b="b"/>
            <a:pathLst>
              <a:path w="4833938" h="63500">
                <a:moveTo>
                  <a:pt x="0" y="0"/>
                </a:moveTo>
                <a:lnTo>
                  <a:pt x="4833938" y="0"/>
                </a:lnTo>
                <a:lnTo>
                  <a:pt x="4833938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8A6B5"/>
              </a:gs>
              <a:gs pos="100000">
                <a:srgbClr val="6C7A89"/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103" name="Shape 101"/>
          <p:cNvSpPr/>
          <p:nvPr/>
        </p:nvSpPr>
        <p:spPr>
          <a:xfrm>
            <a:off x="6159500" y="5127625"/>
            <a:ext cx="5715000" cy="1778000"/>
          </a:xfrm>
          <a:custGeom>
            <a:avLst/>
            <a:gdLst/>
            <a:ahLst/>
            <a:cxnLst/>
            <a:rect l="l" t="t" r="r" b="b"/>
            <a:pathLst>
              <a:path w="5715000" h="1778000">
                <a:moveTo>
                  <a:pt x="63492" y="0"/>
                </a:moveTo>
                <a:lnTo>
                  <a:pt x="5651508" y="0"/>
                </a:lnTo>
                <a:cubicBezTo>
                  <a:pt x="5686573" y="0"/>
                  <a:pt x="5715000" y="28427"/>
                  <a:pt x="5715000" y="63492"/>
                </a:cubicBezTo>
                <a:lnTo>
                  <a:pt x="5715000" y="1714508"/>
                </a:lnTo>
                <a:cubicBezTo>
                  <a:pt x="5715000" y="1749573"/>
                  <a:pt x="5686573" y="1778000"/>
                  <a:pt x="5651508" y="1778000"/>
                </a:cubicBezTo>
                <a:lnTo>
                  <a:pt x="63492" y="1778000"/>
                </a:lnTo>
                <a:cubicBezTo>
                  <a:pt x="28427" y="1778000"/>
                  <a:pt x="0" y="1749573"/>
                  <a:pt x="0" y="1714508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" name="Shape 102"/>
          <p:cNvSpPr/>
          <p:nvPr/>
        </p:nvSpPr>
        <p:spPr>
          <a:xfrm>
            <a:off x="6322219" y="52863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64480"/>
                </a:lnTo>
                <a:cubicBezTo>
                  <a:pt x="166688" y="58155"/>
                  <a:pt x="164195" y="52090"/>
                  <a:pt x="159730" y="47625"/>
                </a:cubicBezTo>
                <a:lnTo>
                  <a:pt x="130969" y="18864"/>
                </a:lnTo>
                <a:cubicBezTo>
                  <a:pt x="126504" y="14399"/>
                  <a:pt x="120439" y="11906"/>
                  <a:pt x="114114" y="11906"/>
                </a:cubicBezTo>
                <a:lnTo>
                  <a:pt x="23812" y="11906"/>
                </a:lnTo>
                <a:close/>
                <a:moveTo>
                  <a:pt x="35719" y="47625"/>
                </a:moveTo>
                <a:cubicBezTo>
                  <a:pt x="35719" y="41039"/>
                  <a:pt x="41039" y="35719"/>
                  <a:pt x="47625" y="35719"/>
                </a:cubicBezTo>
                <a:lnTo>
                  <a:pt x="107156" y="35719"/>
                </a:lnTo>
                <a:cubicBezTo>
                  <a:pt x="113742" y="35719"/>
                  <a:pt x="119063" y="41039"/>
                  <a:pt x="119063" y="47625"/>
                </a:cubicBezTo>
                <a:lnTo>
                  <a:pt x="119063" y="71438"/>
                </a:lnTo>
                <a:cubicBezTo>
                  <a:pt x="119063" y="78023"/>
                  <a:pt x="113742" y="83344"/>
                  <a:pt x="107156" y="83344"/>
                </a:cubicBezTo>
                <a:lnTo>
                  <a:pt x="47625" y="83344"/>
                </a:lnTo>
                <a:cubicBezTo>
                  <a:pt x="41039" y="83344"/>
                  <a:pt x="35719" y="78023"/>
                  <a:pt x="35719" y="71438"/>
                </a:cubicBezTo>
                <a:lnTo>
                  <a:pt x="35719" y="47625"/>
                </a:lnTo>
                <a:close/>
                <a:moveTo>
                  <a:pt x="83344" y="107156"/>
                </a:moveTo>
                <a:cubicBezTo>
                  <a:pt x="96486" y="107156"/>
                  <a:pt x="107156" y="117826"/>
                  <a:pt x="107156" y="130969"/>
                </a:cubicBezTo>
                <a:cubicBezTo>
                  <a:pt x="107156" y="144111"/>
                  <a:pt x="96486" y="154781"/>
                  <a:pt x="83344" y="154781"/>
                </a:cubicBezTo>
                <a:cubicBezTo>
                  <a:pt x="70201" y="154781"/>
                  <a:pt x="59531" y="144111"/>
                  <a:pt x="59531" y="130969"/>
                </a:cubicBezTo>
                <a:cubicBezTo>
                  <a:pt x="59531" y="117826"/>
                  <a:pt x="70201" y="107156"/>
                  <a:pt x="83344" y="10715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103"/>
          <p:cNvSpPr/>
          <p:nvPr/>
        </p:nvSpPr>
        <p:spPr>
          <a:xfrm>
            <a:off x="6524625" y="5254625"/>
            <a:ext cx="531812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模型保存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6290469" y="5607844"/>
            <a:ext cx="5453063" cy="547688"/>
          </a:xfrm>
          <a:custGeom>
            <a:avLst/>
            <a:gdLst/>
            <a:ahLst/>
            <a:cxnLst/>
            <a:rect l="l" t="t" r="r" b="b"/>
            <a:pathLst>
              <a:path w="5453063" h="547688">
                <a:moveTo>
                  <a:pt x="63499" y="0"/>
                </a:moveTo>
                <a:lnTo>
                  <a:pt x="5389564" y="0"/>
                </a:lnTo>
                <a:cubicBezTo>
                  <a:pt x="5424633" y="0"/>
                  <a:pt x="5453063" y="28429"/>
                  <a:pt x="5453063" y="63499"/>
                </a:cubicBezTo>
                <a:lnTo>
                  <a:pt x="5453063" y="484189"/>
                </a:lnTo>
                <a:cubicBezTo>
                  <a:pt x="5453063" y="519258"/>
                  <a:pt x="5424633" y="547688"/>
                  <a:pt x="538956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hape 105"/>
          <p:cNvSpPr/>
          <p:nvPr/>
        </p:nvSpPr>
        <p:spPr>
          <a:xfrm>
            <a:off x="6437313" y="578643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8" name="Text 106"/>
          <p:cNvSpPr/>
          <p:nvPr/>
        </p:nvSpPr>
        <p:spPr>
          <a:xfrm>
            <a:off x="6723063" y="5707063"/>
            <a:ext cx="4984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best_lung_model.pth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6723063" y="5897563"/>
            <a:ext cx="4976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保存权重 + 类别信息 + 训练参数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6290469" y="6226969"/>
            <a:ext cx="5453063" cy="547688"/>
          </a:xfrm>
          <a:custGeom>
            <a:avLst/>
            <a:gdLst/>
            <a:ahLst/>
            <a:cxnLst/>
            <a:rect l="l" t="t" r="r" b="b"/>
            <a:pathLst>
              <a:path w="5453063" h="547688">
                <a:moveTo>
                  <a:pt x="63499" y="0"/>
                </a:moveTo>
                <a:lnTo>
                  <a:pt x="5389564" y="0"/>
                </a:lnTo>
                <a:cubicBezTo>
                  <a:pt x="5424633" y="0"/>
                  <a:pt x="5453063" y="28429"/>
                  <a:pt x="5453063" y="63499"/>
                </a:cubicBezTo>
                <a:lnTo>
                  <a:pt x="5453063" y="484189"/>
                </a:lnTo>
                <a:cubicBezTo>
                  <a:pt x="5453063" y="519258"/>
                  <a:pt x="5424633" y="547688"/>
                  <a:pt x="538956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hape 109"/>
          <p:cNvSpPr/>
          <p:nvPr/>
        </p:nvSpPr>
        <p:spPr>
          <a:xfrm>
            <a:off x="6413500" y="6405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83" y="17859"/>
                </a:moveTo>
                <a:cubicBezTo>
                  <a:pt x="9934" y="17859"/>
                  <a:pt x="5953" y="21841"/>
                  <a:pt x="5953" y="26789"/>
                </a:cubicBezTo>
                <a:lnTo>
                  <a:pt x="5953" y="44648"/>
                </a:lnTo>
                <a:cubicBezTo>
                  <a:pt x="5953" y="49597"/>
                  <a:pt x="9934" y="53578"/>
                  <a:pt x="14883" y="53578"/>
                </a:cubicBezTo>
                <a:lnTo>
                  <a:pt x="32742" y="53578"/>
                </a:lnTo>
                <a:cubicBezTo>
                  <a:pt x="37691" y="53578"/>
                  <a:pt x="41672" y="49597"/>
                  <a:pt x="41672" y="44648"/>
                </a:cubicBezTo>
                <a:lnTo>
                  <a:pt x="41672" y="26789"/>
                </a:lnTo>
                <a:cubicBezTo>
                  <a:pt x="41672" y="21841"/>
                  <a:pt x="37691" y="17859"/>
                  <a:pt x="32742" y="17859"/>
                </a:cubicBezTo>
                <a:lnTo>
                  <a:pt x="14883" y="17859"/>
                </a:ln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5953" y="86320"/>
                </a:moveTo>
                <a:lnTo>
                  <a:pt x="5953" y="104180"/>
                </a:lnTo>
                <a:cubicBezTo>
                  <a:pt x="5953" y="109128"/>
                  <a:pt x="9934" y="113109"/>
                  <a:pt x="14883" y="113109"/>
                </a:cubicBezTo>
                <a:lnTo>
                  <a:pt x="32742" y="113109"/>
                </a:lnTo>
                <a:cubicBezTo>
                  <a:pt x="37691" y="113109"/>
                  <a:pt x="41672" y="109128"/>
                  <a:pt x="41672" y="104180"/>
                </a:cubicBezTo>
                <a:lnTo>
                  <a:pt x="41672" y="86320"/>
                </a:lnTo>
                <a:cubicBezTo>
                  <a:pt x="41672" y="81372"/>
                  <a:pt x="37691" y="77391"/>
                  <a:pt x="32742" y="77391"/>
                </a:cubicBezTo>
                <a:lnTo>
                  <a:pt x="14883" y="77391"/>
                </a:lnTo>
                <a:cubicBezTo>
                  <a:pt x="9934" y="77391"/>
                  <a:pt x="5953" y="81372"/>
                  <a:pt x="5953" y="86320"/>
                </a:cubicBezTo>
                <a:close/>
                <a:moveTo>
                  <a:pt x="14883" y="136922"/>
                </a:moveTo>
                <a:cubicBezTo>
                  <a:pt x="9934" y="136922"/>
                  <a:pt x="5953" y="140903"/>
                  <a:pt x="5953" y="145852"/>
                </a:cubicBezTo>
                <a:lnTo>
                  <a:pt x="5953" y="163711"/>
                </a:lnTo>
                <a:cubicBezTo>
                  <a:pt x="5953" y="168659"/>
                  <a:pt x="9934" y="172641"/>
                  <a:pt x="14883" y="172641"/>
                </a:cubicBezTo>
                <a:lnTo>
                  <a:pt x="32742" y="172641"/>
                </a:lnTo>
                <a:cubicBezTo>
                  <a:pt x="37691" y="172641"/>
                  <a:pt x="41672" y="168659"/>
                  <a:pt x="41672" y="163711"/>
                </a:cubicBezTo>
                <a:lnTo>
                  <a:pt x="41672" y="145852"/>
                </a:lnTo>
                <a:cubicBezTo>
                  <a:pt x="41672" y="140903"/>
                  <a:pt x="37691" y="136922"/>
                  <a:pt x="32742" y="136922"/>
                </a:cubicBezTo>
                <a:lnTo>
                  <a:pt x="14883" y="136922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2" name="Text 110"/>
          <p:cNvSpPr/>
          <p:nvPr/>
        </p:nvSpPr>
        <p:spPr>
          <a:xfrm>
            <a:off x="6723063" y="6326188"/>
            <a:ext cx="4984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class_names.txt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6723063" y="6516688"/>
            <a:ext cx="4976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记录4个类别名称，供前后端调用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207" y="481700"/>
            <a:ext cx="465090" cy="465090"/>
          </a:xfrm>
          <a:custGeom>
            <a:avLst/>
            <a:gdLst/>
            <a:ahLst/>
            <a:cxnLst/>
            <a:rect l="l" t="t" r="r" b="b"/>
            <a:pathLst>
              <a:path w="465090" h="465090">
                <a:moveTo>
                  <a:pt x="66443" y="0"/>
                </a:moveTo>
                <a:lnTo>
                  <a:pt x="398647" y="0"/>
                </a:lnTo>
                <a:cubicBezTo>
                  <a:pt x="435318" y="0"/>
                  <a:pt x="465090" y="29772"/>
                  <a:pt x="465090" y="66443"/>
                </a:cubicBezTo>
                <a:lnTo>
                  <a:pt x="465090" y="398647"/>
                </a:lnTo>
                <a:cubicBezTo>
                  <a:pt x="465090" y="435318"/>
                  <a:pt x="435318" y="465090"/>
                  <a:pt x="398647" y="465090"/>
                </a:cubicBezTo>
                <a:lnTo>
                  <a:pt x="66443" y="465090"/>
                </a:lnTo>
                <a:cubicBezTo>
                  <a:pt x="29772" y="465090"/>
                  <a:pt x="0" y="435318"/>
                  <a:pt x="0" y="398647"/>
                </a:cubicBezTo>
                <a:lnTo>
                  <a:pt x="0" y="66443"/>
                </a:lnTo>
                <a:cubicBezTo>
                  <a:pt x="0" y="29747"/>
                  <a:pt x="29747" y="0"/>
                  <a:pt x="66443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65090" y="614583"/>
            <a:ext cx="199324" cy="199324"/>
          </a:xfrm>
          <a:custGeom>
            <a:avLst/>
            <a:gdLst/>
            <a:ahLst/>
            <a:cxnLst/>
            <a:rect l="l" t="t" r="r" b="b"/>
            <a:pathLst>
              <a:path w="199324" h="199324">
                <a:moveTo>
                  <a:pt x="136996" y="109005"/>
                </a:moveTo>
                <a:lnTo>
                  <a:pt x="62678" y="109005"/>
                </a:lnTo>
                <a:cubicBezTo>
                  <a:pt x="63807" y="134116"/>
                  <a:pt x="69374" y="157240"/>
                  <a:pt x="77277" y="174175"/>
                </a:cubicBezTo>
                <a:cubicBezTo>
                  <a:pt x="81715" y="183713"/>
                  <a:pt x="86504" y="190448"/>
                  <a:pt x="90942" y="194575"/>
                </a:cubicBezTo>
                <a:cubicBezTo>
                  <a:pt x="95302" y="198662"/>
                  <a:pt x="98300" y="199324"/>
                  <a:pt x="99857" y="199324"/>
                </a:cubicBezTo>
                <a:cubicBezTo>
                  <a:pt x="101414" y="199324"/>
                  <a:pt x="104412" y="198662"/>
                  <a:pt x="108772" y="194575"/>
                </a:cubicBezTo>
                <a:cubicBezTo>
                  <a:pt x="113210" y="190448"/>
                  <a:pt x="117998" y="183674"/>
                  <a:pt x="122436" y="174175"/>
                </a:cubicBezTo>
                <a:cubicBezTo>
                  <a:pt x="130339" y="157240"/>
                  <a:pt x="135906" y="134116"/>
                  <a:pt x="137035" y="109005"/>
                </a:cubicBezTo>
                <a:close/>
                <a:moveTo>
                  <a:pt x="62639" y="90319"/>
                </a:moveTo>
                <a:lnTo>
                  <a:pt x="136958" y="90319"/>
                </a:lnTo>
                <a:cubicBezTo>
                  <a:pt x="135868" y="65209"/>
                  <a:pt x="130300" y="42084"/>
                  <a:pt x="122398" y="25149"/>
                </a:cubicBezTo>
                <a:cubicBezTo>
                  <a:pt x="117959" y="15650"/>
                  <a:pt x="113171" y="8876"/>
                  <a:pt x="108733" y="4750"/>
                </a:cubicBezTo>
                <a:cubicBezTo>
                  <a:pt x="104373" y="662"/>
                  <a:pt x="101375" y="0"/>
                  <a:pt x="99818" y="0"/>
                </a:cubicBezTo>
                <a:cubicBezTo>
                  <a:pt x="98261" y="0"/>
                  <a:pt x="95263" y="662"/>
                  <a:pt x="90903" y="4750"/>
                </a:cubicBezTo>
                <a:cubicBezTo>
                  <a:pt x="86465" y="8876"/>
                  <a:pt x="81676" y="15650"/>
                  <a:pt x="77238" y="25149"/>
                </a:cubicBezTo>
                <a:cubicBezTo>
                  <a:pt x="69335" y="42084"/>
                  <a:pt x="63768" y="65209"/>
                  <a:pt x="62639" y="90319"/>
                </a:cubicBezTo>
                <a:close/>
                <a:moveTo>
                  <a:pt x="43953" y="90319"/>
                </a:moveTo>
                <a:cubicBezTo>
                  <a:pt x="45315" y="56994"/>
                  <a:pt x="53919" y="26045"/>
                  <a:pt x="66493" y="5723"/>
                </a:cubicBezTo>
                <a:cubicBezTo>
                  <a:pt x="30638" y="18414"/>
                  <a:pt x="4243" y="51077"/>
                  <a:pt x="584" y="90319"/>
                </a:cubicBezTo>
                <a:lnTo>
                  <a:pt x="43953" y="90319"/>
                </a:lnTo>
                <a:close/>
                <a:moveTo>
                  <a:pt x="584" y="109005"/>
                </a:moveTo>
                <a:cubicBezTo>
                  <a:pt x="4243" y="148247"/>
                  <a:pt x="30638" y="180910"/>
                  <a:pt x="66493" y="193601"/>
                </a:cubicBezTo>
                <a:cubicBezTo>
                  <a:pt x="53919" y="173280"/>
                  <a:pt x="45315" y="142330"/>
                  <a:pt x="43953" y="109005"/>
                </a:cubicBezTo>
                <a:lnTo>
                  <a:pt x="584" y="109005"/>
                </a:lnTo>
                <a:close/>
                <a:moveTo>
                  <a:pt x="155683" y="109005"/>
                </a:moveTo>
                <a:cubicBezTo>
                  <a:pt x="154321" y="142330"/>
                  <a:pt x="145717" y="173280"/>
                  <a:pt x="133142" y="193601"/>
                </a:cubicBezTo>
                <a:cubicBezTo>
                  <a:pt x="168997" y="180871"/>
                  <a:pt x="195392" y="148247"/>
                  <a:pt x="199052" y="109005"/>
                </a:cubicBezTo>
                <a:lnTo>
                  <a:pt x="155683" y="109005"/>
                </a:lnTo>
                <a:close/>
                <a:moveTo>
                  <a:pt x="199052" y="90319"/>
                </a:moveTo>
                <a:cubicBezTo>
                  <a:pt x="195392" y="51077"/>
                  <a:pt x="168997" y="18414"/>
                  <a:pt x="133142" y="5723"/>
                </a:cubicBezTo>
                <a:cubicBezTo>
                  <a:pt x="145717" y="26045"/>
                  <a:pt x="154321" y="56994"/>
                  <a:pt x="155683" y="90319"/>
                </a:cubicBezTo>
                <a:lnTo>
                  <a:pt x="199052" y="90319"/>
                </a:ln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30180" y="332207"/>
            <a:ext cx="2192567" cy="3986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网页端实现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0180" y="764076"/>
            <a:ext cx="2076294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Web Application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30180" y="1063063"/>
            <a:ext cx="1063063" cy="33221"/>
          </a:xfrm>
          <a:custGeom>
            <a:avLst/>
            <a:gdLst/>
            <a:ahLst/>
            <a:cxnLst/>
            <a:rect l="l" t="t" r="r" b="b"/>
            <a:pathLst>
              <a:path w="1063063" h="33221">
                <a:moveTo>
                  <a:pt x="0" y="0"/>
                </a:moveTo>
                <a:lnTo>
                  <a:pt x="1063063" y="0"/>
                </a:lnTo>
                <a:lnTo>
                  <a:pt x="1063063" y="33221"/>
                </a:lnTo>
                <a:lnTo>
                  <a:pt x="0" y="33221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48817" y="1229166"/>
            <a:ext cx="5680741" cy="3687499"/>
          </a:xfrm>
          <a:custGeom>
            <a:avLst/>
            <a:gdLst/>
            <a:ahLst/>
            <a:cxnLst/>
            <a:rect l="l" t="t" r="r" b="b"/>
            <a:pathLst>
              <a:path w="5680741" h="3687499">
                <a:moveTo>
                  <a:pt x="33221" y="0"/>
                </a:moveTo>
                <a:lnTo>
                  <a:pt x="5614292" y="0"/>
                </a:lnTo>
                <a:cubicBezTo>
                  <a:pt x="5650966" y="0"/>
                  <a:pt x="5680741" y="29775"/>
                  <a:pt x="5680741" y="66449"/>
                </a:cubicBezTo>
                <a:lnTo>
                  <a:pt x="5680741" y="3621050"/>
                </a:lnTo>
                <a:cubicBezTo>
                  <a:pt x="5680741" y="3657724"/>
                  <a:pt x="5650966" y="3687499"/>
                  <a:pt x="5614292" y="3687499"/>
                </a:cubicBezTo>
                <a:lnTo>
                  <a:pt x="33221" y="3687499"/>
                </a:lnTo>
                <a:cubicBezTo>
                  <a:pt x="14873" y="3687499"/>
                  <a:pt x="0" y="3672625"/>
                  <a:pt x="0" y="3654278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48817" y="1229166"/>
            <a:ext cx="33221" cy="3687499"/>
          </a:xfrm>
          <a:custGeom>
            <a:avLst/>
            <a:gdLst/>
            <a:ahLst/>
            <a:cxnLst/>
            <a:rect l="l" t="t" r="r" b="b"/>
            <a:pathLst>
              <a:path w="33221" h="3687499">
                <a:moveTo>
                  <a:pt x="33221" y="0"/>
                </a:moveTo>
                <a:lnTo>
                  <a:pt x="33221" y="0"/>
                </a:lnTo>
                <a:lnTo>
                  <a:pt x="33221" y="3687499"/>
                </a:lnTo>
                <a:lnTo>
                  <a:pt x="33221" y="3687499"/>
                </a:lnTo>
                <a:cubicBezTo>
                  <a:pt x="14873" y="3687499"/>
                  <a:pt x="0" y="3672625"/>
                  <a:pt x="0" y="3654278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90005" y="1362049"/>
            <a:ext cx="199324" cy="199324"/>
          </a:xfrm>
          <a:custGeom>
            <a:avLst/>
            <a:gdLst/>
            <a:ahLst/>
            <a:cxnLst/>
            <a:rect l="l" t="t" r="r" b="b"/>
            <a:pathLst>
              <a:path w="199324" h="199324">
                <a:moveTo>
                  <a:pt x="110563" y="-506"/>
                </a:moveTo>
                <a:cubicBezTo>
                  <a:pt x="103828" y="-4399"/>
                  <a:pt x="95497" y="-4399"/>
                  <a:pt x="88762" y="-506"/>
                </a:cubicBezTo>
                <a:lnTo>
                  <a:pt x="55982" y="18414"/>
                </a:lnTo>
                <a:cubicBezTo>
                  <a:pt x="49247" y="22307"/>
                  <a:pt x="45082" y="29509"/>
                  <a:pt x="45082" y="37295"/>
                </a:cubicBezTo>
                <a:lnTo>
                  <a:pt x="45082" y="76966"/>
                </a:lnTo>
                <a:lnTo>
                  <a:pt x="10706" y="96820"/>
                </a:lnTo>
                <a:cubicBezTo>
                  <a:pt x="3971" y="100713"/>
                  <a:pt x="-195" y="107915"/>
                  <a:pt x="-195" y="115701"/>
                </a:cubicBezTo>
                <a:lnTo>
                  <a:pt x="-195" y="153581"/>
                </a:lnTo>
                <a:cubicBezTo>
                  <a:pt x="-195" y="161367"/>
                  <a:pt x="3971" y="168569"/>
                  <a:pt x="10706" y="172462"/>
                </a:cubicBezTo>
                <a:lnTo>
                  <a:pt x="43524" y="191382"/>
                </a:lnTo>
                <a:cubicBezTo>
                  <a:pt x="50259" y="195275"/>
                  <a:pt x="58590" y="195275"/>
                  <a:pt x="65325" y="191382"/>
                </a:cubicBezTo>
                <a:lnTo>
                  <a:pt x="99701" y="171528"/>
                </a:lnTo>
                <a:lnTo>
                  <a:pt x="134077" y="191382"/>
                </a:lnTo>
                <a:cubicBezTo>
                  <a:pt x="140812" y="195275"/>
                  <a:pt x="149143" y="195275"/>
                  <a:pt x="155878" y="191382"/>
                </a:cubicBezTo>
                <a:lnTo>
                  <a:pt x="188618" y="172462"/>
                </a:lnTo>
                <a:cubicBezTo>
                  <a:pt x="195353" y="168569"/>
                  <a:pt x="199519" y="161367"/>
                  <a:pt x="199519" y="153581"/>
                </a:cubicBezTo>
                <a:lnTo>
                  <a:pt x="199519" y="115701"/>
                </a:lnTo>
                <a:cubicBezTo>
                  <a:pt x="199519" y="107915"/>
                  <a:pt x="195353" y="100713"/>
                  <a:pt x="188618" y="96820"/>
                </a:cubicBezTo>
                <a:lnTo>
                  <a:pt x="154243" y="76966"/>
                </a:lnTo>
                <a:lnTo>
                  <a:pt x="154243" y="37295"/>
                </a:lnTo>
                <a:cubicBezTo>
                  <a:pt x="154243" y="29509"/>
                  <a:pt x="150077" y="22307"/>
                  <a:pt x="143342" y="18414"/>
                </a:cubicBezTo>
                <a:lnTo>
                  <a:pt x="110563" y="-506"/>
                </a:lnTo>
                <a:close/>
                <a:moveTo>
                  <a:pt x="90319" y="113911"/>
                </a:moveTo>
                <a:lnTo>
                  <a:pt x="90319" y="155372"/>
                </a:lnTo>
                <a:lnTo>
                  <a:pt x="55943" y="175226"/>
                </a:lnTo>
                <a:cubicBezTo>
                  <a:pt x="55476" y="175499"/>
                  <a:pt x="54931" y="175654"/>
                  <a:pt x="54386" y="175654"/>
                </a:cubicBezTo>
                <a:lnTo>
                  <a:pt x="54386" y="134661"/>
                </a:lnTo>
                <a:lnTo>
                  <a:pt x="90319" y="113911"/>
                </a:lnTo>
                <a:close/>
                <a:moveTo>
                  <a:pt x="180404" y="114144"/>
                </a:moveTo>
                <a:cubicBezTo>
                  <a:pt x="180677" y="114611"/>
                  <a:pt x="180832" y="115156"/>
                  <a:pt x="180832" y="115701"/>
                </a:cubicBezTo>
                <a:lnTo>
                  <a:pt x="180832" y="153581"/>
                </a:lnTo>
                <a:cubicBezTo>
                  <a:pt x="180832" y="154710"/>
                  <a:pt x="180248" y="155722"/>
                  <a:pt x="179275" y="156267"/>
                </a:cubicBezTo>
                <a:lnTo>
                  <a:pt x="146457" y="175187"/>
                </a:lnTo>
                <a:cubicBezTo>
                  <a:pt x="145989" y="175460"/>
                  <a:pt x="145444" y="175616"/>
                  <a:pt x="144899" y="175616"/>
                </a:cubicBezTo>
                <a:lnTo>
                  <a:pt x="144899" y="134622"/>
                </a:lnTo>
                <a:lnTo>
                  <a:pt x="180404" y="114144"/>
                </a:lnTo>
                <a:close/>
                <a:moveTo>
                  <a:pt x="135595" y="37295"/>
                </a:moveTo>
                <a:lnTo>
                  <a:pt x="135595" y="76966"/>
                </a:lnTo>
                <a:lnTo>
                  <a:pt x="99662" y="97716"/>
                </a:lnTo>
                <a:lnTo>
                  <a:pt x="99662" y="56255"/>
                </a:lnTo>
                <a:lnTo>
                  <a:pt x="135167" y="35777"/>
                </a:lnTo>
                <a:cubicBezTo>
                  <a:pt x="135439" y="36244"/>
                  <a:pt x="135595" y="36789"/>
                  <a:pt x="135595" y="37334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4245" y="1328828"/>
            <a:ext cx="5315313" cy="265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9243" y="1698409"/>
            <a:ext cx="5456501" cy="872044"/>
          </a:xfrm>
          <a:custGeom>
            <a:avLst/>
            <a:gdLst/>
            <a:ahLst/>
            <a:cxnLst/>
            <a:rect l="l" t="t" r="r" b="b"/>
            <a:pathLst>
              <a:path w="5456501" h="872044">
                <a:moveTo>
                  <a:pt x="66441" y="0"/>
                </a:moveTo>
                <a:lnTo>
                  <a:pt x="5390060" y="0"/>
                </a:lnTo>
                <a:cubicBezTo>
                  <a:pt x="5426755" y="0"/>
                  <a:pt x="5456501" y="29747"/>
                  <a:pt x="5456501" y="66441"/>
                </a:cubicBezTo>
                <a:lnTo>
                  <a:pt x="5456501" y="805603"/>
                </a:lnTo>
                <a:cubicBezTo>
                  <a:pt x="5456501" y="842297"/>
                  <a:pt x="5426755" y="872044"/>
                  <a:pt x="5390060" y="872044"/>
                </a:cubicBezTo>
                <a:lnTo>
                  <a:pt x="66441" y="872044"/>
                </a:lnTo>
                <a:cubicBezTo>
                  <a:pt x="29747" y="872044"/>
                  <a:pt x="0" y="842297"/>
                  <a:pt x="0" y="805603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73057" y="1802223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66104" y="0"/>
                </a:moveTo>
                <a:lnTo>
                  <a:pt x="166104" y="0"/>
                </a:lnTo>
                <a:cubicBezTo>
                  <a:pt x="257840" y="0"/>
                  <a:pt x="332207" y="74367"/>
                  <a:pt x="332207" y="166104"/>
                </a:cubicBezTo>
                <a:lnTo>
                  <a:pt x="332207" y="166104"/>
                </a:lnTo>
                <a:cubicBezTo>
                  <a:pt x="332207" y="257840"/>
                  <a:pt x="257840" y="332207"/>
                  <a:pt x="166104" y="332207"/>
                </a:cubicBezTo>
                <a:lnTo>
                  <a:pt x="166104" y="332207"/>
                </a:lnTo>
                <a:cubicBezTo>
                  <a:pt x="74367" y="332207"/>
                  <a:pt x="0" y="257840"/>
                  <a:pt x="0" y="166104"/>
                </a:cubicBezTo>
                <a:lnTo>
                  <a:pt x="0" y="166104"/>
                </a:lnTo>
                <a:cubicBezTo>
                  <a:pt x="0" y="74367"/>
                  <a:pt x="74367" y="0"/>
                  <a:pt x="166104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61559" y="1852054"/>
            <a:ext cx="232545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4926" y="1802223"/>
            <a:ext cx="4891749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图像上传模块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4926" y="2067989"/>
            <a:ext cx="4883444" cy="3986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支持X光图片上传（PNG格式），提供拖拽上传和文件选择两种方式，实时预览上传的影像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9243" y="2645199"/>
            <a:ext cx="5456501" cy="672719"/>
          </a:xfrm>
          <a:custGeom>
            <a:avLst/>
            <a:gdLst/>
            <a:ahLst/>
            <a:cxnLst/>
            <a:rect l="l" t="t" r="r" b="b"/>
            <a:pathLst>
              <a:path w="5456501" h="672719">
                <a:moveTo>
                  <a:pt x="66444" y="0"/>
                </a:moveTo>
                <a:lnTo>
                  <a:pt x="5390057" y="0"/>
                </a:lnTo>
                <a:cubicBezTo>
                  <a:pt x="5426753" y="0"/>
                  <a:pt x="5456501" y="29748"/>
                  <a:pt x="5456501" y="66444"/>
                </a:cubicBezTo>
                <a:lnTo>
                  <a:pt x="5456501" y="606275"/>
                </a:lnTo>
                <a:cubicBezTo>
                  <a:pt x="5456501" y="642971"/>
                  <a:pt x="5426753" y="672719"/>
                  <a:pt x="5390057" y="672719"/>
                </a:cubicBezTo>
                <a:lnTo>
                  <a:pt x="66444" y="672719"/>
                </a:lnTo>
                <a:cubicBezTo>
                  <a:pt x="29748" y="672719"/>
                  <a:pt x="0" y="642971"/>
                  <a:pt x="0" y="606275"/>
                </a:cubicBezTo>
                <a:lnTo>
                  <a:pt x="0" y="66444"/>
                </a:lnTo>
                <a:cubicBezTo>
                  <a:pt x="0" y="29748"/>
                  <a:pt x="29748" y="0"/>
                  <a:pt x="6644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73057" y="2749014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66104" y="0"/>
                </a:moveTo>
                <a:lnTo>
                  <a:pt x="166104" y="0"/>
                </a:lnTo>
                <a:cubicBezTo>
                  <a:pt x="257840" y="0"/>
                  <a:pt x="332207" y="74367"/>
                  <a:pt x="332207" y="166104"/>
                </a:cubicBezTo>
                <a:lnTo>
                  <a:pt x="332207" y="166104"/>
                </a:lnTo>
                <a:cubicBezTo>
                  <a:pt x="332207" y="257840"/>
                  <a:pt x="257840" y="332207"/>
                  <a:pt x="166104" y="332207"/>
                </a:cubicBezTo>
                <a:lnTo>
                  <a:pt x="166104" y="332207"/>
                </a:lnTo>
                <a:cubicBezTo>
                  <a:pt x="74367" y="332207"/>
                  <a:pt x="0" y="257840"/>
                  <a:pt x="0" y="166104"/>
                </a:cubicBezTo>
                <a:lnTo>
                  <a:pt x="0" y="166104"/>
                </a:lnTo>
                <a:cubicBezTo>
                  <a:pt x="0" y="74367"/>
                  <a:pt x="74367" y="0"/>
                  <a:pt x="166104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7998" y="2798845"/>
            <a:ext cx="257460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4926" y="2749014"/>
            <a:ext cx="4891749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模型推理模块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4926" y="3014779"/>
            <a:ext cx="4883444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调用后端ResNet50模型进行实时推理，返回分类结果和置信度分数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9243" y="3392665"/>
            <a:ext cx="5456501" cy="672719"/>
          </a:xfrm>
          <a:custGeom>
            <a:avLst/>
            <a:gdLst/>
            <a:ahLst/>
            <a:cxnLst/>
            <a:rect l="l" t="t" r="r" b="b"/>
            <a:pathLst>
              <a:path w="5456501" h="672719">
                <a:moveTo>
                  <a:pt x="66444" y="0"/>
                </a:moveTo>
                <a:lnTo>
                  <a:pt x="5390057" y="0"/>
                </a:lnTo>
                <a:cubicBezTo>
                  <a:pt x="5426753" y="0"/>
                  <a:pt x="5456501" y="29748"/>
                  <a:pt x="5456501" y="66444"/>
                </a:cubicBezTo>
                <a:lnTo>
                  <a:pt x="5456501" y="606275"/>
                </a:lnTo>
                <a:cubicBezTo>
                  <a:pt x="5456501" y="642971"/>
                  <a:pt x="5426753" y="672719"/>
                  <a:pt x="5390057" y="672719"/>
                </a:cubicBezTo>
                <a:lnTo>
                  <a:pt x="66444" y="672719"/>
                </a:lnTo>
                <a:cubicBezTo>
                  <a:pt x="29748" y="672719"/>
                  <a:pt x="0" y="642971"/>
                  <a:pt x="0" y="606275"/>
                </a:cubicBezTo>
                <a:lnTo>
                  <a:pt x="0" y="66444"/>
                </a:lnTo>
                <a:cubicBezTo>
                  <a:pt x="0" y="29748"/>
                  <a:pt x="29748" y="0"/>
                  <a:pt x="6644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73057" y="3496480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66104" y="0"/>
                </a:moveTo>
                <a:lnTo>
                  <a:pt x="166104" y="0"/>
                </a:lnTo>
                <a:cubicBezTo>
                  <a:pt x="257840" y="0"/>
                  <a:pt x="332207" y="74367"/>
                  <a:pt x="332207" y="166104"/>
                </a:cubicBezTo>
                <a:lnTo>
                  <a:pt x="332207" y="166104"/>
                </a:lnTo>
                <a:cubicBezTo>
                  <a:pt x="332207" y="257840"/>
                  <a:pt x="257840" y="332207"/>
                  <a:pt x="166104" y="332207"/>
                </a:cubicBezTo>
                <a:lnTo>
                  <a:pt x="166104" y="332207"/>
                </a:lnTo>
                <a:cubicBezTo>
                  <a:pt x="74367" y="332207"/>
                  <a:pt x="0" y="257840"/>
                  <a:pt x="0" y="166104"/>
                </a:cubicBezTo>
                <a:lnTo>
                  <a:pt x="0" y="166104"/>
                </a:lnTo>
                <a:cubicBezTo>
                  <a:pt x="0" y="74367"/>
                  <a:pt x="74367" y="0"/>
                  <a:pt x="166104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7350" y="3546311"/>
            <a:ext cx="257460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4926" y="3496480"/>
            <a:ext cx="4891749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结果展示模块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4926" y="3762245"/>
            <a:ext cx="4883444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显示分类类别、置信度条形图、诊断建议，支持结果导出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9243" y="4140131"/>
            <a:ext cx="5456501" cy="672719"/>
          </a:xfrm>
          <a:custGeom>
            <a:avLst/>
            <a:gdLst/>
            <a:ahLst/>
            <a:cxnLst/>
            <a:rect l="l" t="t" r="r" b="b"/>
            <a:pathLst>
              <a:path w="5456501" h="672719">
                <a:moveTo>
                  <a:pt x="66444" y="0"/>
                </a:moveTo>
                <a:lnTo>
                  <a:pt x="5390057" y="0"/>
                </a:lnTo>
                <a:cubicBezTo>
                  <a:pt x="5426753" y="0"/>
                  <a:pt x="5456501" y="29748"/>
                  <a:pt x="5456501" y="66444"/>
                </a:cubicBezTo>
                <a:lnTo>
                  <a:pt x="5456501" y="606275"/>
                </a:lnTo>
                <a:cubicBezTo>
                  <a:pt x="5456501" y="642971"/>
                  <a:pt x="5426753" y="672719"/>
                  <a:pt x="5390057" y="672719"/>
                </a:cubicBezTo>
                <a:lnTo>
                  <a:pt x="66444" y="672719"/>
                </a:lnTo>
                <a:cubicBezTo>
                  <a:pt x="29748" y="672719"/>
                  <a:pt x="0" y="642971"/>
                  <a:pt x="0" y="606275"/>
                </a:cubicBezTo>
                <a:lnTo>
                  <a:pt x="0" y="66444"/>
                </a:lnTo>
                <a:cubicBezTo>
                  <a:pt x="0" y="29748"/>
                  <a:pt x="29748" y="0"/>
                  <a:pt x="6644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73057" y="4243946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66104" y="0"/>
                </a:moveTo>
                <a:lnTo>
                  <a:pt x="166104" y="0"/>
                </a:lnTo>
                <a:cubicBezTo>
                  <a:pt x="257840" y="0"/>
                  <a:pt x="332207" y="74367"/>
                  <a:pt x="332207" y="166104"/>
                </a:cubicBezTo>
                <a:lnTo>
                  <a:pt x="332207" y="166104"/>
                </a:lnTo>
                <a:cubicBezTo>
                  <a:pt x="332207" y="257840"/>
                  <a:pt x="257840" y="332207"/>
                  <a:pt x="166104" y="332207"/>
                </a:cubicBezTo>
                <a:lnTo>
                  <a:pt x="166104" y="332207"/>
                </a:lnTo>
                <a:cubicBezTo>
                  <a:pt x="74367" y="332207"/>
                  <a:pt x="0" y="257840"/>
                  <a:pt x="0" y="166104"/>
                </a:cubicBezTo>
                <a:lnTo>
                  <a:pt x="0" y="166104"/>
                </a:lnTo>
                <a:cubicBezTo>
                  <a:pt x="0" y="74367"/>
                  <a:pt x="74367" y="0"/>
                  <a:pt x="166104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7415" y="4293777"/>
            <a:ext cx="257460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4926" y="4243946"/>
            <a:ext cx="4891749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历史记录模块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4926" y="4509711"/>
            <a:ext cx="4883444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查看过往诊断结果，支持搜索、筛选和详细报告查看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0869" y="1229166"/>
            <a:ext cx="5680741" cy="2092905"/>
          </a:xfrm>
          <a:custGeom>
            <a:avLst/>
            <a:gdLst/>
            <a:ahLst/>
            <a:cxnLst/>
            <a:rect l="l" t="t" r="r" b="b"/>
            <a:pathLst>
              <a:path w="5680741" h="2092905">
                <a:moveTo>
                  <a:pt x="33221" y="0"/>
                </a:moveTo>
                <a:lnTo>
                  <a:pt x="5614291" y="0"/>
                </a:lnTo>
                <a:cubicBezTo>
                  <a:pt x="5650991" y="0"/>
                  <a:pt x="5680741" y="29751"/>
                  <a:pt x="5680741" y="66450"/>
                </a:cubicBezTo>
                <a:lnTo>
                  <a:pt x="5680741" y="2026455"/>
                </a:lnTo>
                <a:cubicBezTo>
                  <a:pt x="5680741" y="2063154"/>
                  <a:pt x="5650991" y="2092905"/>
                  <a:pt x="5614291" y="2092905"/>
                </a:cubicBezTo>
                <a:lnTo>
                  <a:pt x="33221" y="2092905"/>
                </a:lnTo>
                <a:cubicBezTo>
                  <a:pt x="14873" y="2092905"/>
                  <a:pt x="0" y="2078031"/>
                  <a:pt x="0" y="2059684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180869" y="1229166"/>
            <a:ext cx="33221" cy="2092905"/>
          </a:xfrm>
          <a:custGeom>
            <a:avLst/>
            <a:gdLst/>
            <a:ahLst/>
            <a:cxnLst/>
            <a:rect l="l" t="t" r="r" b="b"/>
            <a:pathLst>
              <a:path w="33221" h="2092905">
                <a:moveTo>
                  <a:pt x="33221" y="0"/>
                </a:moveTo>
                <a:lnTo>
                  <a:pt x="33221" y="0"/>
                </a:lnTo>
                <a:lnTo>
                  <a:pt x="33221" y="2092905"/>
                </a:lnTo>
                <a:lnTo>
                  <a:pt x="33221" y="2092905"/>
                </a:lnTo>
                <a:cubicBezTo>
                  <a:pt x="14873" y="2092905"/>
                  <a:pt x="0" y="2078031"/>
                  <a:pt x="0" y="2059684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322057" y="1362049"/>
            <a:ext cx="199324" cy="199324"/>
          </a:xfrm>
          <a:custGeom>
            <a:avLst/>
            <a:gdLst/>
            <a:ahLst/>
            <a:cxnLst/>
            <a:rect l="l" t="t" r="r" b="b"/>
            <a:pathLst>
              <a:path w="199324" h="199324">
                <a:moveTo>
                  <a:pt x="199324" y="99662"/>
                </a:moveTo>
                <a:cubicBezTo>
                  <a:pt x="199324" y="100012"/>
                  <a:pt x="199324" y="100363"/>
                  <a:pt x="199324" y="100713"/>
                </a:cubicBezTo>
                <a:cubicBezTo>
                  <a:pt x="199169" y="114923"/>
                  <a:pt x="186244" y="124578"/>
                  <a:pt x="172034" y="124578"/>
                </a:cubicBezTo>
                <a:lnTo>
                  <a:pt x="133921" y="124578"/>
                </a:lnTo>
                <a:cubicBezTo>
                  <a:pt x="123604" y="124578"/>
                  <a:pt x="115234" y="132948"/>
                  <a:pt x="115234" y="143264"/>
                </a:cubicBezTo>
                <a:cubicBezTo>
                  <a:pt x="115234" y="144588"/>
                  <a:pt x="115390" y="145873"/>
                  <a:pt x="115624" y="147118"/>
                </a:cubicBezTo>
                <a:cubicBezTo>
                  <a:pt x="116441" y="151089"/>
                  <a:pt x="118154" y="154905"/>
                  <a:pt x="119828" y="158759"/>
                </a:cubicBezTo>
                <a:cubicBezTo>
                  <a:pt x="122203" y="164131"/>
                  <a:pt x="124539" y="169465"/>
                  <a:pt x="124539" y="175109"/>
                </a:cubicBezTo>
                <a:cubicBezTo>
                  <a:pt x="124539" y="187489"/>
                  <a:pt x="116130" y="198740"/>
                  <a:pt x="103750" y="199246"/>
                </a:cubicBezTo>
                <a:cubicBezTo>
                  <a:pt x="102387" y="199285"/>
                  <a:pt x="101025" y="199324"/>
                  <a:pt x="99623" y="199324"/>
                </a:cubicBezTo>
                <a:cubicBezTo>
                  <a:pt x="44575" y="199324"/>
                  <a:pt x="-39" y="154710"/>
                  <a:pt x="-39" y="99662"/>
                </a:cubicBezTo>
                <a:cubicBezTo>
                  <a:pt x="-39" y="44614"/>
                  <a:pt x="44614" y="0"/>
                  <a:pt x="99662" y="0"/>
                </a:cubicBezTo>
                <a:cubicBezTo>
                  <a:pt x="154710" y="0"/>
                  <a:pt x="199324" y="44614"/>
                  <a:pt x="199324" y="99662"/>
                </a:cubicBezTo>
                <a:close/>
                <a:moveTo>
                  <a:pt x="49831" y="112120"/>
                </a:moveTo>
                <a:cubicBezTo>
                  <a:pt x="49831" y="105244"/>
                  <a:pt x="44249" y="99662"/>
                  <a:pt x="37373" y="99662"/>
                </a:cubicBezTo>
                <a:cubicBezTo>
                  <a:pt x="30498" y="99662"/>
                  <a:pt x="24916" y="105244"/>
                  <a:pt x="24916" y="112120"/>
                </a:cubicBezTo>
                <a:cubicBezTo>
                  <a:pt x="24916" y="118996"/>
                  <a:pt x="30498" y="124578"/>
                  <a:pt x="37373" y="124578"/>
                </a:cubicBezTo>
                <a:cubicBezTo>
                  <a:pt x="44249" y="124578"/>
                  <a:pt x="49831" y="118996"/>
                  <a:pt x="49831" y="112120"/>
                </a:cubicBezTo>
                <a:close/>
                <a:moveTo>
                  <a:pt x="49831" y="74747"/>
                </a:moveTo>
                <a:cubicBezTo>
                  <a:pt x="56707" y="74747"/>
                  <a:pt x="62289" y="69164"/>
                  <a:pt x="62289" y="62289"/>
                </a:cubicBezTo>
                <a:cubicBezTo>
                  <a:pt x="62289" y="55413"/>
                  <a:pt x="56707" y="49831"/>
                  <a:pt x="49831" y="49831"/>
                </a:cubicBezTo>
                <a:cubicBezTo>
                  <a:pt x="42955" y="49831"/>
                  <a:pt x="37373" y="55413"/>
                  <a:pt x="37373" y="62289"/>
                </a:cubicBezTo>
                <a:cubicBezTo>
                  <a:pt x="37373" y="69164"/>
                  <a:pt x="42955" y="74747"/>
                  <a:pt x="49831" y="74747"/>
                </a:cubicBezTo>
                <a:close/>
                <a:moveTo>
                  <a:pt x="112120" y="37373"/>
                </a:moveTo>
                <a:cubicBezTo>
                  <a:pt x="112120" y="30498"/>
                  <a:pt x="106538" y="24916"/>
                  <a:pt x="99662" y="24916"/>
                </a:cubicBezTo>
                <a:cubicBezTo>
                  <a:pt x="92786" y="24916"/>
                  <a:pt x="87204" y="30498"/>
                  <a:pt x="87204" y="37373"/>
                </a:cubicBezTo>
                <a:cubicBezTo>
                  <a:pt x="87204" y="44249"/>
                  <a:pt x="92786" y="49831"/>
                  <a:pt x="99662" y="49831"/>
                </a:cubicBezTo>
                <a:cubicBezTo>
                  <a:pt x="106538" y="49831"/>
                  <a:pt x="112120" y="44249"/>
                  <a:pt x="112120" y="37373"/>
                </a:cubicBezTo>
                <a:close/>
                <a:moveTo>
                  <a:pt x="149493" y="74747"/>
                </a:moveTo>
                <a:cubicBezTo>
                  <a:pt x="156369" y="74747"/>
                  <a:pt x="161951" y="69164"/>
                  <a:pt x="161951" y="62289"/>
                </a:cubicBezTo>
                <a:cubicBezTo>
                  <a:pt x="161951" y="55413"/>
                  <a:pt x="156369" y="49831"/>
                  <a:pt x="149493" y="49831"/>
                </a:cubicBezTo>
                <a:cubicBezTo>
                  <a:pt x="142618" y="49831"/>
                  <a:pt x="137035" y="55413"/>
                  <a:pt x="137035" y="62289"/>
                </a:cubicBezTo>
                <a:cubicBezTo>
                  <a:pt x="137035" y="69164"/>
                  <a:pt x="142618" y="74747"/>
                  <a:pt x="149493" y="7474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546296" y="1328828"/>
            <a:ext cx="5315313" cy="265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界面特点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17904" y="1727477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83052" y="166104"/>
                </a:moveTo>
                <a:cubicBezTo>
                  <a:pt x="128889" y="166104"/>
                  <a:pt x="166104" y="128889"/>
                  <a:pt x="166104" y="83052"/>
                </a:cubicBezTo>
                <a:cubicBezTo>
                  <a:pt x="166104" y="37214"/>
                  <a:pt x="128889" y="0"/>
                  <a:pt x="83052" y="0"/>
                </a:cubicBezTo>
                <a:cubicBezTo>
                  <a:pt x="37214" y="0"/>
                  <a:pt x="0" y="37214"/>
                  <a:pt x="0" y="83052"/>
                </a:cubicBezTo>
                <a:cubicBezTo>
                  <a:pt x="0" y="128889"/>
                  <a:pt x="37214" y="166104"/>
                  <a:pt x="83052" y="166104"/>
                </a:cubicBezTo>
                <a:close/>
                <a:moveTo>
                  <a:pt x="110433" y="69004"/>
                </a:moveTo>
                <a:lnTo>
                  <a:pt x="84479" y="110530"/>
                </a:lnTo>
                <a:cubicBezTo>
                  <a:pt x="83117" y="112704"/>
                  <a:pt x="80781" y="114066"/>
                  <a:pt x="78218" y="114196"/>
                </a:cubicBezTo>
                <a:cubicBezTo>
                  <a:pt x="75655" y="114326"/>
                  <a:pt x="73189" y="113158"/>
                  <a:pt x="71665" y="111082"/>
                </a:cubicBezTo>
                <a:lnTo>
                  <a:pt x="56092" y="90319"/>
                </a:lnTo>
                <a:cubicBezTo>
                  <a:pt x="53497" y="86880"/>
                  <a:pt x="54211" y="82014"/>
                  <a:pt x="57650" y="79418"/>
                </a:cubicBezTo>
                <a:cubicBezTo>
                  <a:pt x="61088" y="76823"/>
                  <a:pt x="65955" y="77537"/>
                  <a:pt x="68550" y="80975"/>
                </a:cubicBezTo>
                <a:lnTo>
                  <a:pt x="77310" y="92655"/>
                </a:lnTo>
                <a:lnTo>
                  <a:pt x="97229" y="60764"/>
                </a:lnTo>
                <a:cubicBezTo>
                  <a:pt x="99500" y="57131"/>
                  <a:pt x="104301" y="55995"/>
                  <a:pt x="107967" y="58298"/>
                </a:cubicBezTo>
                <a:cubicBezTo>
                  <a:pt x="111633" y="60602"/>
                  <a:pt x="112736" y="65371"/>
                  <a:pt x="110433" y="6903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604433" y="1694256"/>
            <a:ext cx="3529700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简洁直观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04433" y="1960022"/>
            <a:ext cx="3521395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界面设计遵循医疗软件规范，</a:t>
            </a:r>
            <a:endParaRPr lang="en-US" sz="1045" dirty="0">
              <a:solidFill>
                <a:srgbClr val="DCE1E6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信息层次分明，操作流程清晰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17904" y="2259008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83052" y="166104"/>
                </a:moveTo>
                <a:cubicBezTo>
                  <a:pt x="128889" y="166104"/>
                  <a:pt x="166104" y="128889"/>
                  <a:pt x="166104" y="83052"/>
                </a:cubicBezTo>
                <a:cubicBezTo>
                  <a:pt x="166104" y="37214"/>
                  <a:pt x="128889" y="0"/>
                  <a:pt x="83052" y="0"/>
                </a:cubicBezTo>
                <a:cubicBezTo>
                  <a:pt x="37214" y="0"/>
                  <a:pt x="0" y="37214"/>
                  <a:pt x="0" y="83052"/>
                </a:cubicBezTo>
                <a:cubicBezTo>
                  <a:pt x="0" y="128889"/>
                  <a:pt x="37214" y="166104"/>
                  <a:pt x="83052" y="166104"/>
                </a:cubicBezTo>
                <a:close/>
                <a:moveTo>
                  <a:pt x="110433" y="69004"/>
                </a:moveTo>
                <a:lnTo>
                  <a:pt x="84479" y="110530"/>
                </a:lnTo>
                <a:cubicBezTo>
                  <a:pt x="83117" y="112704"/>
                  <a:pt x="80781" y="114066"/>
                  <a:pt x="78218" y="114196"/>
                </a:cubicBezTo>
                <a:cubicBezTo>
                  <a:pt x="75655" y="114326"/>
                  <a:pt x="73189" y="113158"/>
                  <a:pt x="71665" y="111082"/>
                </a:cubicBezTo>
                <a:lnTo>
                  <a:pt x="56092" y="90319"/>
                </a:lnTo>
                <a:cubicBezTo>
                  <a:pt x="53497" y="86880"/>
                  <a:pt x="54211" y="82014"/>
                  <a:pt x="57650" y="79418"/>
                </a:cubicBezTo>
                <a:cubicBezTo>
                  <a:pt x="61088" y="76823"/>
                  <a:pt x="65955" y="77537"/>
                  <a:pt x="68550" y="80975"/>
                </a:cubicBezTo>
                <a:lnTo>
                  <a:pt x="77310" y="92655"/>
                </a:lnTo>
                <a:lnTo>
                  <a:pt x="97229" y="60764"/>
                </a:lnTo>
                <a:cubicBezTo>
                  <a:pt x="99500" y="57131"/>
                  <a:pt x="104301" y="55995"/>
                  <a:pt x="107967" y="58298"/>
                </a:cubicBezTo>
                <a:cubicBezTo>
                  <a:pt x="111633" y="60602"/>
                  <a:pt x="112736" y="65371"/>
                  <a:pt x="110433" y="6903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604433" y="2225787"/>
            <a:ext cx="3263935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实时反馈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04433" y="2491553"/>
            <a:ext cx="3255629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推理过程实时显示进度，</a:t>
            </a:r>
            <a:endParaRPr lang="en-US" sz="1045" dirty="0">
              <a:solidFill>
                <a:srgbClr val="DCE1E6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结果秒级返回，交互体验流畅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7904" y="2790540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83052" y="166104"/>
                </a:moveTo>
                <a:cubicBezTo>
                  <a:pt x="128889" y="166104"/>
                  <a:pt x="166104" y="128889"/>
                  <a:pt x="166104" y="83052"/>
                </a:cubicBezTo>
                <a:cubicBezTo>
                  <a:pt x="166104" y="37214"/>
                  <a:pt x="128889" y="0"/>
                  <a:pt x="83052" y="0"/>
                </a:cubicBezTo>
                <a:cubicBezTo>
                  <a:pt x="37214" y="0"/>
                  <a:pt x="0" y="37214"/>
                  <a:pt x="0" y="83052"/>
                </a:cubicBezTo>
                <a:cubicBezTo>
                  <a:pt x="0" y="128889"/>
                  <a:pt x="37214" y="166104"/>
                  <a:pt x="83052" y="166104"/>
                </a:cubicBezTo>
                <a:close/>
                <a:moveTo>
                  <a:pt x="110433" y="69004"/>
                </a:moveTo>
                <a:lnTo>
                  <a:pt x="84479" y="110530"/>
                </a:lnTo>
                <a:cubicBezTo>
                  <a:pt x="83117" y="112704"/>
                  <a:pt x="80781" y="114066"/>
                  <a:pt x="78218" y="114196"/>
                </a:cubicBezTo>
                <a:cubicBezTo>
                  <a:pt x="75655" y="114326"/>
                  <a:pt x="73189" y="113158"/>
                  <a:pt x="71665" y="111082"/>
                </a:cubicBezTo>
                <a:lnTo>
                  <a:pt x="56092" y="90319"/>
                </a:lnTo>
                <a:cubicBezTo>
                  <a:pt x="53497" y="86880"/>
                  <a:pt x="54211" y="82014"/>
                  <a:pt x="57650" y="79418"/>
                </a:cubicBezTo>
                <a:cubicBezTo>
                  <a:pt x="61088" y="76823"/>
                  <a:pt x="65955" y="77537"/>
                  <a:pt x="68550" y="80975"/>
                </a:cubicBezTo>
                <a:lnTo>
                  <a:pt x="77310" y="92655"/>
                </a:lnTo>
                <a:lnTo>
                  <a:pt x="97229" y="60764"/>
                </a:lnTo>
                <a:cubicBezTo>
                  <a:pt x="99500" y="57131"/>
                  <a:pt x="104301" y="55995"/>
                  <a:pt x="107967" y="58298"/>
                </a:cubicBezTo>
                <a:cubicBezTo>
                  <a:pt x="111633" y="60602"/>
                  <a:pt x="112736" y="65371"/>
                  <a:pt x="110433" y="6903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604433" y="2757319"/>
            <a:ext cx="3396817" cy="23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适配PC端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04433" y="3023084"/>
            <a:ext cx="3388512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针对桌面端大屏幕优化，</a:t>
            </a:r>
            <a:endParaRPr lang="en-US" sz="1045" dirty="0">
              <a:solidFill>
                <a:srgbClr val="DCE1E6">
                  <a:alpha val="80000"/>
                </a:srgb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充分利用显示空间展示详细信息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64258" y="3421733"/>
            <a:ext cx="5697351" cy="2574605"/>
          </a:xfrm>
          <a:custGeom>
            <a:avLst/>
            <a:gdLst/>
            <a:ahLst/>
            <a:cxnLst/>
            <a:rect l="l" t="t" r="r" b="b"/>
            <a:pathLst>
              <a:path w="5697351" h="2574605">
                <a:moveTo>
                  <a:pt x="66451" y="0"/>
                </a:moveTo>
                <a:lnTo>
                  <a:pt x="5630901" y="0"/>
                </a:lnTo>
                <a:cubicBezTo>
                  <a:pt x="5667576" y="0"/>
                  <a:pt x="5697351" y="29775"/>
                  <a:pt x="5697351" y="66451"/>
                </a:cubicBezTo>
                <a:lnTo>
                  <a:pt x="5697351" y="2508154"/>
                </a:lnTo>
                <a:cubicBezTo>
                  <a:pt x="5697351" y="2544854"/>
                  <a:pt x="5667601" y="2574605"/>
                  <a:pt x="5630901" y="2574605"/>
                </a:cubicBezTo>
                <a:lnTo>
                  <a:pt x="66451" y="2574605"/>
                </a:lnTo>
                <a:cubicBezTo>
                  <a:pt x="29775" y="2574605"/>
                  <a:pt x="0" y="2544829"/>
                  <a:pt x="0" y="2508154"/>
                </a:cubicBezTo>
                <a:lnTo>
                  <a:pt x="0" y="66451"/>
                </a:lnTo>
                <a:cubicBezTo>
                  <a:pt x="0" y="29751"/>
                  <a:pt x="29751" y="0"/>
                  <a:pt x="66451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288836" y="3554616"/>
            <a:ext cx="199324" cy="199324"/>
          </a:xfrm>
          <a:custGeom>
            <a:avLst/>
            <a:gdLst/>
            <a:ahLst/>
            <a:cxnLst/>
            <a:rect l="l" t="t" r="r" b="b"/>
            <a:pathLst>
              <a:path w="199324" h="199324">
                <a:moveTo>
                  <a:pt x="0" y="31144"/>
                </a:moveTo>
                <a:cubicBezTo>
                  <a:pt x="0" y="20828"/>
                  <a:pt x="8370" y="12458"/>
                  <a:pt x="18687" y="12458"/>
                </a:cubicBezTo>
                <a:lnTo>
                  <a:pt x="56060" y="12458"/>
                </a:lnTo>
                <a:cubicBezTo>
                  <a:pt x="66377" y="12458"/>
                  <a:pt x="74747" y="20828"/>
                  <a:pt x="74747" y="31144"/>
                </a:cubicBezTo>
                <a:lnTo>
                  <a:pt x="74747" y="37373"/>
                </a:lnTo>
                <a:lnTo>
                  <a:pt x="124578" y="37373"/>
                </a:lnTo>
                <a:lnTo>
                  <a:pt x="124578" y="31144"/>
                </a:lnTo>
                <a:cubicBezTo>
                  <a:pt x="124578" y="20828"/>
                  <a:pt x="132948" y="12458"/>
                  <a:pt x="143264" y="12458"/>
                </a:cubicBezTo>
                <a:lnTo>
                  <a:pt x="180638" y="12458"/>
                </a:lnTo>
                <a:cubicBezTo>
                  <a:pt x="190954" y="12458"/>
                  <a:pt x="199324" y="20828"/>
                  <a:pt x="199324" y="31144"/>
                </a:cubicBezTo>
                <a:lnTo>
                  <a:pt x="199324" y="68518"/>
                </a:lnTo>
                <a:cubicBezTo>
                  <a:pt x="199324" y="78834"/>
                  <a:pt x="190954" y="87204"/>
                  <a:pt x="180638" y="87204"/>
                </a:cubicBezTo>
                <a:lnTo>
                  <a:pt x="143264" y="87204"/>
                </a:lnTo>
                <a:cubicBezTo>
                  <a:pt x="132948" y="87204"/>
                  <a:pt x="124578" y="78834"/>
                  <a:pt x="124578" y="68518"/>
                </a:cubicBezTo>
                <a:lnTo>
                  <a:pt x="124578" y="62289"/>
                </a:lnTo>
                <a:lnTo>
                  <a:pt x="74747" y="62289"/>
                </a:lnTo>
                <a:lnTo>
                  <a:pt x="74747" y="68518"/>
                </a:lnTo>
                <a:cubicBezTo>
                  <a:pt x="74747" y="71360"/>
                  <a:pt x="74085" y="74085"/>
                  <a:pt x="72956" y="76498"/>
                </a:cubicBezTo>
                <a:lnTo>
                  <a:pt x="99662" y="112120"/>
                </a:lnTo>
                <a:lnTo>
                  <a:pt x="130807" y="112120"/>
                </a:lnTo>
                <a:cubicBezTo>
                  <a:pt x="141123" y="112120"/>
                  <a:pt x="149493" y="120490"/>
                  <a:pt x="149493" y="130807"/>
                </a:cubicBezTo>
                <a:lnTo>
                  <a:pt x="149493" y="168180"/>
                </a:lnTo>
                <a:cubicBezTo>
                  <a:pt x="149493" y="178496"/>
                  <a:pt x="141123" y="186866"/>
                  <a:pt x="130807" y="186866"/>
                </a:cubicBezTo>
                <a:lnTo>
                  <a:pt x="93433" y="186866"/>
                </a:lnTo>
                <a:cubicBezTo>
                  <a:pt x="83117" y="186866"/>
                  <a:pt x="74747" y="178496"/>
                  <a:pt x="74747" y="168180"/>
                </a:cubicBezTo>
                <a:lnTo>
                  <a:pt x="74747" y="130807"/>
                </a:lnTo>
                <a:cubicBezTo>
                  <a:pt x="74747" y="127965"/>
                  <a:pt x="75408" y="125239"/>
                  <a:pt x="76537" y="122826"/>
                </a:cubicBezTo>
                <a:lnTo>
                  <a:pt x="49831" y="87204"/>
                </a:lnTo>
                <a:lnTo>
                  <a:pt x="18687" y="87204"/>
                </a:lnTo>
                <a:cubicBezTo>
                  <a:pt x="8370" y="87204"/>
                  <a:pt x="0" y="78834"/>
                  <a:pt x="0" y="68518"/>
                </a:cubicBezTo>
                <a:lnTo>
                  <a:pt x="0" y="31144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513076" y="3521395"/>
            <a:ext cx="5348534" cy="265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工作流程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68073" y="3890975"/>
            <a:ext cx="5489722" cy="2001548"/>
          </a:xfrm>
          <a:custGeom>
            <a:avLst/>
            <a:gdLst/>
            <a:ahLst/>
            <a:cxnLst/>
            <a:rect l="l" t="t" r="r" b="b"/>
            <a:pathLst>
              <a:path w="5489722" h="2001548">
                <a:moveTo>
                  <a:pt x="66451" y="0"/>
                </a:moveTo>
                <a:lnTo>
                  <a:pt x="5423271" y="0"/>
                </a:lnTo>
                <a:cubicBezTo>
                  <a:pt x="5459971" y="0"/>
                  <a:pt x="5489722" y="29751"/>
                  <a:pt x="5489722" y="66451"/>
                </a:cubicBezTo>
                <a:lnTo>
                  <a:pt x="5489722" y="1935096"/>
                </a:lnTo>
                <a:cubicBezTo>
                  <a:pt x="5489722" y="1971796"/>
                  <a:pt x="5459971" y="2001548"/>
                  <a:pt x="5423271" y="2001548"/>
                </a:cubicBezTo>
                <a:lnTo>
                  <a:pt x="66451" y="2001548"/>
                </a:lnTo>
                <a:cubicBezTo>
                  <a:pt x="29751" y="2001548"/>
                  <a:pt x="0" y="1971796"/>
                  <a:pt x="0" y="1935096"/>
                </a:cubicBezTo>
                <a:lnTo>
                  <a:pt x="0" y="66451"/>
                </a:lnTo>
                <a:cubicBezTo>
                  <a:pt x="0" y="29776"/>
                  <a:pt x="29776" y="0"/>
                  <a:pt x="6645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371888" y="4044621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455978" y="4119368"/>
            <a:ext cx="101738" cy="116272"/>
          </a:xfrm>
          <a:custGeom>
            <a:avLst/>
            <a:gdLst/>
            <a:ahLst/>
            <a:cxnLst/>
            <a:rect l="l" t="t" r="r" b="b"/>
            <a:pathLst>
              <a:path w="101738" h="116272">
                <a:moveTo>
                  <a:pt x="58136" y="24821"/>
                </a:moveTo>
                <a:lnTo>
                  <a:pt x="58136" y="72670"/>
                </a:lnTo>
                <a:cubicBezTo>
                  <a:pt x="58136" y="76690"/>
                  <a:pt x="54889" y="79937"/>
                  <a:pt x="50869" y="79937"/>
                </a:cubicBezTo>
                <a:cubicBezTo>
                  <a:pt x="46850" y="79937"/>
                  <a:pt x="43602" y="76690"/>
                  <a:pt x="43602" y="72670"/>
                </a:cubicBezTo>
                <a:lnTo>
                  <a:pt x="43602" y="24821"/>
                </a:lnTo>
                <a:lnTo>
                  <a:pt x="34200" y="34223"/>
                </a:lnTo>
                <a:cubicBezTo>
                  <a:pt x="31362" y="37062"/>
                  <a:pt x="26752" y="37062"/>
                  <a:pt x="23913" y="34223"/>
                </a:cubicBezTo>
                <a:cubicBezTo>
                  <a:pt x="21074" y="31384"/>
                  <a:pt x="21074" y="26774"/>
                  <a:pt x="23913" y="23936"/>
                </a:cubicBezTo>
                <a:lnTo>
                  <a:pt x="45714" y="2135"/>
                </a:lnTo>
                <a:cubicBezTo>
                  <a:pt x="48553" y="-704"/>
                  <a:pt x="53163" y="-704"/>
                  <a:pt x="56002" y="2135"/>
                </a:cubicBezTo>
                <a:lnTo>
                  <a:pt x="77803" y="23936"/>
                </a:lnTo>
                <a:cubicBezTo>
                  <a:pt x="80641" y="26774"/>
                  <a:pt x="80641" y="31384"/>
                  <a:pt x="77803" y="34223"/>
                </a:cubicBezTo>
                <a:cubicBezTo>
                  <a:pt x="74964" y="37062"/>
                  <a:pt x="70354" y="37062"/>
                  <a:pt x="67515" y="34223"/>
                </a:cubicBezTo>
                <a:lnTo>
                  <a:pt x="58136" y="24821"/>
                </a:lnTo>
                <a:close/>
                <a:moveTo>
                  <a:pt x="50869" y="90838"/>
                </a:moveTo>
                <a:cubicBezTo>
                  <a:pt x="60907" y="90838"/>
                  <a:pt x="69037" y="82708"/>
                  <a:pt x="69037" y="72670"/>
                </a:cubicBezTo>
                <a:lnTo>
                  <a:pt x="87204" y="72670"/>
                </a:lnTo>
                <a:cubicBezTo>
                  <a:pt x="95221" y="72670"/>
                  <a:pt x="101738" y="79188"/>
                  <a:pt x="101738" y="87204"/>
                </a:cubicBezTo>
                <a:lnTo>
                  <a:pt x="101738" y="94471"/>
                </a:lnTo>
                <a:cubicBezTo>
                  <a:pt x="101738" y="102488"/>
                  <a:pt x="95221" y="109005"/>
                  <a:pt x="87204" y="109005"/>
                </a:cubicBezTo>
                <a:lnTo>
                  <a:pt x="14534" y="109005"/>
                </a:lnTo>
                <a:cubicBezTo>
                  <a:pt x="6518" y="109005"/>
                  <a:pt x="0" y="102488"/>
                  <a:pt x="0" y="94471"/>
                </a:cubicBezTo>
                <a:lnTo>
                  <a:pt x="0" y="87204"/>
                </a:lnTo>
                <a:cubicBezTo>
                  <a:pt x="0" y="79188"/>
                  <a:pt x="6518" y="72670"/>
                  <a:pt x="14534" y="72670"/>
                </a:cubicBezTo>
                <a:lnTo>
                  <a:pt x="32702" y="72670"/>
                </a:lnTo>
                <a:cubicBezTo>
                  <a:pt x="32702" y="82708"/>
                  <a:pt x="40832" y="90838"/>
                  <a:pt x="50869" y="90838"/>
                </a:cubicBezTo>
                <a:close/>
                <a:moveTo>
                  <a:pt x="83571" y="96288"/>
                </a:moveTo>
                <a:cubicBezTo>
                  <a:pt x="86579" y="96288"/>
                  <a:pt x="89021" y="93846"/>
                  <a:pt x="89021" y="90838"/>
                </a:cubicBezTo>
                <a:cubicBezTo>
                  <a:pt x="89021" y="87830"/>
                  <a:pt x="86579" y="85388"/>
                  <a:pt x="83571" y="85388"/>
                </a:cubicBezTo>
                <a:cubicBezTo>
                  <a:pt x="80563" y="85388"/>
                  <a:pt x="78121" y="87830"/>
                  <a:pt x="78121" y="90838"/>
                </a:cubicBezTo>
                <a:cubicBezTo>
                  <a:pt x="78121" y="93846"/>
                  <a:pt x="80563" y="96288"/>
                  <a:pt x="83571" y="96288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737315" y="3994790"/>
            <a:ext cx="4983106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上传X光图像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37315" y="4194114"/>
            <a:ext cx="4974801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支持PNG格式，拖拽或选择文件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959859" y="4459880"/>
            <a:ext cx="112120" cy="149493"/>
          </a:xfrm>
          <a:custGeom>
            <a:avLst/>
            <a:gdLst/>
            <a:ahLst/>
            <a:cxnLst/>
            <a:rect l="l" t="t" r="r" b="b"/>
            <a:pathLst>
              <a:path w="112120" h="149493">
                <a:moveTo>
                  <a:pt x="49461" y="146749"/>
                </a:moveTo>
                <a:cubicBezTo>
                  <a:pt x="53111" y="150398"/>
                  <a:pt x="59038" y="150398"/>
                  <a:pt x="62688" y="146749"/>
                </a:cubicBezTo>
                <a:lnTo>
                  <a:pt x="109404" y="100032"/>
                </a:lnTo>
                <a:cubicBezTo>
                  <a:pt x="113054" y="96382"/>
                  <a:pt x="113054" y="90455"/>
                  <a:pt x="109404" y="86805"/>
                </a:cubicBezTo>
                <a:cubicBezTo>
                  <a:pt x="105755" y="83156"/>
                  <a:pt x="99828" y="83156"/>
                  <a:pt x="96178" y="86805"/>
                </a:cubicBezTo>
                <a:lnTo>
                  <a:pt x="65403" y="117580"/>
                </a:lnTo>
                <a:lnTo>
                  <a:pt x="65403" y="9343"/>
                </a:lnTo>
                <a:cubicBezTo>
                  <a:pt x="65403" y="4175"/>
                  <a:pt x="61228" y="0"/>
                  <a:pt x="56060" y="0"/>
                </a:cubicBezTo>
                <a:cubicBezTo>
                  <a:pt x="50892" y="0"/>
                  <a:pt x="46717" y="4175"/>
                  <a:pt x="46717" y="9343"/>
                </a:cubicBezTo>
                <a:lnTo>
                  <a:pt x="46717" y="117580"/>
                </a:lnTo>
                <a:lnTo>
                  <a:pt x="15942" y="86805"/>
                </a:lnTo>
                <a:cubicBezTo>
                  <a:pt x="12292" y="83156"/>
                  <a:pt x="6365" y="83156"/>
                  <a:pt x="2715" y="86805"/>
                </a:cubicBezTo>
                <a:cubicBezTo>
                  <a:pt x="-934" y="90455"/>
                  <a:pt x="-934" y="96382"/>
                  <a:pt x="2715" y="100032"/>
                </a:cubicBezTo>
                <a:lnTo>
                  <a:pt x="49432" y="146749"/>
                </a:ln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371888" y="4758866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6448710" y="4833613"/>
            <a:ext cx="116272" cy="116272"/>
          </a:xfrm>
          <a:custGeom>
            <a:avLst/>
            <a:gdLst/>
            <a:ahLst/>
            <a:cxnLst/>
            <a:rect l="l" t="t" r="r" b="b"/>
            <a:pathLst>
              <a:path w="116272" h="116272">
                <a:moveTo>
                  <a:pt x="27251" y="12717"/>
                </a:moveTo>
                <a:cubicBezTo>
                  <a:pt x="27251" y="5700"/>
                  <a:pt x="32951" y="0"/>
                  <a:pt x="39969" y="0"/>
                </a:cubicBezTo>
                <a:lnTo>
                  <a:pt x="45419" y="0"/>
                </a:lnTo>
                <a:cubicBezTo>
                  <a:pt x="49439" y="0"/>
                  <a:pt x="52686" y="3247"/>
                  <a:pt x="52686" y="7267"/>
                </a:cubicBezTo>
                <a:lnTo>
                  <a:pt x="52686" y="109005"/>
                </a:lnTo>
                <a:cubicBezTo>
                  <a:pt x="52686" y="113025"/>
                  <a:pt x="49439" y="116272"/>
                  <a:pt x="45419" y="116272"/>
                </a:cubicBezTo>
                <a:lnTo>
                  <a:pt x="38152" y="116272"/>
                </a:lnTo>
                <a:cubicBezTo>
                  <a:pt x="31384" y="116272"/>
                  <a:pt x="25684" y="111640"/>
                  <a:pt x="24072" y="105372"/>
                </a:cubicBezTo>
                <a:cubicBezTo>
                  <a:pt x="23913" y="105372"/>
                  <a:pt x="23777" y="105372"/>
                  <a:pt x="23618" y="105372"/>
                </a:cubicBezTo>
                <a:cubicBezTo>
                  <a:pt x="13580" y="105372"/>
                  <a:pt x="5450" y="97242"/>
                  <a:pt x="5450" y="87204"/>
                </a:cubicBezTo>
                <a:cubicBezTo>
                  <a:pt x="5450" y="83117"/>
                  <a:pt x="6813" y="79347"/>
                  <a:pt x="9084" y="76304"/>
                </a:cubicBezTo>
                <a:cubicBezTo>
                  <a:pt x="4678" y="72988"/>
                  <a:pt x="1817" y="67720"/>
                  <a:pt x="1817" y="61770"/>
                </a:cubicBezTo>
                <a:cubicBezTo>
                  <a:pt x="1817" y="54753"/>
                  <a:pt x="5814" y="48644"/>
                  <a:pt x="11627" y="45623"/>
                </a:cubicBezTo>
                <a:cubicBezTo>
                  <a:pt x="10015" y="42898"/>
                  <a:pt x="9084" y="39719"/>
                  <a:pt x="9084" y="36335"/>
                </a:cubicBezTo>
                <a:cubicBezTo>
                  <a:pt x="9084" y="26298"/>
                  <a:pt x="17214" y="18168"/>
                  <a:pt x="27251" y="18168"/>
                </a:cubicBezTo>
                <a:lnTo>
                  <a:pt x="27251" y="12717"/>
                </a:lnTo>
                <a:close/>
                <a:moveTo>
                  <a:pt x="89021" y="12717"/>
                </a:moveTo>
                <a:lnTo>
                  <a:pt x="89021" y="18168"/>
                </a:lnTo>
                <a:cubicBezTo>
                  <a:pt x="99059" y="18168"/>
                  <a:pt x="107189" y="26298"/>
                  <a:pt x="107189" y="36335"/>
                </a:cubicBezTo>
                <a:cubicBezTo>
                  <a:pt x="107189" y="39742"/>
                  <a:pt x="106258" y="42921"/>
                  <a:pt x="104645" y="45623"/>
                </a:cubicBezTo>
                <a:cubicBezTo>
                  <a:pt x="110482" y="48644"/>
                  <a:pt x="114456" y="54730"/>
                  <a:pt x="114456" y="61770"/>
                </a:cubicBezTo>
                <a:cubicBezTo>
                  <a:pt x="114456" y="67720"/>
                  <a:pt x="111594" y="72988"/>
                  <a:pt x="107189" y="76304"/>
                </a:cubicBezTo>
                <a:cubicBezTo>
                  <a:pt x="109460" y="79347"/>
                  <a:pt x="110822" y="83117"/>
                  <a:pt x="110822" y="87204"/>
                </a:cubicBezTo>
                <a:cubicBezTo>
                  <a:pt x="110822" y="97242"/>
                  <a:pt x="102692" y="105372"/>
                  <a:pt x="92655" y="105372"/>
                </a:cubicBezTo>
                <a:cubicBezTo>
                  <a:pt x="92496" y="105372"/>
                  <a:pt x="92359" y="105372"/>
                  <a:pt x="92200" y="105372"/>
                </a:cubicBezTo>
                <a:cubicBezTo>
                  <a:pt x="90588" y="111640"/>
                  <a:pt x="84888" y="116272"/>
                  <a:pt x="78121" y="116272"/>
                </a:cubicBezTo>
                <a:lnTo>
                  <a:pt x="70854" y="116272"/>
                </a:lnTo>
                <a:cubicBezTo>
                  <a:pt x="66834" y="116272"/>
                  <a:pt x="63587" y="113025"/>
                  <a:pt x="63587" y="109005"/>
                </a:cubicBezTo>
                <a:lnTo>
                  <a:pt x="63587" y="7267"/>
                </a:lnTo>
                <a:cubicBezTo>
                  <a:pt x="63587" y="3247"/>
                  <a:pt x="66834" y="0"/>
                  <a:pt x="70854" y="0"/>
                </a:cubicBezTo>
                <a:lnTo>
                  <a:pt x="76304" y="0"/>
                </a:lnTo>
                <a:cubicBezTo>
                  <a:pt x="83321" y="0"/>
                  <a:pt x="89021" y="5700"/>
                  <a:pt x="89021" y="12717"/>
                </a:cubicBezTo>
                <a:close/>
              </a:path>
            </a:pathLst>
          </a:custGeom>
          <a:solidFill>
            <a:srgbClr val="1A1D2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737315" y="4709035"/>
            <a:ext cx="4983106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AI模型推理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37315" y="4908360"/>
            <a:ext cx="4974801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ResNet50实时分类，返回结果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959859" y="5174125"/>
            <a:ext cx="112120" cy="149493"/>
          </a:xfrm>
          <a:custGeom>
            <a:avLst/>
            <a:gdLst/>
            <a:ahLst/>
            <a:cxnLst/>
            <a:rect l="l" t="t" r="r" b="b"/>
            <a:pathLst>
              <a:path w="112120" h="149493">
                <a:moveTo>
                  <a:pt x="49461" y="146749"/>
                </a:moveTo>
                <a:cubicBezTo>
                  <a:pt x="53111" y="150398"/>
                  <a:pt x="59038" y="150398"/>
                  <a:pt x="62688" y="146749"/>
                </a:cubicBezTo>
                <a:lnTo>
                  <a:pt x="109404" y="100032"/>
                </a:lnTo>
                <a:cubicBezTo>
                  <a:pt x="113054" y="96382"/>
                  <a:pt x="113054" y="90455"/>
                  <a:pt x="109404" y="86805"/>
                </a:cubicBezTo>
                <a:cubicBezTo>
                  <a:pt x="105755" y="83156"/>
                  <a:pt x="99828" y="83156"/>
                  <a:pt x="96178" y="86805"/>
                </a:cubicBezTo>
                <a:lnTo>
                  <a:pt x="65403" y="117580"/>
                </a:lnTo>
                <a:lnTo>
                  <a:pt x="65403" y="9343"/>
                </a:lnTo>
                <a:cubicBezTo>
                  <a:pt x="65403" y="4175"/>
                  <a:pt x="61228" y="0"/>
                  <a:pt x="56060" y="0"/>
                </a:cubicBezTo>
                <a:cubicBezTo>
                  <a:pt x="50892" y="0"/>
                  <a:pt x="46717" y="4175"/>
                  <a:pt x="46717" y="9343"/>
                </a:cubicBezTo>
                <a:lnTo>
                  <a:pt x="46717" y="117580"/>
                </a:lnTo>
                <a:lnTo>
                  <a:pt x="15942" y="86805"/>
                </a:lnTo>
                <a:cubicBezTo>
                  <a:pt x="12292" y="83156"/>
                  <a:pt x="6365" y="83156"/>
                  <a:pt x="2715" y="86805"/>
                </a:cubicBezTo>
                <a:cubicBezTo>
                  <a:pt x="-934" y="90455"/>
                  <a:pt x="-934" y="96382"/>
                  <a:pt x="2715" y="100032"/>
                </a:cubicBezTo>
                <a:lnTo>
                  <a:pt x="49432" y="146749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6371888" y="5473112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6448710" y="5547858"/>
            <a:ext cx="116272" cy="116272"/>
          </a:xfrm>
          <a:custGeom>
            <a:avLst/>
            <a:gdLst/>
            <a:ahLst/>
            <a:cxnLst/>
            <a:rect l="l" t="t" r="r" b="b"/>
            <a:pathLst>
              <a:path w="116272" h="116272">
                <a:moveTo>
                  <a:pt x="7267" y="7267"/>
                </a:moveTo>
                <a:cubicBezTo>
                  <a:pt x="11287" y="7267"/>
                  <a:pt x="14534" y="10514"/>
                  <a:pt x="14534" y="14534"/>
                </a:cubicBezTo>
                <a:lnTo>
                  <a:pt x="14534" y="90838"/>
                </a:lnTo>
                <a:cubicBezTo>
                  <a:pt x="14534" y="92836"/>
                  <a:pt x="16169" y="94471"/>
                  <a:pt x="18168" y="94471"/>
                </a:cubicBezTo>
                <a:lnTo>
                  <a:pt x="109005" y="94471"/>
                </a:lnTo>
                <a:cubicBezTo>
                  <a:pt x="113025" y="94471"/>
                  <a:pt x="116272" y="97719"/>
                  <a:pt x="116272" y="101738"/>
                </a:cubicBezTo>
                <a:cubicBezTo>
                  <a:pt x="116272" y="105758"/>
                  <a:pt x="113025" y="109005"/>
                  <a:pt x="109005" y="109005"/>
                </a:cubicBezTo>
                <a:lnTo>
                  <a:pt x="18168" y="109005"/>
                </a:lnTo>
                <a:cubicBezTo>
                  <a:pt x="8130" y="109005"/>
                  <a:pt x="0" y="100875"/>
                  <a:pt x="0" y="90838"/>
                </a:cubicBezTo>
                <a:lnTo>
                  <a:pt x="0" y="14534"/>
                </a:lnTo>
                <a:cubicBezTo>
                  <a:pt x="0" y="10514"/>
                  <a:pt x="3247" y="7267"/>
                  <a:pt x="7267" y="7267"/>
                </a:cubicBezTo>
                <a:close/>
                <a:moveTo>
                  <a:pt x="29068" y="21801"/>
                </a:moveTo>
                <a:cubicBezTo>
                  <a:pt x="29068" y="17782"/>
                  <a:pt x="32316" y="14534"/>
                  <a:pt x="36335" y="14534"/>
                </a:cubicBezTo>
                <a:lnTo>
                  <a:pt x="79937" y="14534"/>
                </a:lnTo>
                <a:cubicBezTo>
                  <a:pt x="83957" y="14534"/>
                  <a:pt x="87204" y="17782"/>
                  <a:pt x="87204" y="21801"/>
                </a:cubicBezTo>
                <a:cubicBezTo>
                  <a:pt x="87204" y="25821"/>
                  <a:pt x="83957" y="29068"/>
                  <a:pt x="79937" y="29068"/>
                </a:cubicBezTo>
                <a:lnTo>
                  <a:pt x="36335" y="29068"/>
                </a:lnTo>
                <a:cubicBezTo>
                  <a:pt x="32316" y="29068"/>
                  <a:pt x="29068" y="25821"/>
                  <a:pt x="29068" y="21801"/>
                </a:cubicBezTo>
                <a:close/>
                <a:moveTo>
                  <a:pt x="36335" y="39969"/>
                </a:moveTo>
                <a:lnTo>
                  <a:pt x="65403" y="39969"/>
                </a:lnTo>
                <a:cubicBezTo>
                  <a:pt x="69423" y="39969"/>
                  <a:pt x="72670" y="43216"/>
                  <a:pt x="72670" y="47236"/>
                </a:cubicBezTo>
                <a:cubicBezTo>
                  <a:pt x="72670" y="51255"/>
                  <a:pt x="69423" y="54503"/>
                  <a:pt x="65403" y="54503"/>
                </a:cubicBezTo>
                <a:lnTo>
                  <a:pt x="36335" y="54503"/>
                </a:lnTo>
                <a:cubicBezTo>
                  <a:pt x="32316" y="54503"/>
                  <a:pt x="29068" y="51255"/>
                  <a:pt x="29068" y="47236"/>
                </a:cubicBezTo>
                <a:cubicBezTo>
                  <a:pt x="29068" y="43216"/>
                  <a:pt x="32316" y="39969"/>
                  <a:pt x="36335" y="39969"/>
                </a:cubicBezTo>
                <a:close/>
                <a:moveTo>
                  <a:pt x="36335" y="65403"/>
                </a:moveTo>
                <a:lnTo>
                  <a:pt x="94471" y="65403"/>
                </a:lnTo>
                <a:cubicBezTo>
                  <a:pt x="98491" y="65403"/>
                  <a:pt x="101738" y="68651"/>
                  <a:pt x="101738" y="72670"/>
                </a:cubicBezTo>
                <a:cubicBezTo>
                  <a:pt x="101738" y="76690"/>
                  <a:pt x="98491" y="79937"/>
                  <a:pt x="94471" y="79937"/>
                </a:cubicBezTo>
                <a:lnTo>
                  <a:pt x="36335" y="79937"/>
                </a:lnTo>
                <a:cubicBezTo>
                  <a:pt x="32316" y="79937"/>
                  <a:pt x="29068" y="76690"/>
                  <a:pt x="29068" y="72670"/>
                </a:cubicBezTo>
                <a:cubicBezTo>
                  <a:pt x="29068" y="68651"/>
                  <a:pt x="32316" y="65403"/>
                  <a:pt x="36335" y="65403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6737315" y="5423281"/>
            <a:ext cx="4983106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展示诊断结果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737315" y="5622605"/>
            <a:ext cx="4974801" cy="166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 err="1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类别、置信度</a:t>
            </a:r>
            <a:r>
              <a:rPr lang="en-US" sz="91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91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链接豆包</a:t>
            </a:r>
            <a:r>
              <a:rPr lang="en-US" altLang="zh-CN" sz="91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91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大模型，给出建议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32207" y="6096000"/>
            <a:ext cx="11527586" cy="431869"/>
          </a:xfrm>
          <a:custGeom>
            <a:avLst/>
            <a:gdLst/>
            <a:ahLst/>
            <a:cxnLst/>
            <a:rect l="l" t="t" r="r" b="b"/>
            <a:pathLst>
              <a:path w="11527586" h="431869">
                <a:moveTo>
                  <a:pt x="66443" y="0"/>
                </a:moveTo>
                <a:lnTo>
                  <a:pt x="11461143" y="0"/>
                </a:lnTo>
                <a:cubicBezTo>
                  <a:pt x="11497838" y="0"/>
                  <a:pt x="11527586" y="29748"/>
                  <a:pt x="11527586" y="66443"/>
                </a:cubicBezTo>
                <a:lnTo>
                  <a:pt x="11527586" y="365426"/>
                </a:lnTo>
                <a:cubicBezTo>
                  <a:pt x="11527586" y="402122"/>
                  <a:pt x="11497838" y="431869"/>
                  <a:pt x="11461143" y="431869"/>
                </a:cubicBezTo>
                <a:lnTo>
                  <a:pt x="66443" y="431869"/>
                </a:lnTo>
                <a:cubicBezTo>
                  <a:pt x="29748" y="431869"/>
                  <a:pt x="0" y="402122"/>
                  <a:pt x="0" y="365426"/>
                </a:cubicBezTo>
                <a:lnTo>
                  <a:pt x="0" y="66443"/>
                </a:lnTo>
                <a:cubicBezTo>
                  <a:pt x="0" y="29772"/>
                  <a:pt x="29772" y="0"/>
                  <a:pt x="66443" y="0"/>
                </a:cubicBezTo>
                <a:close/>
              </a:path>
            </a:pathLst>
          </a:custGeom>
          <a:solidFill>
            <a:srgbClr val="6C7A89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431869" y="6212272"/>
            <a:ext cx="249155" cy="199324"/>
          </a:xfrm>
          <a:custGeom>
            <a:avLst/>
            <a:gdLst/>
            <a:ahLst/>
            <a:cxnLst/>
            <a:rect l="l" t="t" r="r" b="b"/>
            <a:pathLst>
              <a:path w="249155" h="199324">
                <a:moveTo>
                  <a:pt x="24916" y="37373"/>
                </a:moveTo>
                <a:cubicBezTo>
                  <a:pt x="24916" y="23631"/>
                  <a:pt x="36089" y="12458"/>
                  <a:pt x="49831" y="12458"/>
                </a:cubicBezTo>
                <a:lnTo>
                  <a:pt x="199324" y="12458"/>
                </a:lnTo>
                <a:cubicBezTo>
                  <a:pt x="213067" y="12458"/>
                  <a:pt x="224240" y="23631"/>
                  <a:pt x="224240" y="37373"/>
                </a:cubicBezTo>
                <a:lnTo>
                  <a:pt x="224240" y="130807"/>
                </a:lnTo>
                <a:lnTo>
                  <a:pt x="199324" y="130807"/>
                </a:lnTo>
                <a:lnTo>
                  <a:pt x="199324" y="37373"/>
                </a:lnTo>
                <a:lnTo>
                  <a:pt x="49831" y="37373"/>
                </a:lnTo>
                <a:lnTo>
                  <a:pt x="49831" y="130807"/>
                </a:lnTo>
                <a:lnTo>
                  <a:pt x="24916" y="130807"/>
                </a:lnTo>
                <a:lnTo>
                  <a:pt x="24916" y="37373"/>
                </a:lnTo>
                <a:close/>
                <a:moveTo>
                  <a:pt x="0" y="156968"/>
                </a:moveTo>
                <a:cubicBezTo>
                  <a:pt x="0" y="152841"/>
                  <a:pt x="3348" y="149493"/>
                  <a:pt x="7475" y="149493"/>
                </a:cubicBezTo>
                <a:lnTo>
                  <a:pt x="241681" y="149493"/>
                </a:lnTo>
                <a:cubicBezTo>
                  <a:pt x="245807" y="149493"/>
                  <a:pt x="249155" y="152841"/>
                  <a:pt x="249155" y="156968"/>
                </a:cubicBezTo>
                <a:cubicBezTo>
                  <a:pt x="249155" y="173474"/>
                  <a:pt x="235763" y="186866"/>
                  <a:pt x="219257" y="186866"/>
                </a:cubicBezTo>
                <a:lnTo>
                  <a:pt x="29899" y="186866"/>
                </a:lnTo>
                <a:cubicBezTo>
                  <a:pt x="13392" y="186866"/>
                  <a:pt x="0" y="173474"/>
                  <a:pt x="0" y="156968"/>
                </a:cubicBezTo>
                <a:close/>
                <a:moveTo>
                  <a:pt x="109395" y="81365"/>
                </a:moveTo>
                <a:lnTo>
                  <a:pt x="97326" y="93433"/>
                </a:lnTo>
                <a:lnTo>
                  <a:pt x="109395" y="105502"/>
                </a:lnTo>
                <a:cubicBezTo>
                  <a:pt x="113054" y="109161"/>
                  <a:pt x="113054" y="115079"/>
                  <a:pt x="109395" y="118699"/>
                </a:cubicBezTo>
                <a:cubicBezTo>
                  <a:pt x="105735" y="122320"/>
                  <a:pt x="99818" y="122359"/>
                  <a:pt x="96197" y="118699"/>
                </a:cubicBezTo>
                <a:lnTo>
                  <a:pt x="77511" y="100012"/>
                </a:lnTo>
                <a:cubicBezTo>
                  <a:pt x="73851" y="96353"/>
                  <a:pt x="73851" y="90436"/>
                  <a:pt x="77511" y="86815"/>
                </a:cubicBezTo>
                <a:lnTo>
                  <a:pt x="96197" y="68128"/>
                </a:lnTo>
                <a:cubicBezTo>
                  <a:pt x="99857" y="64469"/>
                  <a:pt x="105774" y="64469"/>
                  <a:pt x="109395" y="68128"/>
                </a:cubicBezTo>
                <a:cubicBezTo>
                  <a:pt x="113015" y="71788"/>
                  <a:pt x="113054" y="77705"/>
                  <a:pt x="109395" y="81326"/>
                </a:cubicBezTo>
                <a:close/>
                <a:moveTo>
                  <a:pt x="152997" y="68128"/>
                </a:moveTo>
                <a:lnTo>
                  <a:pt x="171684" y="86815"/>
                </a:lnTo>
                <a:cubicBezTo>
                  <a:pt x="175343" y="90475"/>
                  <a:pt x="175343" y="96392"/>
                  <a:pt x="171684" y="100012"/>
                </a:cubicBezTo>
                <a:lnTo>
                  <a:pt x="152997" y="118699"/>
                </a:lnTo>
                <a:cubicBezTo>
                  <a:pt x="149337" y="122359"/>
                  <a:pt x="143420" y="122359"/>
                  <a:pt x="139799" y="118699"/>
                </a:cubicBezTo>
                <a:cubicBezTo>
                  <a:pt x="136179" y="115040"/>
                  <a:pt x="136140" y="109122"/>
                  <a:pt x="139799" y="105502"/>
                </a:cubicBezTo>
                <a:lnTo>
                  <a:pt x="151868" y="93433"/>
                </a:lnTo>
                <a:lnTo>
                  <a:pt x="139799" y="81365"/>
                </a:lnTo>
                <a:cubicBezTo>
                  <a:pt x="136140" y="77705"/>
                  <a:pt x="136140" y="71788"/>
                  <a:pt x="139799" y="68167"/>
                </a:cubicBezTo>
                <a:cubicBezTo>
                  <a:pt x="143459" y="64547"/>
                  <a:pt x="149376" y="64508"/>
                  <a:pt x="152997" y="6816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780687" y="6212272"/>
            <a:ext cx="2773929" cy="1993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技术实现：</a:t>
            </a:r>
            <a:r>
              <a:rPr lang="en-US" sz="1045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前后端分离架构，RESTful API通信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933446" y="6195662"/>
            <a:ext cx="780687" cy="232545"/>
          </a:xfrm>
          <a:custGeom>
            <a:avLst/>
            <a:gdLst/>
            <a:ahLst/>
            <a:cxnLst/>
            <a:rect l="l" t="t" r="r" b="b"/>
            <a:pathLst>
              <a:path w="780687" h="232545">
                <a:moveTo>
                  <a:pt x="116272" y="0"/>
                </a:moveTo>
                <a:lnTo>
                  <a:pt x="664414" y="0"/>
                </a:lnTo>
                <a:cubicBezTo>
                  <a:pt x="728630" y="0"/>
                  <a:pt x="780687" y="52057"/>
                  <a:pt x="780687" y="116272"/>
                </a:cubicBezTo>
                <a:lnTo>
                  <a:pt x="780687" y="116272"/>
                </a:lnTo>
                <a:cubicBezTo>
                  <a:pt x="780687" y="180488"/>
                  <a:pt x="728630" y="232545"/>
                  <a:pt x="664414" y="232545"/>
                </a:cubicBezTo>
                <a:lnTo>
                  <a:pt x="116272" y="232545"/>
                </a:lnTo>
                <a:cubicBezTo>
                  <a:pt x="52057" y="232545"/>
                  <a:pt x="0" y="180488"/>
                  <a:pt x="0" y="116272"/>
                </a:cubicBezTo>
                <a:lnTo>
                  <a:pt x="0" y="116272"/>
                </a:lnTo>
                <a:cubicBezTo>
                  <a:pt x="0" y="52057"/>
                  <a:pt x="52057" y="0"/>
                  <a:pt x="116272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9933446" y="6195662"/>
            <a:ext cx="838823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RESTful API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777135" y="6195662"/>
            <a:ext cx="465090" cy="232545"/>
          </a:xfrm>
          <a:custGeom>
            <a:avLst/>
            <a:gdLst/>
            <a:ahLst/>
            <a:cxnLst/>
            <a:rect l="l" t="t" r="r" b="b"/>
            <a:pathLst>
              <a:path w="465090" h="232545">
                <a:moveTo>
                  <a:pt x="116272" y="0"/>
                </a:moveTo>
                <a:lnTo>
                  <a:pt x="348817" y="0"/>
                </a:lnTo>
                <a:cubicBezTo>
                  <a:pt x="413033" y="0"/>
                  <a:pt x="465090" y="52057"/>
                  <a:pt x="465090" y="116272"/>
                </a:cubicBezTo>
                <a:lnTo>
                  <a:pt x="465090" y="116272"/>
                </a:lnTo>
                <a:cubicBezTo>
                  <a:pt x="465090" y="180488"/>
                  <a:pt x="413033" y="232545"/>
                  <a:pt x="348817" y="232545"/>
                </a:cubicBezTo>
                <a:lnTo>
                  <a:pt x="116272" y="232545"/>
                </a:lnTo>
                <a:cubicBezTo>
                  <a:pt x="52057" y="232545"/>
                  <a:pt x="0" y="180488"/>
                  <a:pt x="0" y="116272"/>
                </a:cubicBezTo>
                <a:lnTo>
                  <a:pt x="0" y="116272"/>
                </a:lnTo>
                <a:cubicBezTo>
                  <a:pt x="0" y="52057"/>
                  <a:pt x="52057" y="0"/>
                  <a:pt x="116272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0777135" y="6195662"/>
            <a:ext cx="523226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JSON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1308407" y="6195662"/>
            <a:ext cx="456785" cy="232545"/>
          </a:xfrm>
          <a:custGeom>
            <a:avLst/>
            <a:gdLst/>
            <a:ahLst/>
            <a:cxnLst/>
            <a:rect l="l" t="t" r="r" b="b"/>
            <a:pathLst>
              <a:path w="456785" h="232545">
                <a:moveTo>
                  <a:pt x="116272" y="0"/>
                </a:moveTo>
                <a:lnTo>
                  <a:pt x="340512" y="0"/>
                </a:lnTo>
                <a:cubicBezTo>
                  <a:pt x="404728" y="0"/>
                  <a:pt x="456785" y="52057"/>
                  <a:pt x="456785" y="116272"/>
                </a:cubicBezTo>
                <a:lnTo>
                  <a:pt x="456785" y="116272"/>
                </a:lnTo>
                <a:cubicBezTo>
                  <a:pt x="456785" y="180488"/>
                  <a:pt x="404728" y="232545"/>
                  <a:pt x="340512" y="232545"/>
                </a:cubicBezTo>
                <a:lnTo>
                  <a:pt x="116272" y="232545"/>
                </a:lnTo>
                <a:cubicBezTo>
                  <a:pt x="52057" y="232545"/>
                  <a:pt x="0" y="180488"/>
                  <a:pt x="0" y="116272"/>
                </a:cubicBezTo>
                <a:lnTo>
                  <a:pt x="0" y="116272"/>
                </a:lnTo>
                <a:cubicBezTo>
                  <a:pt x="0" y="52057"/>
                  <a:pt x="52057" y="0"/>
                  <a:pt x="116272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1308407" y="6195662"/>
            <a:ext cx="514921" cy="232545"/>
          </a:xfrm>
          <a:prstGeom prst="rect">
            <a:avLst/>
          </a:prstGeom>
          <a:noFill/>
        </p:spPr>
        <p:txBody>
          <a:bodyPr wrap="square" lIns="99662" tIns="33221" rIns="99662" bIns="33221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AJAX</a:t>
            </a:r>
            <a:endParaRPr lang="en-US" sz="1600" dirty="0"/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185" y="481965"/>
            <a:ext cx="2766695" cy="53765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3437" y="497983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68689" y="0"/>
                </a:moveTo>
                <a:lnTo>
                  <a:pt x="412123" y="0"/>
                </a:lnTo>
                <a:cubicBezTo>
                  <a:pt x="450033" y="0"/>
                  <a:pt x="480811" y="30778"/>
                  <a:pt x="480811" y="68689"/>
                </a:cubicBezTo>
                <a:lnTo>
                  <a:pt x="480811" y="412123"/>
                </a:lnTo>
                <a:cubicBezTo>
                  <a:pt x="480811" y="450033"/>
                  <a:pt x="450033" y="480811"/>
                  <a:pt x="412123" y="480811"/>
                </a:cubicBezTo>
                <a:lnTo>
                  <a:pt x="68689" y="480811"/>
                </a:lnTo>
                <a:cubicBezTo>
                  <a:pt x="30778" y="480811"/>
                  <a:pt x="0" y="450033"/>
                  <a:pt x="0" y="412123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6569" y="635358"/>
            <a:ext cx="154546" cy="206062"/>
          </a:xfrm>
          <a:custGeom>
            <a:avLst/>
            <a:gdLst/>
            <a:ahLst/>
            <a:cxnLst/>
            <a:rect l="l" t="t" r="r" b="b"/>
            <a:pathLst>
              <a:path w="154546" h="206062">
                <a:moveTo>
                  <a:pt x="6439" y="25758"/>
                </a:moveTo>
                <a:cubicBezTo>
                  <a:pt x="6439" y="11551"/>
                  <a:pt x="17990" y="0"/>
                  <a:pt x="32197" y="0"/>
                </a:cubicBezTo>
                <a:lnTo>
                  <a:pt x="122349" y="0"/>
                </a:lnTo>
                <a:cubicBezTo>
                  <a:pt x="136556" y="0"/>
                  <a:pt x="148107" y="11551"/>
                  <a:pt x="148107" y="25758"/>
                </a:cubicBezTo>
                <a:lnTo>
                  <a:pt x="148107" y="180304"/>
                </a:lnTo>
                <a:cubicBezTo>
                  <a:pt x="148107" y="194511"/>
                  <a:pt x="136556" y="206062"/>
                  <a:pt x="122349" y="206062"/>
                </a:cubicBezTo>
                <a:lnTo>
                  <a:pt x="32197" y="206062"/>
                </a:lnTo>
                <a:cubicBezTo>
                  <a:pt x="17990" y="206062"/>
                  <a:pt x="6439" y="194511"/>
                  <a:pt x="6439" y="180304"/>
                </a:cubicBezTo>
                <a:lnTo>
                  <a:pt x="6439" y="25758"/>
                </a:lnTo>
                <a:close/>
                <a:moveTo>
                  <a:pt x="32197" y="25758"/>
                </a:moveTo>
                <a:lnTo>
                  <a:pt x="32197" y="148107"/>
                </a:lnTo>
                <a:lnTo>
                  <a:pt x="122349" y="148107"/>
                </a:lnTo>
                <a:lnTo>
                  <a:pt x="122349" y="25758"/>
                </a:lnTo>
                <a:lnTo>
                  <a:pt x="32197" y="25758"/>
                </a:lnTo>
                <a:close/>
                <a:moveTo>
                  <a:pt x="77273" y="189963"/>
                </a:moveTo>
                <a:cubicBezTo>
                  <a:pt x="84397" y="189963"/>
                  <a:pt x="90152" y="184208"/>
                  <a:pt x="90152" y="177085"/>
                </a:cubicBezTo>
                <a:cubicBezTo>
                  <a:pt x="90152" y="169961"/>
                  <a:pt x="84397" y="164206"/>
                  <a:pt x="77273" y="164206"/>
                </a:cubicBezTo>
                <a:cubicBezTo>
                  <a:pt x="70150" y="164206"/>
                  <a:pt x="64394" y="169961"/>
                  <a:pt x="64394" y="177085"/>
                </a:cubicBezTo>
                <a:cubicBezTo>
                  <a:pt x="64394" y="184208"/>
                  <a:pt x="70150" y="189963"/>
                  <a:pt x="77273" y="189963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61623" y="343437"/>
            <a:ext cx="2266682" cy="4121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5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安卓端实现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1623" y="789904"/>
            <a:ext cx="2146479" cy="2404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Android Application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1623" y="1098997"/>
            <a:ext cx="1098997" cy="34344"/>
          </a:xfrm>
          <a:custGeom>
            <a:avLst/>
            <a:gdLst/>
            <a:ahLst/>
            <a:cxnLst/>
            <a:rect l="l" t="t" r="r" b="b"/>
            <a:pathLst>
              <a:path w="1098997" h="34344">
                <a:moveTo>
                  <a:pt x="0" y="0"/>
                </a:moveTo>
                <a:lnTo>
                  <a:pt x="1098997" y="0"/>
                </a:lnTo>
                <a:lnTo>
                  <a:pt x="1098997" y="34344"/>
                </a:lnTo>
                <a:lnTo>
                  <a:pt x="0" y="34344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60608" y="1236372"/>
            <a:ext cx="5683876" cy="2962141"/>
          </a:xfrm>
          <a:custGeom>
            <a:avLst/>
            <a:gdLst/>
            <a:ahLst/>
            <a:cxnLst/>
            <a:rect l="l" t="t" r="r" b="b"/>
            <a:pathLst>
              <a:path w="5683876" h="2962141">
                <a:moveTo>
                  <a:pt x="34344" y="0"/>
                </a:moveTo>
                <a:lnTo>
                  <a:pt x="5615184" y="0"/>
                </a:lnTo>
                <a:cubicBezTo>
                  <a:pt x="5653122" y="0"/>
                  <a:pt x="5683876" y="30754"/>
                  <a:pt x="5683876" y="68692"/>
                </a:cubicBezTo>
                <a:lnTo>
                  <a:pt x="5683876" y="2893449"/>
                </a:lnTo>
                <a:cubicBezTo>
                  <a:pt x="5683876" y="2931386"/>
                  <a:pt x="5653122" y="2962141"/>
                  <a:pt x="5615184" y="2962141"/>
                </a:cubicBezTo>
                <a:lnTo>
                  <a:pt x="34344" y="2962141"/>
                </a:lnTo>
                <a:cubicBezTo>
                  <a:pt x="15376" y="2962141"/>
                  <a:pt x="0" y="2946765"/>
                  <a:pt x="0" y="2927797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0608" y="1236372"/>
            <a:ext cx="34344" cy="2962141"/>
          </a:xfrm>
          <a:custGeom>
            <a:avLst/>
            <a:gdLst/>
            <a:ahLst/>
            <a:cxnLst/>
            <a:rect l="l" t="t" r="r" b="b"/>
            <a:pathLst>
              <a:path w="34344" h="2962141">
                <a:moveTo>
                  <a:pt x="34344" y="0"/>
                </a:moveTo>
                <a:lnTo>
                  <a:pt x="34344" y="0"/>
                </a:lnTo>
                <a:lnTo>
                  <a:pt x="34344" y="2962141"/>
                </a:lnTo>
                <a:lnTo>
                  <a:pt x="34344" y="2962141"/>
                </a:lnTo>
                <a:cubicBezTo>
                  <a:pt x="15376" y="2962141"/>
                  <a:pt x="0" y="2946765"/>
                  <a:pt x="0" y="2927797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9448" y="1373746"/>
            <a:ext cx="180304" cy="206062"/>
          </a:xfrm>
          <a:custGeom>
            <a:avLst/>
            <a:gdLst/>
            <a:ahLst/>
            <a:cxnLst/>
            <a:rect l="l" t="t" r="r" b="b"/>
            <a:pathLst>
              <a:path w="180304" h="206062">
                <a:moveTo>
                  <a:pt x="154546" y="38637"/>
                </a:moveTo>
                <a:lnTo>
                  <a:pt x="103031" y="38637"/>
                </a:lnTo>
                <a:lnTo>
                  <a:pt x="103031" y="90152"/>
                </a:lnTo>
                <a:lnTo>
                  <a:pt x="154546" y="90152"/>
                </a:lnTo>
                <a:lnTo>
                  <a:pt x="154546" y="38637"/>
                </a:lnTo>
                <a:close/>
                <a:moveTo>
                  <a:pt x="180304" y="90152"/>
                </a:moveTo>
                <a:lnTo>
                  <a:pt x="180304" y="167425"/>
                </a:lnTo>
                <a:cubicBezTo>
                  <a:pt x="180304" y="181632"/>
                  <a:pt x="168753" y="193183"/>
                  <a:pt x="154546" y="193183"/>
                </a:cubicBezTo>
                <a:lnTo>
                  <a:pt x="25758" y="193183"/>
                </a:lnTo>
                <a:cubicBezTo>
                  <a:pt x="11551" y="193183"/>
                  <a:pt x="0" y="181632"/>
                  <a:pt x="0" y="167425"/>
                </a:cubicBezTo>
                <a:lnTo>
                  <a:pt x="0" y="38637"/>
                </a:lnTo>
                <a:cubicBezTo>
                  <a:pt x="0" y="24430"/>
                  <a:pt x="11551" y="12879"/>
                  <a:pt x="25758" y="12879"/>
                </a:cubicBezTo>
                <a:lnTo>
                  <a:pt x="154546" y="12879"/>
                </a:lnTo>
                <a:cubicBezTo>
                  <a:pt x="168753" y="12879"/>
                  <a:pt x="180304" y="24430"/>
                  <a:pt x="180304" y="38637"/>
                </a:cubicBezTo>
                <a:lnTo>
                  <a:pt x="180304" y="90152"/>
                </a:lnTo>
                <a:close/>
                <a:moveTo>
                  <a:pt x="25758" y="115910"/>
                </a:moveTo>
                <a:lnTo>
                  <a:pt x="25758" y="167425"/>
                </a:lnTo>
                <a:lnTo>
                  <a:pt x="77273" y="167425"/>
                </a:lnTo>
                <a:lnTo>
                  <a:pt x="77273" y="115910"/>
                </a:lnTo>
                <a:lnTo>
                  <a:pt x="25758" y="115910"/>
                </a:lnTo>
                <a:close/>
                <a:moveTo>
                  <a:pt x="77273" y="90152"/>
                </a:moveTo>
                <a:lnTo>
                  <a:pt x="77273" y="38637"/>
                </a:lnTo>
                <a:lnTo>
                  <a:pt x="25758" y="38637"/>
                </a:lnTo>
                <a:lnTo>
                  <a:pt x="25758" y="90152"/>
                </a:lnTo>
                <a:lnTo>
                  <a:pt x="77273" y="90152"/>
                </a:lnTo>
                <a:close/>
                <a:moveTo>
                  <a:pt x="103031" y="115910"/>
                </a:moveTo>
                <a:lnTo>
                  <a:pt x="103031" y="167425"/>
                </a:lnTo>
                <a:lnTo>
                  <a:pt x="154546" y="167425"/>
                </a:lnTo>
                <a:lnTo>
                  <a:pt x="154546" y="115910"/>
                </a:lnTo>
                <a:lnTo>
                  <a:pt x="103031" y="11591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8389" y="1339403"/>
            <a:ext cx="5306096" cy="27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5104" y="1721476"/>
            <a:ext cx="2687392" cy="738389"/>
          </a:xfrm>
          <a:custGeom>
            <a:avLst/>
            <a:gdLst/>
            <a:ahLst/>
            <a:cxnLst/>
            <a:rect l="l" t="t" r="r" b="b"/>
            <a:pathLst>
              <a:path w="2687392" h="738389">
                <a:moveTo>
                  <a:pt x="68685" y="0"/>
                </a:moveTo>
                <a:lnTo>
                  <a:pt x="2618707" y="0"/>
                </a:lnTo>
                <a:cubicBezTo>
                  <a:pt x="2656640" y="0"/>
                  <a:pt x="2687392" y="30751"/>
                  <a:pt x="2687392" y="68685"/>
                </a:cubicBezTo>
                <a:lnTo>
                  <a:pt x="2687392" y="669704"/>
                </a:lnTo>
                <a:cubicBezTo>
                  <a:pt x="2687392" y="707637"/>
                  <a:pt x="2656640" y="738389"/>
                  <a:pt x="2618707" y="738389"/>
                </a:cubicBezTo>
                <a:lnTo>
                  <a:pt x="68685" y="738389"/>
                </a:lnTo>
                <a:cubicBezTo>
                  <a:pt x="30751" y="738389"/>
                  <a:pt x="0" y="707637"/>
                  <a:pt x="0" y="669704"/>
                </a:cubicBezTo>
                <a:lnTo>
                  <a:pt x="0" y="68685"/>
                </a:lnTo>
                <a:cubicBezTo>
                  <a:pt x="0" y="30777"/>
                  <a:pt x="30777" y="0"/>
                  <a:pt x="686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92428" y="1828800"/>
            <a:ext cx="274749" cy="274749"/>
          </a:xfrm>
          <a:custGeom>
            <a:avLst/>
            <a:gdLst/>
            <a:ahLst/>
            <a:cxnLst/>
            <a:rect l="l" t="t" r="r" b="b"/>
            <a:pathLst>
              <a:path w="274749" h="274749">
                <a:moveTo>
                  <a:pt x="137375" y="0"/>
                </a:moveTo>
                <a:lnTo>
                  <a:pt x="137375" y="0"/>
                </a:lnTo>
                <a:cubicBezTo>
                  <a:pt x="213245" y="0"/>
                  <a:pt x="274749" y="61505"/>
                  <a:pt x="274749" y="137375"/>
                </a:cubicBezTo>
                <a:lnTo>
                  <a:pt x="274749" y="137375"/>
                </a:lnTo>
                <a:cubicBezTo>
                  <a:pt x="274749" y="213245"/>
                  <a:pt x="213245" y="274749"/>
                  <a:pt x="137375" y="274749"/>
                </a:cubicBezTo>
                <a:lnTo>
                  <a:pt x="137375" y="274749"/>
                </a:lnTo>
                <a:cubicBezTo>
                  <a:pt x="61505" y="274749"/>
                  <a:pt x="0" y="213245"/>
                  <a:pt x="0" y="137375"/>
                </a:cubicBezTo>
                <a:lnTo>
                  <a:pt x="0" y="137375"/>
                </a:lnTo>
                <a:cubicBezTo>
                  <a:pt x="0" y="61505"/>
                  <a:pt x="61505" y="0"/>
                  <a:pt x="137375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67354" y="1880315"/>
            <a:ext cx="188890" cy="171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5865" y="1863144"/>
            <a:ext cx="669701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登录/注册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2428" y="2172237"/>
            <a:ext cx="2532845" cy="180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用户身份验证，支持邮箱/手机号注册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50708" y="1721476"/>
            <a:ext cx="2687392" cy="738389"/>
          </a:xfrm>
          <a:custGeom>
            <a:avLst/>
            <a:gdLst/>
            <a:ahLst/>
            <a:cxnLst/>
            <a:rect l="l" t="t" r="r" b="b"/>
            <a:pathLst>
              <a:path w="2687392" h="738389">
                <a:moveTo>
                  <a:pt x="68685" y="0"/>
                </a:moveTo>
                <a:lnTo>
                  <a:pt x="2618707" y="0"/>
                </a:lnTo>
                <a:cubicBezTo>
                  <a:pt x="2656640" y="0"/>
                  <a:pt x="2687392" y="30751"/>
                  <a:pt x="2687392" y="68685"/>
                </a:cubicBezTo>
                <a:lnTo>
                  <a:pt x="2687392" y="669704"/>
                </a:lnTo>
                <a:cubicBezTo>
                  <a:pt x="2687392" y="707637"/>
                  <a:pt x="2656640" y="738389"/>
                  <a:pt x="2618707" y="738389"/>
                </a:cubicBezTo>
                <a:lnTo>
                  <a:pt x="68685" y="738389"/>
                </a:lnTo>
                <a:cubicBezTo>
                  <a:pt x="30751" y="738389"/>
                  <a:pt x="0" y="707637"/>
                  <a:pt x="0" y="669704"/>
                </a:cubicBezTo>
                <a:lnTo>
                  <a:pt x="0" y="68685"/>
                </a:lnTo>
                <a:cubicBezTo>
                  <a:pt x="0" y="30777"/>
                  <a:pt x="30777" y="0"/>
                  <a:pt x="686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358032" y="1828800"/>
            <a:ext cx="274749" cy="274749"/>
          </a:xfrm>
          <a:custGeom>
            <a:avLst/>
            <a:gdLst/>
            <a:ahLst/>
            <a:cxnLst/>
            <a:rect l="l" t="t" r="r" b="b"/>
            <a:pathLst>
              <a:path w="274749" h="274749">
                <a:moveTo>
                  <a:pt x="137375" y="0"/>
                </a:moveTo>
                <a:lnTo>
                  <a:pt x="137375" y="0"/>
                </a:lnTo>
                <a:cubicBezTo>
                  <a:pt x="213245" y="0"/>
                  <a:pt x="274749" y="61505"/>
                  <a:pt x="274749" y="137375"/>
                </a:cubicBezTo>
                <a:lnTo>
                  <a:pt x="274749" y="137375"/>
                </a:lnTo>
                <a:cubicBezTo>
                  <a:pt x="274749" y="213245"/>
                  <a:pt x="213245" y="274749"/>
                  <a:pt x="137375" y="274749"/>
                </a:cubicBezTo>
                <a:lnTo>
                  <a:pt x="137375" y="274749"/>
                </a:lnTo>
                <a:cubicBezTo>
                  <a:pt x="61505" y="274749"/>
                  <a:pt x="0" y="213245"/>
                  <a:pt x="0" y="137375"/>
                </a:cubicBezTo>
                <a:lnTo>
                  <a:pt x="0" y="137375"/>
                </a:lnTo>
                <a:cubicBezTo>
                  <a:pt x="0" y="61505"/>
                  <a:pt x="61505" y="0"/>
                  <a:pt x="137375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422091" y="1880315"/>
            <a:ext cx="206062" cy="171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01469" y="1863144"/>
            <a:ext cx="618186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图像采集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58032" y="2172237"/>
            <a:ext cx="2532845" cy="180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拍照/相册选择X光图片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5104" y="2537138"/>
            <a:ext cx="2687392" cy="738389"/>
          </a:xfrm>
          <a:custGeom>
            <a:avLst/>
            <a:gdLst/>
            <a:ahLst/>
            <a:cxnLst/>
            <a:rect l="l" t="t" r="r" b="b"/>
            <a:pathLst>
              <a:path w="2687392" h="738389">
                <a:moveTo>
                  <a:pt x="68685" y="0"/>
                </a:moveTo>
                <a:lnTo>
                  <a:pt x="2618707" y="0"/>
                </a:lnTo>
                <a:cubicBezTo>
                  <a:pt x="2656640" y="0"/>
                  <a:pt x="2687392" y="30751"/>
                  <a:pt x="2687392" y="68685"/>
                </a:cubicBezTo>
                <a:lnTo>
                  <a:pt x="2687392" y="669704"/>
                </a:lnTo>
                <a:cubicBezTo>
                  <a:pt x="2687392" y="707637"/>
                  <a:pt x="2656640" y="738389"/>
                  <a:pt x="2618707" y="738389"/>
                </a:cubicBezTo>
                <a:lnTo>
                  <a:pt x="68685" y="738389"/>
                </a:lnTo>
                <a:cubicBezTo>
                  <a:pt x="30751" y="738389"/>
                  <a:pt x="0" y="707637"/>
                  <a:pt x="0" y="669704"/>
                </a:cubicBezTo>
                <a:lnTo>
                  <a:pt x="0" y="68685"/>
                </a:lnTo>
                <a:cubicBezTo>
                  <a:pt x="0" y="30777"/>
                  <a:pt x="30777" y="0"/>
                  <a:pt x="686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92428" y="2644462"/>
            <a:ext cx="274749" cy="274749"/>
          </a:xfrm>
          <a:custGeom>
            <a:avLst/>
            <a:gdLst/>
            <a:ahLst/>
            <a:cxnLst/>
            <a:rect l="l" t="t" r="r" b="b"/>
            <a:pathLst>
              <a:path w="274749" h="274749">
                <a:moveTo>
                  <a:pt x="137375" y="0"/>
                </a:moveTo>
                <a:lnTo>
                  <a:pt x="137375" y="0"/>
                </a:lnTo>
                <a:cubicBezTo>
                  <a:pt x="213245" y="0"/>
                  <a:pt x="274749" y="61505"/>
                  <a:pt x="274749" y="137375"/>
                </a:cubicBezTo>
                <a:lnTo>
                  <a:pt x="274749" y="137375"/>
                </a:lnTo>
                <a:cubicBezTo>
                  <a:pt x="274749" y="213245"/>
                  <a:pt x="213245" y="274749"/>
                  <a:pt x="137375" y="274749"/>
                </a:cubicBezTo>
                <a:lnTo>
                  <a:pt x="137375" y="274749"/>
                </a:lnTo>
                <a:cubicBezTo>
                  <a:pt x="61505" y="274749"/>
                  <a:pt x="0" y="213245"/>
                  <a:pt x="0" y="137375"/>
                </a:cubicBezTo>
                <a:lnTo>
                  <a:pt x="0" y="137375"/>
                </a:lnTo>
                <a:cubicBezTo>
                  <a:pt x="0" y="61505"/>
                  <a:pt x="61505" y="0"/>
                  <a:pt x="137375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55951" y="2695977"/>
            <a:ext cx="206062" cy="171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5865" y="2678806"/>
            <a:ext cx="618186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诊断模块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2428" y="2987899"/>
            <a:ext cx="2532845" cy="180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调用后端接口获取分类结果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50708" y="2537138"/>
            <a:ext cx="2687392" cy="738389"/>
          </a:xfrm>
          <a:custGeom>
            <a:avLst/>
            <a:gdLst/>
            <a:ahLst/>
            <a:cxnLst/>
            <a:rect l="l" t="t" r="r" b="b"/>
            <a:pathLst>
              <a:path w="2687392" h="738389">
                <a:moveTo>
                  <a:pt x="68685" y="0"/>
                </a:moveTo>
                <a:lnTo>
                  <a:pt x="2618707" y="0"/>
                </a:lnTo>
                <a:cubicBezTo>
                  <a:pt x="2656640" y="0"/>
                  <a:pt x="2687392" y="30751"/>
                  <a:pt x="2687392" y="68685"/>
                </a:cubicBezTo>
                <a:lnTo>
                  <a:pt x="2687392" y="669704"/>
                </a:lnTo>
                <a:cubicBezTo>
                  <a:pt x="2687392" y="707637"/>
                  <a:pt x="2656640" y="738389"/>
                  <a:pt x="2618707" y="738389"/>
                </a:cubicBezTo>
                <a:lnTo>
                  <a:pt x="68685" y="738389"/>
                </a:lnTo>
                <a:cubicBezTo>
                  <a:pt x="30751" y="738389"/>
                  <a:pt x="0" y="707637"/>
                  <a:pt x="0" y="669704"/>
                </a:cubicBezTo>
                <a:lnTo>
                  <a:pt x="0" y="68685"/>
                </a:lnTo>
                <a:cubicBezTo>
                  <a:pt x="0" y="30777"/>
                  <a:pt x="30777" y="0"/>
                  <a:pt x="686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358032" y="2644462"/>
            <a:ext cx="274749" cy="274749"/>
          </a:xfrm>
          <a:custGeom>
            <a:avLst/>
            <a:gdLst/>
            <a:ahLst/>
            <a:cxnLst/>
            <a:rect l="l" t="t" r="r" b="b"/>
            <a:pathLst>
              <a:path w="274749" h="274749">
                <a:moveTo>
                  <a:pt x="137375" y="0"/>
                </a:moveTo>
                <a:lnTo>
                  <a:pt x="137375" y="0"/>
                </a:lnTo>
                <a:cubicBezTo>
                  <a:pt x="213245" y="0"/>
                  <a:pt x="274749" y="61505"/>
                  <a:pt x="274749" y="137375"/>
                </a:cubicBezTo>
                <a:lnTo>
                  <a:pt x="274749" y="137375"/>
                </a:lnTo>
                <a:cubicBezTo>
                  <a:pt x="274749" y="213245"/>
                  <a:pt x="213245" y="274749"/>
                  <a:pt x="137375" y="274749"/>
                </a:cubicBezTo>
                <a:lnTo>
                  <a:pt x="137375" y="274749"/>
                </a:lnTo>
                <a:cubicBezTo>
                  <a:pt x="61505" y="274749"/>
                  <a:pt x="0" y="213245"/>
                  <a:pt x="0" y="137375"/>
                </a:cubicBezTo>
                <a:lnTo>
                  <a:pt x="0" y="137375"/>
                </a:lnTo>
                <a:cubicBezTo>
                  <a:pt x="0" y="61505"/>
                  <a:pt x="61505" y="0"/>
                  <a:pt x="137375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421621" y="2695977"/>
            <a:ext cx="206062" cy="171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01469" y="2678806"/>
            <a:ext cx="618186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历史记录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58032" y="2987899"/>
            <a:ext cx="2532845" cy="180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本地/云端保存诊断记录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5104" y="3352800"/>
            <a:ext cx="5452056" cy="738389"/>
          </a:xfrm>
          <a:custGeom>
            <a:avLst/>
            <a:gdLst/>
            <a:ahLst/>
            <a:cxnLst/>
            <a:rect l="l" t="t" r="r" b="b"/>
            <a:pathLst>
              <a:path w="5452056" h="738389">
                <a:moveTo>
                  <a:pt x="68685" y="0"/>
                </a:moveTo>
                <a:lnTo>
                  <a:pt x="5383371" y="0"/>
                </a:lnTo>
                <a:cubicBezTo>
                  <a:pt x="5421305" y="0"/>
                  <a:pt x="5452056" y="30751"/>
                  <a:pt x="5452056" y="68685"/>
                </a:cubicBezTo>
                <a:lnTo>
                  <a:pt x="5452056" y="669704"/>
                </a:lnTo>
                <a:cubicBezTo>
                  <a:pt x="5452056" y="707637"/>
                  <a:pt x="5421305" y="738389"/>
                  <a:pt x="5383371" y="738389"/>
                </a:cubicBezTo>
                <a:lnTo>
                  <a:pt x="68685" y="738389"/>
                </a:lnTo>
                <a:cubicBezTo>
                  <a:pt x="30751" y="738389"/>
                  <a:pt x="0" y="707637"/>
                  <a:pt x="0" y="669704"/>
                </a:cubicBezTo>
                <a:lnTo>
                  <a:pt x="0" y="68685"/>
                </a:lnTo>
                <a:cubicBezTo>
                  <a:pt x="0" y="30777"/>
                  <a:pt x="30777" y="0"/>
                  <a:pt x="686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92428" y="3460124"/>
            <a:ext cx="274749" cy="274749"/>
          </a:xfrm>
          <a:custGeom>
            <a:avLst/>
            <a:gdLst/>
            <a:ahLst/>
            <a:cxnLst/>
            <a:rect l="l" t="t" r="r" b="b"/>
            <a:pathLst>
              <a:path w="274749" h="274749">
                <a:moveTo>
                  <a:pt x="137375" y="0"/>
                </a:moveTo>
                <a:lnTo>
                  <a:pt x="137375" y="0"/>
                </a:lnTo>
                <a:cubicBezTo>
                  <a:pt x="213245" y="0"/>
                  <a:pt x="274749" y="61505"/>
                  <a:pt x="274749" y="137375"/>
                </a:cubicBezTo>
                <a:lnTo>
                  <a:pt x="274749" y="137375"/>
                </a:lnTo>
                <a:cubicBezTo>
                  <a:pt x="274749" y="213245"/>
                  <a:pt x="213245" y="274749"/>
                  <a:pt x="137375" y="274749"/>
                </a:cubicBezTo>
                <a:lnTo>
                  <a:pt x="137375" y="274749"/>
                </a:lnTo>
                <a:cubicBezTo>
                  <a:pt x="61505" y="274749"/>
                  <a:pt x="0" y="213245"/>
                  <a:pt x="0" y="137375"/>
                </a:cubicBezTo>
                <a:lnTo>
                  <a:pt x="0" y="137375"/>
                </a:lnTo>
                <a:cubicBezTo>
                  <a:pt x="0" y="61505"/>
                  <a:pt x="61505" y="0"/>
                  <a:pt x="137375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56823" y="3511639"/>
            <a:ext cx="206062" cy="171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5865" y="3494468"/>
            <a:ext cx="618186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结果展示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2428" y="3803561"/>
            <a:ext cx="5297510" cy="180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移动端适配的诊断报告页面，包含分类结果、置信度可视化、诊断建议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6565" y="1236372"/>
            <a:ext cx="34344" cy="1983346"/>
          </a:xfrm>
          <a:custGeom>
            <a:avLst/>
            <a:gdLst/>
            <a:ahLst/>
            <a:cxnLst/>
            <a:rect l="l" t="t" r="r" b="b"/>
            <a:pathLst>
              <a:path w="34344" h="1983346">
                <a:moveTo>
                  <a:pt x="34344" y="0"/>
                </a:moveTo>
                <a:lnTo>
                  <a:pt x="34344" y="0"/>
                </a:lnTo>
                <a:lnTo>
                  <a:pt x="34344" y="1983346"/>
                </a:lnTo>
                <a:lnTo>
                  <a:pt x="34344" y="1983346"/>
                </a:lnTo>
                <a:cubicBezTo>
                  <a:pt x="15376" y="1983346"/>
                  <a:pt x="0" y="1967970"/>
                  <a:pt x="0" y="1949003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734104" y="3322749"/>
            <a:ext cx="5701048" cy="2678806"/>
          </a:xfrm>
          <a:custGeom>
            <a:avLst/>
            <a:gdLst/>
            <a:ahLst/>
            <a:cxnLst/>
            <a:rect l="l" t="t" r="r" b="b"/>
            <a:pathLst>
              <a:path w="5701048" h="2678806">
                <a:moveTo>
                  <a:pt x="68685" y="0"/>
                </a:moveTo>
                <a:lnTo>
                  <a:pt x="5632363" y="0"/>
                </a:lnTo>
                <a:cubicBezTo>
                  <a:pt x="5670297" y="0"/>
                  <a:pt x="5701048" y="30751"/>
                  <a:pt x="5701048" y="68685"/>
                </a:cubicBezTo>
                <a:lnTo>
                  <a:pt x="5701048" y="2610121"/>
                </a:lnTo>
                <a:cubicBezTo>
                  <a:pt x="5701048" y="2648055"/>
                  <a:pt x="5670297" y="2678806"/>
                  <a:pt x="5632363" y="2678806"/>
                </a:cubicBezTo>
                <a:lnTo>
                  <a:pt x="68685" y="2678806"/>
                </a:lnTo>
                <a:cubicBezTo>
                  <a:pt x="30751" y="2678806"/>
                  <a:pt x="0" y="2648055"/>
                  <a:pt x="0" y="2610121"/>
                </a:cubicBezTo>
                <a:lnTo>
                  <a:pt x="0" y="68685"/>
                </a:lnTo>
                <a:cubicBezTo>
                  <a:pt x="0" y="30777"/>
                  <a:pt x="30777" y="0"/>
                  <a:pt x="68685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265304" y="3460124"/>
            <a:ext cx="231820" cy="206062"/>
          </a:xfrm>
          <a:custGeom>
            <a:avLst/>
            <a:gdLst/>
            <a:ahLst/>
            <a:cxnLst/>
            <a:rect l="l" t="t" r="r" b="b"/>
            <a:pathLst>
              <a:path w="231820" h="206062">
                <a:moveTo>
                  <a:pt x="145209" y="483"/>
                </a:moveTo>
                <a:cubicBezTo>
                  <a:pt x="138367" y="-1489"/>
                  <a:pt x="131244" y="2495"/>
                  <a:pt x="129272" y="9337"/>
                </a:cubicBezTo>
                <a:lnTo>
                  <a:pt x="77756" y="189641"/>
                </a:lnTo>
                <a:cubicBezTo>
                  <a:pt x="75784" y="196483"/>
                  <a:pt x="79769" y="203607"/>
                  <a:pt x="86610" y="205579"/>
                </a:cubicBezTo>
                <a:cubicBezTo>
                  <a:pt x="93452" y="207551"/>
                  <a:pt x="100576" y="203567"/>
                  <a:pt x="102548" y="196725"/>
                </a:cubicBezTo>
                <a:lnTo>
                  <a:pt x="154064" y="16421"/>
                </a:lnTo>
                <a:cubicBezTo>
                  <a:pt x="156036" y="9579"/>
                  <a:pt x="152051" y="2455"/>
                  <a:pt x="145209" y="483"/>
                </a:cubicBezTo>
                <a:close/>
                <a:moveTo>
                  <a:pt x="171209" y="55258"/>
                </a:moveTo>
                <a:cubicBezTo>
                  <a:pt x="166178" y="60289"/>
                  <a:pt x="166178" y="68459"/>
                  <a:pt x="171209" y="73490"/>
                </a:cubicBezTo>
                <a:lnTo>
                  <a:pt x="200749" y="103031"/>
                </a:lnTo>
                <a:lnTo>
                  <a:pt x="171209" y="132572"/>
                </a:lnTo>
                <a:cubicBezTo>
                  <a:pt x="166178" y="137603"/>
                  <a:pt x="166178" y="145773"/>
                  <a:pt x="171209" y="150804"/>
                </a:cubicBezTo>
                <a:cubicBezTo>
                  <a:pt x="176239" y="155834"/>
                  <a:pt x="184409" y="155834"/>
                  <a:pt x="189440" y="150804"/>
                </a:cubicBezTo>
                <a:lnTo>
                  <a:pt x="228077" y="112167"/>
                </a:lnTo>
                <a:cubicBezTo>
                  <a:pt x="233108" y="107136"/>
                  <a:pt x="233108" y="98966"/>
                  <a:pt x="228077" y="93935"/>
                </a:cubicBezTo>
                <a:lnTo>
                  <a:pt x="189440" y="55299"/>
                </a:lnTo>
                <a:cubicBezTo>
                  <a:pt x="184409" y="50268"/>
                  <a:pt x="176239" y="50268"/>
                  <a:pt x="171209" y="55299"/>
                </a:cubicBezTo>
                <a:close/>
                <a:moveTo>
                  <a:pt x="60651" y="55258"/>
                </a:moveTo>
                <a:cubicBezTo>
                  <a:pt x="55621" y="50228"/>
                  <a:pt x="47451" y="50228"/>
                  <a:pt x="42420" y="55258"/>
                </a:cubicBezTo>
                <a:lnTo>
                  <a:pt x="3783" y="93895"/>
                </a:lnTo>
                <a:cubicBezTo>
                  <a:pt x="-1248" y="98926"/>
                  <a:pt x="-1248" y="107096"/>
                  <a:pt x="3783" y="112127"/>
                </a:cubicBezTo>
                <a:lnTo>
                  <a:pt x="42420" y="150763"/>
                </a:lnTo>
                <a:cubicBezTo>
                  <a:pt x="47451" y="155794"/>
                  <a:pt x="55621" y="155794"/>
                  <a:pt x="60651" y="150763"/>
                </a:cubicBezTo>
                <a:cubicBezTo>
                  <a:pt x="65682" y="145732"/>
                  <a:pt x="65682" y="137562"/>
                  <a:pt x="60651" y="132532"/>
                </a:cubicBezTo>
                <a:lnTo>
                  <a:pt x="31111" y="103031"/>
                </a:lnTo>
                <a:lnTo>
                  <a:pt x="60611" y="73490"/>
                </a:lnTo>
                <a:cubicBezTo>
                  <a:pt x="65642" y="68459"/>
                  <a:pt x="65642" y="60289"/>
                  <a:pt x="60611" y="55258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510002" y="3425780"/>
            <a:ext cx="5340439" cy="27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56718" y="3807854"/>
            <a:ext cx="5486400" cy="729803"/>
          </a:xfrm>
          <a:custGeom>
            <a:avLst/>
            <a:gdLst/>
            <a:ahLst/>
            <a:cxnLst/>
            <a:rect l="l" t="t" r="r" b="b"/>
            <a:pathLst>
              <a:path w="5486400" h="729803">
                <a:moveTo>
                  <a:pt x="68689" y="0"/>
                </a:moveTo>
                <a:lnTo>
                  <a:pt x="5417711" y="0"/>
                </a:lnTo>
                <a:cubicBezTo>
                  <a:pt x="5455647" y="0"/>
                  <a:pt x="5486400" y="30753"/>
                  <a:pt x="5486400" y="68689"/>
                </a:cubicBezTo>
                <a:lnTo>
                  <a:pt x="5486400" y="661114"/>
                </a:lnTo>
                <a:cubicBezTo>
                  <a:pt x="5486400" y="699050"/>
                  <a:pt x="5455647" y="729803"/>
                  <a:pt x="5417711" y="729803"/>
                </a:cubicBezTo>
                <a:lnTo>
                  <a:pt x="68689" y="729803"/>
                </a:lnTo>
                <a:cubicBezTo>
                  <a:pt x="30779" y="729803"/>
                  <a:pt x="0" y="699024"/>
                  <a:pt x="0" y="661114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364042" y="3915177"/>
            <a:ext cx="5340439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开发框架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64042" y="4189927"/>
            <a:ext cx="987380" cy="240406"/>
          </a:xfrm>
          <a:custGeom>
            <a:avLst/>
            <a:gdLst/>
            <a:ahLst/>
            <a:cxnLst/>
            <a:rect l="l" t="t" r="r" b="b"/>
            <a:pathLst>
              <a:path w="987380" h="240406">
                <a:moveTo>
                  <a:pt x="120203" y="0"/>
                </a:moveTo>
                <a:lnTo>
                  <a:pt x="867177" y="0"/>
                </a:lnTo>
                <a:cubicBezTo>
                  <a:pt x="933564" y="0"/>
                  <a:pt x="987380" y="53817"/>
                  <a:pt x="987380" y="120203"/>
                </a:cubicBezTo>
                <a:lnTo>
                  <a:pt x="987380" y="120203"/>
                </a:lnTo>
                <a:cubicBezTo>
                  <a:pt x="987380" y="186589"/>
                  <a:pt x="933564" y="240406"/>
                  <a:pt x="867177" y="240406"/>
                </a:cubicBezTo>
                <a:lnTo>
                  <a:pt x="120203" y="240406"/>
                </a:lnTo>
                <a:cubicBezTo>
                  <a:pt x="53817" y="240406"/>
                  <a:pt x="0" y="186589"/>
                  <a:pt x="0" y="120203"/>
                </a:cubicBezTo>
                <a:lnTo>
                  <a:pt x="0" y="120203"/>
                </a:lnTo>
                <a:cubicBezTo>
                  <a:pt x="0" y="53817"/>
                  <a:pt x="53817" y="0"/>
                  <a:pt x="120203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364042" y="4189927"/>
            <a:ext cx="1047482" cy="240406"/>
          </a:xfrm>
          <a:prstGeom prst="rect">
            <a:avLst/>
          </a:prstGeom>
          <a:noFill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Android Studio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19640" y="4189927"/>
            <a:ext cx="772732" cy="240406"/>
          </a:xfrm>
          <a:custGeom>
            <a:avLst/>
            <a:gdLst/>
            <a:ahLst/>
            <a:cxnLst/>
            <a:rect l="l" t="t" r="r" b="b"/>
            <a:pathLst>
              <a:path w="772732" h="240406">
                <a:moveTo>
                  <a:pt x="120203" y="0"/>
                </a:moveTo>
                <a:lnTo>
                  <a:pt x="652530" y="0"/>
                </a:lnTo>
                <a:cubicBezTo>
                  <a:pt x="718916" y="0"/>
                  <a:pt x="772732" y="53817"/>
                  <a:pt x="772732" y="120203"/>
                </a:cubicBezTo>
                <a:lnTo>
                  <a:pt x="772732" y="120203"/>
                </a:lnTo>
                <a:cubicBezTo>
                  <a:pt x="772732" y="186589"/>
                  <a:pt x="718916" y="240406"/>
                  <a:pt x="652530" y="240406"/>
                </a:cubicBezTo>
                <a:lnTo>
                  <a:pt x="120203" y="240406"/>
                </a:lnTo>
                <a:cubicBezTo>
                  <a:pt x="53817" y="240406"/>
                  <a:pt x="0" y="186589"/>
                  <a:pt x="0" y="120203"/>
                </a:cubicBezTo>
                <a:lnTo>
                  <a:pt x="0" y="120203"/>
                </a:lnTo>
                <a:cubicBezTo>
                  <a:pt x="0" y="53817"/>
                  <a:pt x="53817" y="0"/>
                  <a:pt x="120203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7419640" y="4189927"/>
            <a:ext cx="832834" cy="240406"/>
          </a:xfrm>
          <a:prstGeom prst="rect">
            <a:avLst/>
          </a:prstGeom>
          <a:noFill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Java/Kotlin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58645" y="4189927"/>
            <a:ext cx="592428" cy="240406"/>
          </a:xfrm>
          <a:custGeom>
            <a:avLst/>
            <a:gdLst/>
            <a:ahLst/>
            <a:cxnLst/>
            <a:rect l="l" t="t" r="r" b="b"/>
            <a:pathLst>
              <a:path w="592428" h="240406">
                <a:moveTo>
                  <a:pt x="120203" y="0"/>
                </a:moveTo>
                <a:lnTo>
                  <a:pt x="472225" y="0"/>
                </a:lnTo>
                <a:cubicBezTo>
                  <a:pt x="538612" y="0"/>
                  <a:pt x="592428" y="53817"/>
                  <a:pt x="592428" y="120203"/>
                </a:cubicBezTo>
                <a:lnTo>
                  <a:pt x="592428" y="120203"/>
                </a:lnTo>
                <a:cubicBezTo>
                  <a:pt x="592428" y="186589"/>
                  <a:pt x="538612" y="240406"/>
                  <a:pt x="472225" y="240406"/>
                </a:cubicBezTo>
                <a:lnTo>
                  <a:pt x="120203" y="240406"/>
                </a:lnTo>
                <a:cubicBezTo>
                  <a:pt x="53817" y="240406"/>
                  <a:pt x="0" y="186589"/>
                  <a:pt x="0" y="120203"/>
                </a:cubicBezTo>
                <a:lnTo>
                  <a:pt x="0" y="120203"/>
                </a:lnTo>
                <a:cubicBezTo>
                  <a:pt x="0" y="53817"/>
                  <a:pt x="53817" y="0"/>
                  <a:pt x="120203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258645" y="4189927"/>
            <a:ext cx="652530" cy="240406"/>
          </a:xfrm>
          <a:prstGeom prst="rect">
            <a:avLst/>
          </a:prstGeom>
          <a:noFill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Retrofit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915534" y="4189927"/>
            <a:ext cx="695459" cy="240406"/>
          </a:xfrm>
          <a:custGeom>
            <a:avLst/>
            <a:gdLst/>
            <a:ahLst/>
            <a:cxnLst/>
            <a:rect l="l" t="t" r="r" b="b"/>
            <a:pathLst>
              <a:path w="695459" h="240406">
                <a:moveTo>
                  <a:pt x="120203" y="0"/>
                </a:moveTo>
                <a:lnTo>
                  <a:pt x="575256" y="0"/>
                </a:lnTo>
                <a:cubicBezTo>
                  <a:pt x="641643" y="0"/>
                  <a:pt x="695459" y="53817"/>
                  <a:pt x="695459" y="120203"/>
                </a:cubicBezTo>
                <a:lnTo>
                  <a:pt x="695459" y="120203"/>
                </a:lnTo>
                <a:cubicBezTo>
                  <a:pt x="695459" y="186589"/>
                  <a:pt x="641643" y="240406"/>
                  <a:pt x="575256" y="240406"/>
                </a:cubicBezTo>
                <a:lnTo>
                  <a:pt x="120203" y="240406"/>
                </a:lnTo>
                <a:cubicBezTo>
                  <a:pt x="53817" y="240406"/>
                  <a:pt x="0" y="186589"/>
                  <a:pt x="0" y="120203"/>
                </a:cubicBezTo>
                <a:lnTo>
                  <a:pt x="0" y="120203"/>
                </a:lnTo>
                <a:cubicBezTo>
                  <a:pt x="0" y="53817"/>
                  <a:pt x="53817" y="0"/>
                  <a:pt x="120203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915534" y="4189927"/>
            <a:ext cx="755561" cy="240406"/>
          </a:xfrm>
          <a:prstGeom prst="rect">
            <a:avLst/>
          </a:prstGeom>
          <a:noFill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Room DB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56718" y="4614930"/>
            <a:ext cx="5486400" cy="1279301"/>
          </a:xfrm>
          <a:custGeom>
            <a:avLst/>
            <a:gdLst/>
            <a:ahLst/>
            <a:cxnLst/>
            <a:rect l="l" t="t" r="r" b="b"/>
            <a:pathLst>
              <a:path w="5486400" h="1279301">
                <a:moveTo>
                  <a:pt x="68686" y="0"/>
                </a:moveTo>
                <a:lnTo>
                  <a:pt x="5417714" y="0"/>
                </a:lnTo>
                <a:cubicBezTo>
                  <a:pt x="5455648" y="0"/>
                  <a:pt x="5486400" y="30752"/>
                  <a:pt x="5486400" y="68686"/>
                </a:cubicBezTo>
                <a:lnTo>
                  <a:pt x="5486400" y="1210616"/>
                </a:lnTo>
                <a:cubicBezTo>
                  <a:pt x="5486400" y="1248550"/>
                  <a:pt x="5455648" y="1279301"/>
                  <a:pt x="5417714" y="1279301"/>
                </a:cubicBezTo>
                <a:lnTo>
                  <a:pt x="68686" y="1279301"/>
                </a:lnTo>
                <a:cubicBezTo>
                  <a:pt x="30752" y="1279301"/>
                  <a:pt x="0" y="1248550"/>
                  <a:pt x="0" y="1210616"/>
                </a:cubicBezTo>
                <a:lnTo>
                  <a:pt x="0" y="68686"/>
                </a:lnTo>
                <a:cubicBezTo>
                  <a:pt x="0" y="30752"/>
                  <a:pt x="30752" y="0"/>
                  <a:pt x="6868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364042" y="4722254"/>
            <a:ext cx="5340439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83360" y="5031346"/>
            <a:ext cx="90152" cy="103031"/>
          </a:xfrm>
          <a:custGeom>
            <a:avLst/>
            <a:gdLst/>
            <a:ahLst/>
            <a:cxnLst/>
            <a:rect l="l" t="t" r="r" b="b"/>
            <a:pathLst>
              <a:path w="90152" h="103031">
                <a:moveTo>
                  <a:pt x="87496" y="14106"/>
                </a:moveTo>
                <a:cubicBezTo>
                  <a:pt x="90373" y="16199"/>
                  <a:pt x="91017" y="20224"/>
                  <a:pt x="88925" y="23101"/>
                </a:cubicBezTo>
                <a:lnTo>
                  <a:pt x="37409" y="93935"/>
                </a:lnTo>
                <a:cubicBezTo>
                  <a:pt x="36302" y="95465"/>
                  <a:pt x="34592" y="96410"/>
                  <a:pt x="32700" y="96571"/>
                </a:cubicBezTo>
                <a:cubicBezTo>
                  <a:pt x="30809" y="96732"/>
                  <a:pt x="28977" y="96028"/>
                  <a:pt x="27649" y="94700"/>
                </a:cubicBezTo>
                <a:lnTo>
                  <a:pt x="1892" y="68942"/>
                </a:lnTo>
                <a:cubicBezTo>
                  <a:pt x="-624" y="66427"/>
                  <a:pt x="-624" y="62342"/>
                  <a:pt x="1892" y="59826"/>
                </a:cubicBezTo>
                <a:cubicBezTo>
                  <a:pt x="4407" y="57311"/>
                  <a:pt x="8492" y="57311"/>
                  <a:pt x="11007" y="59826"/>
                </a:cubicBezTo>
                <a:lnTo>
                  <a:pt x="31433" y="80251"/>
                </a:lnTo>
                <a:lnTo>
                  <a:pt x="78521" y="15515"/>
                </a:lnTo>
                <a:cubicBezTo>
                  <a:pt x="80614" y="12637"/>
                  <a:pt x="84638" y="11993"/>
                  <a:pt x="87516" y="1408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6561518" y="4997003"/>
            <a:ext cx="1313645" cy="171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图像压缩与Base64编码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83360" y="5237408"/>
            <a:ext cx="90152" cy="103031"/>
          </a:xfrm>
          <a:custGeom>
            <a:avLst/>
            <a:gdLst/>
            <a:ahLst/>
            <a:cxnLst/>
            <a:rect l="l" t="t" r="r" b="b"/>
            <a:pathLst>
              <a:path w="90152" h="103031">
                <a:moveTo>
                  <a:pt x="87496" y="14106"/>
                </a:moveTo>
                <a:cubicBezTo>
                  <a:pt x="90373" y="16199"/>
                  <a:pt x="91017" y="20224"/>
                  <a:pt x="88925" y="23101"/>
                </a:cubicBezTo>
                <a:lnTo>
                  <a:pt x="37409" y="93935"/>
                </a:lnTo>
                <a:cubicBezTo>
                  <a:pt x="36302" y="95465"/>
                  <a:pt x="34592" y="96410"/>
                  <a:pt x="32700" y="96571"/>
                </a:cubicBezTo>
                <a:cubicBezTo>
                  <a:pt x="30809" y="96732"/>
                  <a:pt x="28977" y="96028"/>
                  <a:pt x="27649" y="94700"/>
                </a:cubicBezTo>
                <a:lnTo>
                  <a:pt x="1892" y="68942"/>
                </a:lnTo>
                <a:cubicBezTo>
                  <a:pt x="-624" y="66427"/>
                  <a:pt x="-624" y="62342"/>
                  <a:pt x="1892" y="59826"/>
                </a:cubicBezTo>
                <a:cubicBezTo>
                  <a:pt x="4407" y="57311"/>
                  <a:pt x="8492" y="57311"/>
                  <a:pt x="11007" y="59826"/>
                </a:cubicBezTo>
                <a:lnTo>
                  <a:pt x="31433" y="80251"/>
                </a:lnTo>
                <a:lnTo>
                  <a:pt x="78521" y="15515"/>
                </a:lnTo>
                <a:cubicBezTo>
                  <a:pt x="80614" y="12637"/>
                  <a:pt x="84638" y="11993"/>
                  <a:pt x="87516" y="1408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561518" y="5203065"/>
            <a:ext cx="1141927" cy="171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多线程异步任务处理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83360" y="5443470"/>
            <a:ext cx="90152" cy="103031"/>
          </a:xfrm>
          <a:custGeom>
            <a:avLst/>
            <a:gdLst/>
            <a:ahLst/>
            <a:cxnLst/>
            <a:rect l="l" t="t" r="r" b="b"/>
            <a:pathLst>
              <a:path w="90152" h="103031">
                <a:moveTo>
                  <a:pt x="87496" y="14106"/>
                </a:moveTo>
                <a:cubicBezTo>
                  <a:pt x="90373" y="16199"/>
                  <a:pt x="91017" y="20224"/>
                  <a:pt x="88925" y="23101"/>
                </a:cubicBezTo>
                <a:lnTo>
                  <a:pt x="37409" y="93935"/>
                </a:lnTo>
                <a:cubicBezTo>
                  <a:pt x="36302" y="95465"/>
                  <a:pt x="34592" y="96410"/>
                  <a:pt x="32700" y="96571"/>
                </a:cubicBezTo>
                <a:cubicBezTo>
                  <a:pt x="30809" y="96732"/>
                  <a:pt x="28977" y="96028"/>
                  <a:pt x="27649" y="94700"/>
                </a:cubicBezTo>
                <a:lnTo>
                  <a:pt x="1892" y="68942"/>
                </a:lnTo>
                <a:cubicBezTo>
                  <a:pt x="-624" y="66427"/>
                  <a:pt x="-624" y="62342"/>
                  <a:pt x="1892" y="59826"/>
                </a:cubicBezTo>
                <a:cubicBezTo>
                  <a:pt x="4407" y="57311"/>
                  <a:pt x="8492" y="57311"/>
                  <a:pt x="11007" y="59826"/>
                </a:cubicBezTo>
                <a:lnTo>
                  <a:pt x="31433" y="80251"/>
                </a:lnTo>
                <a:lnTo>
                  <a:pt x="78521" y="15515"/>
                </a:lnTo>
                <a:cubicBezTo>
                  <a:pt x="80614" y="12637"/>
                  <a:pt x="84638" y="11993"/>
                  <a:pt x="87516" y="1408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6561518" y="5409127"/>
            <a:ext cx="1141927" cy="171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本地数据库缓存机制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83360" y="5649532"/>
            <a:ext cx="90152" cy="103031"/>
          </a:xfrm>
          <a:custGeom>
            <a:avLst/>
            <a:gdLst/>
            <a:ahLst/>
            <a:cxnLst/>
            <a:rect l="l" t="t" r="r" b="b"/>
            <a:pathLst>
              <a:path w="90152" h="103031">
                <a:moveTo>
                  <a:pt x="87496" y="14106"/>
                </a:moveTo>
                <a:cubicBezTo>
                  <a:pt x="90373" y="16199"/>
                  <a:pt x="91017" y="20224"/>
                  <a:pt x="88925" y="23101"/>
                </a:cubicBezTo>
                <a:lnTo>
                  <a:pt x="37409" y="93935"/>
                </a:lnTo>
                <a:cubicBezTo>
                  <a:pt x="36302" y="95465"/>
                  <a:pt x="34592" y="96410"/>
                  <a:pt x="32700" y="96571"/>
                </a:cubicBezTo>
                <a:cubicBezTo>
                  <a:pt x="30809" y="96732"/>
                  <a:pt x="28977" y="96028"/>
                  <a:pt x="27649" y="94700"/>
                </a:cubicBezTo>
                <a:lnTo>
                  <a:pt x="1892" y="68942"/>
                </a:lnTo>
                <a:cubicBezTo>
                  <a:pt x="-624" y="66427"/>
                  <a:pt x="-624" y="62342"/>
                  <a:pt x="1892" y="59826"/>
                </a:cubicBezTo>
                <a:cubicBezTo>
                  <a:pt x="4407" y="57311"/>
                  <a:pt x="8492" y="57311"/>
                  <a:pt x="11007" y="59826"/>
                </a:cubicBezTo>
                <a:lnTo>
                  <a:pt x="31433" y="80251"/>
                </a:lnTo>
                <a:lnTo>
                  <a:pt x="78521" y="15515"/>
                </a:lnTo>
                <a:cubicBezTo>
                  <a:pt x="80614" y="12637"/>
                  <a:pt x="84638" y="11993"/>
                  <a:pt x="87516" y="1408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6561518" y="5615189"/>
            <a:ext cx="1021724" cy="171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网络状态实时监测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43437" y="6070242"/>
            <a:ext cx="11505127" cy="446468"/>
          </a:xfrm>
          <a:custGeom>
            <a:avLst/>
            <a:gdLst/>
            <a:ahLst/>
            <a:cxnLst/>
            <a:rect l="l" t="t" r="r" b="b"/>
            <a:pathLst>
              <a:path w="11505127" h="446468">
                <a:moveTo>
                  <a:pt x="68689" y="0"/>
                </a:moveTo>
                <a:lnTo>
                  <a:pt x="11436438" y="0"/>
                </a:lnTo>
                <a:cubicBezTo>
                  <a:pt x="11474374" y="0"/>
                  <a:pt x="11505127" y="30753"/>
                  <a:pt x="11505127" y="68689"/>
                </a:cubicBezTo>
                <a:lnTo>
                  <a:pt x="11505127" y="377779"/>
                </a:lnTo>
                <a:cubicBezTo>
                  <a:pt x="11505127" y="415714"/>
                  <a:pt x="11474374" y="446468"/>
                  <a:pt x="11436438" y="446468"/>
                </a:cubicBezTo>
                <a:lnTo>
                  <a:pt x="68689" y="446468"/>
                </a:lnTo>
                <a:cubicBezTo>
                  <a:pt x="30779" y="446468"/>
                  <a:pt x="0" y="415689"/>
                  <a:pt x="0" y="377779"/>
                </a:cubicBezTo>
                <a:lnTo>
                  <a:pt x="0" y="68689"/>
                </a:lnTo>
                <a:cubicBezTo>
                  <a:pt x="0" y="30753"/>
                  <a:pt x="30753" y="0"/>
                  <a:pt x="68689" y="0"/>
                </a:cubicBezTo>
                <a:close/>
              </a:path>
            </a:pathLst>
          </a:custGeom>
          <a:solidFill>
            <a:srgbClr val="6C7A89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485104" y="6190445"/>
            <a:ext cx="180304" cy="206062"/>
          </a:xfrm>
          <a:custGeom>
            <a:avLst/>
            <a:gdLst/>
            <a:ahLst/>
            <a:cxnLst/>
            <a:rect l="l" t="t" r="r" b="b"/>
            <a:pathLst>
              <a:path w="180304" h="206062">
                <a:moveTo>
                  <a:pt x="103031" y="12879"/>
                </a:moveTo>
                <a:cubicBezTo>
                  <a:pt x="103031" y="5755"/>
                  <a:pt x="97276" y="0"/>
                  <a:pt x="90152" y="0"/>
                </a:cubicBezTo>
                <a:cubicBezTo>
                  <a:pt x="83028" y="0"/>
                  <a:pt x="77273" y="5755"/>
                  <a:pt x="77273" y="12879"/>
                </a:cubicBezTo>
                <a:lnTo>
                  <a:pt x="77273" y="97678"/>
                </a:lnTo>
                <a:lnTo>
                  <a:pt x="60611" y="81016"/>
                </a:lnTo>
                <a:cubicBezTo>
                  <a:pt x="55580" y="75985"/>
                  <a:pt x="47410" y="75985"/>
                  <a:pt x="42380" y="81016"/>
                </a:cubicBezTo>
                <a:cubicBezTo>
                  <a:pt x="37349" y="86047"/>
                  <a:pt x="37349" y="94217"/>
                  <a:pt x="42380" y="99248"/>
                </a:cubicBezTo>
                <a:lnTo>
                  <a:pt x="81016" y="137884"/>
                </a:lnTo>
                <a:cubicBezTo>
                  <a:pt x="86047" y="142915"/>
                  <a:pt x="94217" y="142915"/>
                  <a:pt x="99248" y="137884"/>
                </a:cubicBezTo>
                <a:lnTo>
                  <a:pt x="137884" y="99248"/>
                </a:lnTo>
                <a:cubicBezTo>
                  <a:pt x="142915" y="94217"/>
                  <a:pt x="142915" y="86047"/>
                  <a:pt x="137884" y="81016"/>
                </a:cubicBezTo>
                <a:cubicBezTo>
                  <a:pt x="132854" y="75985"/>
                  <a:pt x="124684" y="75985"/>
                  <a:pt x="119653" y="81016"/>
                </a:cubicBezTo>
                <a:lnTo>
                  <a:pt x="103031" y="97678"/>
                </a:lnTo>
                <a:lnTo>
                  <a:pt x="103031" y="12879"/>
                </a:lnTo>
                <a:close/>
                <a:moveTo>
                  <a:pt x="25758" y="128789"/>
                </a:moveTo>
                <a:cubicBezTo>
                  <a:pt x="11551" y="128789"/>
                  <a:pt x="0" y="140339"/>
                  <a:pt x="0" y="154546"/>
                </a:cubicBezTo>
                <a:lnTo>
                  <a:pt x="0" y="167425"/>
                </a:lnTo>
                <a:cubicBezTo>
                  <a:pt x="0" y="181632"/>
                  <a:pt x="11551" y="193183"/>
                  <a:pt x="25758" y="193183"/>
                </a:cubicBezTo>
                <a:lnTo>
                  <a:pt x="154546" y="193183"/>
                </a:lnTo>
                <a:cubicBezTo>
                  <a:pt x="168753" y="193183"/>
                  <a:pt x="180304" y="181632"/>
                  <a:pt x="180304" y="167425"/>
                </a:cubicBezTo>
                <a:lnTo>
                  <a:pt x="180304" y="154546"/>
                </a:lnTo>
                <a:cubicBezTo>
                  <a:pt x="180304" y="140339"/>
                  <a:pt x="168753" y="128789"/>
                  <a:pt x="154546" y="128789"/>
                </a:cubicBezTo>
                <a:lnTo>
                  <a:pt x="135671" y="128789"/>
                </a:lnTo>
                <a:lnTo>
                  <a:pt x="112891" y="151568"/>
                </a:lnTo>
                <a:cubicBezTo>
                  <a:pt x="100334" y="164125"/>
                  <a:pt x="79930" y="164125"/>
                  <a:pt x="67373" y="151568"/>
                </a:cubicBezTo>
                <a:lnTo>
                  <a:pt x="44633" y="128789"/>
                </a:lnTo>
                <a:lnTo>
                  <a:pt x="25758" y="128789"/>
                </a:lnTo>
                <a:close/>
                <a:moveTo>
                  <a:pt x="148107" y="151327"/>
                </a:moveTo>
                <a:cubicBezTo>
                  <a:pt x="153438" y="151327"/>
                  <a:pt x="157766" y="155655"/>
                  <a:pt x="157766" y="160986"/>
                </a:cubicBezTo>
                <a:cubicBezTo>
                  <a:pt x="157766" y="166317"/>
                  <a:pt x="153438" y="170645"/>
                  <a:pt x="148107" y="170645"/>
                </a:cubicBezTo>
                <a:cubicBezTo>
                  <a:pt x="142776" y="170645"/>
                  <a:pt x="138448" y="166317"/>
                  <a:pt x="138448" y="160986"/>
                </a:cubicBezTo>
                <a:cubicBezTo>
                  <a:pt x="138448" y="155655"/>
                  <a:pt x="142776" y="151327"/>
                  <a:pt x="148107" y="15132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807076" y="6190445"/>
            <a:ext cx="2386885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部署方式：</a:t>
            </a:r>
            <a:r>
              <a:rPr lang="en-US" sz="108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APK安装包 / 应用商店发布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932563" y="6173273"/>
            <a:ext cx="807076" cy="240406"/>
          </a:xfrm>
          <a:custGeom>
            <a:avLst/>
            <a:gdLst/>
            <a:ahLst/>
            <a:cxnLst/>
            <a:rect l="l" t="t" r="r" b="b"/>
            <a:pathLst>
              <a:path w="807076" h="240406">
                <a:moveTo>
                  <a:pt x="120203" y="0"/>
                </a:moveTo>
                <a:lnTo>
                  <a:pt x="686873" y="0"/>
                </a:lnTo>
                <a:cubicBezTo>
                  <a:pt x="753259" y="0"/>
                  <a:pt x="807076" y="53817"/>
                  <a:pt x="807076" y="120203"/>
                </a:cubicBezTo>
                <a:lnTo>
                  <a:pt x="807076" y="120203"/>
                </a:lnTo>
                <a:cubicBezTo>
                  <a:pt x="807076" y="186589"/>
                  <a:pt x="753259" y="240406"/>
                  <a:pt x="686873" y="240406"/>
                </a:cubicBezTo>
                <a:lnTo>
                  <a:pt x="120203" y="240406"/>
                </a:lnTo>
                <a:cubicBezTo>
                  <a:pt x="53817" y="240406"/>
                  <a:pt x="0" y="186589"/>
                  <a:pt x="0" y="120203"/>
                </a:cubicBezTo>
                <a:lnTo>
                  <a:pt x="0" y="120203"/>
                </a:lnTo>
                <a:cubicBezTo>
                  <a:pt x="0" y="53817"/>
                  <a:pt x="53817" y="0"/>
                  <a:pt x="120203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9932563" y="6173273"/>
            <a:ext cx="867177" cy="240406"/>
          </a:xfrm>
          <a:prstGeom prst="rect">
            <a:avLst/>
          </a:prstGeom>
          <a:noFill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Min SDK 24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0805240" y="6173273"/>
            <a:ext cx="944451" cy="240406"/>
          </a:xfrm>
          <a:custGeom>
            <a:avLst/>
            <a:gdLst/>
            <a:ahLst/>
            <a:cxnLst/>
            <a:rect l="l" t="t" r="r" b="b"/>
            <a:pathLst>
              <a:path w="944451" h="240406">
                <a:moveTo>
                  <a:pt x="120203" y="0"/>
                </a:moveTo>
                <a:lnTo>
                  <a:pt x="824248" y="0"/>
                </a:lnTo>
                <a:cubicBezTo>
                  <a:pt x="890634" y="0"/>
                  <a:pt x="944451" y="53817"/>
                  <a:pt x="944451" y="120203"/>
                </a:cubicBezTo>
                <a:lnTo>
                  <a:pt x="944451" y="120203"/>
                </a:lnTo>
                <a:cubicBezTo>
                  <a:pt x="944451" y="186589"/>
                  <a:pt x="890634" y="240406"/>
                  <a:pt x="824248" y="240406"/>
                </a:cubicBezTo>
                <a:lnTo>
                  <a:pt x="120203" y="240406"/>
                </a:lnTo>
                <a:cubicBezTo>
                  <a:pt x="53817" y="240406"/>
                  <a:pt x="0" y="186589"/>
                  <a:pt x="0" y="120203"/>
                </a:cubicBezTo>
                <a:lnTo>
                  <a:pt x="0" y="120203"/>
                </a:lnTo>
                <a:cubicBezTo>
                  <a:pt x="0" y="53817"/>
                  <a:pt x="53817" y="0"/>
                  <a:pt x="120203" y="0"/>
                </a:cubicBezTo>
                <a:close/>
              </a:path>
            </a:pathLst>
          </a:custGeom>
          <a:solidFill>
            <a:srgbClr val="6C7A89">
              <a:alpha val="3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10805240" y="6173273"/>
            <a:ext cx="1004552" cy="240406"/>
          </a:xfrm>
          <a:prstGeom prst="rect">
            <a:avLst/>
          </a:prstGeom>
          <a:noFill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Target SDK 33</a:t>
            </a:r>
            <a:endParaRPr lang="en-US" sz="1600" dirty="0"/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1"/>
          <a:srcRect l="-16919" t="7224" r="-5652" b="7580"/>
          <a:stretch>
            <a:fillRect/>
          </a:stretch>
        </p:blipFill>
        <p:spPr>
          <a:xfrm>
            <a:off x="4575175" y="-635"/>
            <a:ext cx="1750060" cy="3068320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2"/>
          <a:srcRect t="5009" r="-1495" b="6481"/>
          <a:stretch>
            <a:fillRect/>
          </a:stretch>
        </p:blipFill>
        <p:spPr>
          <a:xfrm>
            <a:off x="6044565" y="-635"/>
            <a:ext cx="1306195" cy="3168015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3"/>
          <a:srcRect t="5010" r="-2099" b="3500"/>
          <a:stretch>
            <a:fillRect/>
          </a:stretch>
        </p:blipFill>
        <p:spPr>
          <a:xfrm>
            <a:off x="7350760" y="-635"/>
            <a:ext cx="1474470" cy="3373755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4"/>
          <a:srcRect t="5010"/>
          <a:stretch>
            <a:fillRect/>
          </a:stretch>
        </p:blipFill>
        <p:spPr>
          <a:xfrm>
            <a:off x="8825230" y="6350"/>
            <a:ext cx="1696720" cy="3581400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5"/>
          <a:srcRect t="7260"/>
          <a:stretch>
            <a:fillRect/>
          </a:stretch>
        </p:blipFill>
        <p:spPr>
          <a:xfrm>
            <a:off x="10472420" y="-10795"/>
            <a:ext cx="1661795" cy="38188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52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704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84073" y="65678"/>
                </a:moveTo>
                <a:cubicBezTo>
                  <a:pt x="80680" y="67553"/>
                  <a:pt x="78581" y="71170"/>
                  <a:pt x="78581" y="75009"/>
                </a:cubicBezTo>
                <a:lnTo>
                  <a:pt x="78581" y="153591"/>
                </a:lnTo>
                <a:cubicBezTo>
                  <a:pt x="78581" y="157475"/>
                  <a:pt x="80680" y="161047"/>
                  <a:pt x="84073" y="162922"/>
                </a:cubicBezTo>
                <a:cubicBezTo>
                  <a:pt x="87466" y="164797"/>
                  <a:pt x="91574" y="164753"/>
                  <a:pt x="94923" y="162699"/>
                </a:cubicBezTo>
                <a:lnTo>
                  <a:pt x="159216" y="123408"/>
                </a:lnTo>
                <a:cubicBezTo>
                  <a:pt x="162386" y="121444"/>
                  <a:pt x="164351" y="118006"/>
                  <a:pt x="164351" y="114255"/>
                </a:cubicBezTo>
                <a:cubicBezTo>
                  <a:pt x="164351" y="110505"/>
                  <a:pt x="162386" y="107067"/>
                  <a:pt x="159216" y="105102"/>
                </a:cubicBezTo>
                <a:lnTo>
                  <a:pt x="94923" y="65812"/>
                </a:lnTo>
                <a:cubicBezTo>
                  <a:pt x="91619" y="63803"/>
                  <a:pt x="87466" y="63713"/>
                  <a:pt x="84073" y="65589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66800" y="3810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系统整体演示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876300"/>
            <a:ext cx="2838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System Workflow Demo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6800" y="1219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11430000" cy="3028950"/>
          </a:xfrm>
          <a:custGeom>
            <a:avLst/>
            <a:gdLst/>
            <a:ahLst/>
            <a:cxnLst/>
            <a:rect l="l" t="t" r="r" b="b"/>
            <a:pathLst>
              <a:path w="11430000" h="3028950">
                <a:moveTo>
                  <a:pt x="76208" y="0"/>
                </a:moveTo>
                <a:lnTo>
                  <a:pt x="11353792" y="0"/>
                </a:lnTo>
                <a:cubicBezTo>
                  <a:pt x="11395880" y="0"/>
                  <a:pt x="11430000" y="34120"/>
                  <a:pt x="11430000" y="76208"/>
                </a:cubicBezTo>
                <a:lnTo>
                  <a:pt x="11430000" y="2952742"/>
                </a:lnTo>
                <a:cubicBezTo>
                  <a:pt x="11430000" y="2994830"/>
                  <a:pt x="11395880" y="3028950"/>
                  <a:pt x="11353792" y="3028950"/>
                </a:cubicBezTo>
                <a:lnTo>
                  <a:pt x="76208" y="3028950"/>
                </a:lnTo>
                <a:cubicBezTo>
                  <a:pt x="34120" y="3028950"/>
                  <a:pt x="0" y="2994830"/>
                  <a:pt x="0" y="295274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23875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81050" y="1485900"/>
            <a:ext cx="11029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完整使用流程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825" y="1914525"/>
            <a:ext cx="3638550" cy="2362200"/>
          </a:xfrm>
          <a:custGeom>
            <a:avLst/>
            <a:gdLst/>
            <a:ahLst/>
            <a:cxnLst/>
            <a:rect l="l" t="t" r="r" b="b"/>
            <a:pathLst>
              <a:path w="3638550" h="2362200">
                <a:moveTo>
                  <a:pt x="76205" y="0"/>
                </a:moveTo>
                <a:lnTo>
                  <a:pt x="3562345" y="0"/>
                </a:lnTo>
                <a:cubicBezTo>
                  <a:pt x="3604404" y="0"/>
                  <a:pt x="3638550" y="34146"/>
                  <a:pt x="3638550" y="76205"/>
                </a:cubicBezTo>
                <a:lnTo>
                  <a:pt x="3638550" y="2285995"/>
                </a:lnTo>
                <a:cubicBezTo>
                  <a:pt x="3638550" y="2328082"/>
                  <a:pt x="3604432" y="2362200"/>
                  <a:pt x="356234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254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8650" y="2038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93552" y="2133600"/>
            <a:ext cx="219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0150" y="2038350"/>
            <a:ext cx="714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0150" y="2305050"/>
            <a:ext cx="685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" y="2628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20477" y="2667000"/>
            <a:ext cx="1047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3450" y="2609850"/>
            <a:ext cx="10858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准备X光数据集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62188" y="29718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28650" y="327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10803" y="3314700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3450" y="325755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运行标注脚本生成标注文件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76725" y="1914525"/>
            <a:ext cx="3638550" cy="2362200"/>
          </a:xfrm>
          <a:custGeom>
            <a:avLst/>
            <a:gdLst/>
            <a:ahLst/>
            <a:cxnLst/>
            <a:rect l="l" t="t" r="r" b="b"/>
            <a:pathLst>
              <a:path w="3638550" h="2362200">
                <a:moveTo>
                  <a:pt x="76205" y="0"/>
                </a:moveTo>
                <a:lnTo>
                  <a:pt x="3562345" y="0"/>
                </a:lnTo>
                <a:cubicBezTo>
                  <a:pt x="3604404" y="0"/>
                  <a:pt x="3638550" y="34146"/>
                  <a:pt x="3638550" y="76205"/>
                </a:cubicBezTo>
                <a:lnTo>
                  <a:pt x="3638550" y="2285995"/>
                </a:lnTo>
                <a:cubicBezTo>
                  <a:pt x="3638550" y="2328082"/>
                  <a:pt x="3604432" y="2362200"/>
                  <a:pt x="356234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25400">
            <a:solidFill>
              <a:srgbClr val="98A6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400550" y="2038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69842" y="2133600"/>
            <a:ext cx="209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72050" y="2038350"/>
            <a:ext cx="809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72050" y="2305050"/>
            <a:ext cx="781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Model Layer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0550" y="2628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481215" y="2667000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05350" y="2609850"/>
            <a:ext cx="1371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训练ResNet50模型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34088" y="29718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400550" y="327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481289" y="3314700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05350" y="3257550"/>
            <a:ext cx="990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保存最佳权重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48625" y="1914525"/>
            <a:ext cx="3638550" cy="2362200"/>
          </a:xfrm>
          <a:custGeom>
            <a:avLst/>
            <a:gdLst/>
            <a:ahLst/>
            <a:cxnLst/>
            <a:rect l="l" t="t" r="r" b="b"/>
            <a:pathLst>
              <a:path w="3638550" h="2362200">
                <a:moveTo>
                  <a:pt x="76205" y="0"/>
                </a:moveTo>
                <a:lnTo>
                  <a:pt x="3562345" y="0"/>
                </a:lnTo>
                <a:cubicBezTo>
                  <a:pt x="3604404" y="0"/>
                  <a:pt x="3638550" y="34146"/>
                  <a:pt x="3638550" y="76205"/>
                </a:cubicBezTo>
                <a:lnTo>
                  <a:pt x="3638550" y="2285995"/>
                </a:lnTo>
                <a:cubicBezTo>
                  <a:pt x="3638550" y="2328082"/>
                  <a:pt x="3604432" y="2362200"/>
                  <a:pt x="356234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25400">
            <a:solidFill>
              <a:srgbClr val="6C7A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172450" y="2038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334896" y="2133600"/>
            <a:ext cx="228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43950" y="2038350"/>
            <a:ext cx="1095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43950" y="2305050"/>
            <a:ext cx="1066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72450" y="2628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252594" y="2667000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77250" y="260985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网页/安卓端上传X光图片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805988" y="29718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172450" y="327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252371" y="3314700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77250" y="3257550"/>
            <a:ext cx="12954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后端调用模型推理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805988" y="36195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172450" y="3924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257133" y="3962400"/>
            <a:ext cx="1143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77250" y="3905250"/>
            <a:ext cx="12954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前端展示分类结果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00050" y="4514850"/>
            <a:ext cx="3714750" cy="1562100"/>
          </a:xfrm>
          <a:custGeom>
            <a:avLst/>
            <a:gdLst/>
            <a:ahLst/>
            <a:cxnLst/>
            <a:rect l="l" t="t" r="r" b="b"/>
            <a:pathLst>
              <a:path w="3714750" h="1562100">
                <a:moveTo>
                  <a:pt x="38100" y="0"/>
                </a:moveTo>
                <a:lnTo>
                  <a:pt x="3638551" y="0"/>
                </a:lnTo>
                <a:cubicBezTo>
                  <a:pt x="3680634" y="0"/>
                  <a:pt x="3714750" y="34116"/>
                  <a:pt x="3714750" y="76199"/>
                </a:cubicBezTo>
                <a:lnTo>
                  <a:pt x="3714750" y="1485901"/>
                </a:lnTo>
                <a:cubicBezTo>
                  <a:pt x="3714750" y="1527984"/>
                  <a:pt x="3680634" y="1562100"/>
                  <a:pt x="36385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400050" y="451485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533400" y="4629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647700" y="4743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04900" y="47053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技术优势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0784" y="5248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776288" y="520065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ResNet50迁移学习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0784" y="55149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776288" y="546735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准确率高，泛化性好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60784" y="57816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776288" y="57340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单通道适配灰度图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48150" y="4514850"/>
            <a:ext cx="3714750" cy="1562100"/>
          </a:xfrm>
          <a:custGeom>
            <a:avLst/>
            <a:gdLst/>
            <a:ahLst/>
            <a:cxnLst/>
            <a:rect l="l" t="t" r="r" b="b"/>
            <a:pathLst>
              <a:path w="3714750" h="1562100">
                <a:moveTo>
                  <a:pt x="38100" y="0"/>
                </a:moveTo>
                <a:lnTo>
                  <a:pt x="3638551" y="0"/>
                </a:lnTo>
                <a:cubicBezTo>
                  <a:pt x="3680634" y="0"/>
                  <a:pt x="3714750" y="34116"/>
                  <a:pt x="3714750" y="76199"/>
                </a:cubicBezTo>
                <a:lnTo>
                  <a:pt x="3714750" y="1485901"/>
                </a:lnTo>
                <a:cubicBezTo>
                  <a:pt x="3714750" y="1527984"/>
                  <a:pt x="3680634" y="1562100"/>
                  <a:pt x="36385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4248150" y="451485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4381500" y="4629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4467225" y="47434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1A1D2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4953000" y="47053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工程优势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408884" y="5248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4624388" y="520065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自动化标注生成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408884" y="55149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4624388" y="546735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减少人工成本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408884" y="57816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4624388" y="573405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保证数据有效性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096250" y="4514850"/>
            <a:ext cx="3714750" cy="1562100"/>
          </a:xfrm>
          <a:custGeom>
            <a:avLst/>
            <a:gdLst/>
            <a:ahLst/>
            <a:cxnLst/>
            <a:rect l="l" t="t" r="r" b="b"/>
            <a:pathLst>
              <a:path w="3714750" h="1562100">
                <a:moveTo>
                  <a:pt x="38100" y="0"/>
                </a:moveTo>
                <a:lnTo>
                  <a:pt x="3638551" y="0"/>
                </a:lnTo>
                <a:cubicBezTo>
                  <a:pt x="3680634" y="0"/>
                  <a:pt x="3714750" y="34116"/>
                  <a:pt x="3714750" y="76199"/>
                </a:cubicBezTo>
                <a:lnTo>
                  <a:pt x="3714750" y="1485901"/>
                </a:lnTo>
                <a:cubicBezTo>
                  <a:pt x="3714750" y="1527984"/>
                  <a:pt x="3680634" y="1562100"/>
                  <a:pt x="36385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8096250" y="451485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8229600" y="4629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8372475" y="47434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8801100" y="47053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产品优势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56984" y="5248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8472488" y="520065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多端适配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56984" y="55149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8472488" y="54673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满足不同场景使用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56984" y="57816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8472488" y="573405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CE1E6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端到端诊断流程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391" y="512417"/>
            <a:ext cx="494748" cy="494748"/>
          </a:xfrm>
          <a:custGeom>
            <a:avLst/>
            <a:gdLst/>
            <a:ahLst/>
            <a:cxnLst/>
            <a:rect l="l" t="t" r="r" b="b"/>
            <a:pathLst>
              <a:path w="494748" h="494748">
                <a:moveTo>
                  <a:pt x="70680" y="0"/>
                </a:moveTo>
                <a:lnTo>
                  <a:pt x="424068" y="0"/>
                </a:lnTo>
                <a:cubicBezTo>
                  <a:pt x="463103" y="0"/>
                  <a:pt x="494748" y="31644"/>
                  <a:pt x="494748" y="70680"/>
                </a:cubicBezTo>
                <a:lnTo>
                  <a:pt x="494748" y="424068"/>
                </a:lnTo>
                <a:cubicBezTo>
                  <a:pt x="494748" y="463103"/>
                  <a:pt x="463103" y="494748"/>
                  <a:pt x="424068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8000" y="653774"/>
            <a:ext cx="185530" cy="212035"/>
          </a:xfrm>
          <a:custGeom>
            <a:avLst/>
            <a:gdLst/>
            <a:ahLst/>
            <a:cxnLst/>
            <a:rect l="l" t="t" r="r" b="b"/>
            <a:pathLst>
              <a:path w="185530" h="212035">
                <a:moveTo>
                  <a:pt x="13252" y="0"/>
                </a:moveTo>
                <a:cubicBezTo>
                  <a:pt x="20582" y="0"/>
                  <a:pt x="26504" y="5922"/>
                  <a:pt x="26504" y="13252"/>
                </a:cubicBezTo>
                <a:lnTo>
                  <a:pt x="26504" y="19878"/>
                </a:lnTo>
                <a:lnTo>
                  <a:pt x="55079" y="12755"/>
                </a:lnTo>
                <a:cubicBezTo>
                  <a:pt x="70858" y="8821"/>
                  <a:pt x="87506" y="10643"/>
                  <a:pt x="102083" y="17932"/>
                </a:cubicBezTo>
                <a:cubicBezTo>
                  <a:pt x="121257" y="27540"/>
                  <a:pt x="143828" y="27540"/>
                  <a:pt x="163002" y="17932"/>
                </a:cubicBezTo>
                <a:lnTo>
                  <a:pt x="166977" y="15944"/>
                </a:lnTo>
                <a:cubicBezTo>
                  <a:pt x="175508" y="11637"/>
                  <a:pt x="185530" y="17849"/>
                  <a:pt x="185530" y="27374"/>
                </a:cubicBezTo>
                <a:lnTo>
                  <a:pt x="185530" y="143206"/>
                </a:lnTo>
                <a:cubicBezTo>
                  <a:pt x="185530" y="148714"/>
                  <a:pt x="182093" y="153684"/>
                  <a:pt x="176917" y="155630"/>
                </a:cubicBezTo>
                <a:lnTo>
                  <a:pt x="162546" y="161014"/>
                </a:lnTo>
                <a:cubicBezTo>
                  <a:pt x="143413" y="168178"/>
                  <a:pt x="122127" y="167060"/>
                  <a:pt x="103864" y="157949"/>
                </a:cubicBezTo>
                <a:cubicBezTo>
                  <a:pt x="88168" y="150081"/>
                  <a:pt x="70154" y="148134"/>
                  <a:pt x="53133" y="152400"/>
                </a:cubicBezTo>
                <a:lnTo>
                  <a:pt x="26504" y="159026"/>
                </a:lnTo>
                <a:lnTo>
                  <a:pt x="26504" y="198783"/>
                </a:lnTo>
                <a:cubicBezTo>
                  <a:pt x="26504" y="206113"/>
                  <a:pt x="20582" y="212035"/>
                  <a:pt x="13252" y="212035"/>
                </a:cubicBezTo>
                <a:cubicBezTo>
                  <a:pt x="5922" y="212035"/>
                  <a:pt x="0" y="206113"/>
                  <a:pt x="0" y="198783"/>
                </a:cubicBezTo>
                <a:lnTo>
                  <a:pt x="0" y="13252"/>
                </a:lnTo>
                <a:cubicBezTo>
                  <a:pt x="0" y="5922"/>
                  <a:pt x="5922" y="0"/>
                  <a:pt x="13252" y="0"/>
                </a:cubicBezTo>
                <a:close/>
                <a:moveTo>
                  <a:pt x="26504" y="77484"/>
                </a:moveTo>
                <a:lnTo>
                  <a:pt x="53009" y="71727"/>
                </a:lnTo>
                <a:lnTo>
                  <a:pt x="53009" y="98853"/>
                </a:lnTo>
                <a:lnTo>
                  <a:pt x="26504" y="104609"/>
                </a:lnTo>
                <a:lnTo>
                  <a:pt x="26504" y="131735"/>
                </a:lnTo>
                <a:lnTo>
                  <a:pt x="46714" y="126683"/>
                </a:lnTo>
                <a:cubicBezTo>
                  <a:pt x="48826" y="126144"/>
                  <a:pt x="50897" y="125689"/>
                  <a:pt x="53009" y="125316"/>
                </a:cubicBezTo>
                <a:lnTo>
                  <a:pt x="53009" y="98853"/>
                </a:lnTo>
                <a:lnTo>
                  <a:pt x="69118" y="95374"/>
                </a:lnTo>
                <a:cubicBezTo>
                  <a:pt x="72556" y="94629"/>
                  <a:pt x="76034" y="94339"/>
                  <a:pt x="79513" y="94505"/>
                </a:cubicBezTo>
                <a:lnTo>
                  <a:pt x="79513" y="68000"/>
                </a:lnTo>
                <a:cubicBezTo>
                  <a:pt x="85145" y="68166"/>
                  <a:pt x="90777" y="69077"/>
                  <a:pt x="96244" y="70651"/>
                </a:cubicBezTo>
                <a:lnTo>
                  <a:pt x="106017" y="73508"/>
                </a:lnTo>
                <a:lnTo>
                  <a:pt x="106017" y="101131"/>
                </a:lnTo>
                <a:lnTo>
                  <a:pt x="88748" y="96037"/>
                </a:lnTo>
                <a:cubicBezTo>
                  <a:pt x="85725" y="95167"/>
                  <a:pt x="82619" y="94629"/>
                  <a:pt x="79513" y="94463"/>
                </a:cubicBezTo>
                <a:lnTo>
                  <a:pt x="79513" y="124032"/>
                </a:lnTo>
                <a:cubicBezTo>
                  <a:pt x="88541" y="124819"/>
                  <a:pt x="97445" y="126807"/>
                  <a:pt x="106017" y="129996"/>
                </a:cubicBezTo>
                <a:lnTo>
                  <a:pt x="106017" y="101089"/>
                </a:lnTo>
                <a:lnTo>
                  <a:pt x="115418" y="103864"/>
                </a:lnTo>
                <a:cubicBezTo>
                  <a:pt x="121009" y="105520"/>
                  <a:pt x="126724" y="106514"/>
                  <a:pt x="132522" y="106928"/>
                </a:cubicBezTo>
                <a:lnTo>
                  <a:pt x="132522" y="80341"/>
                </a:lnTo>
                <a:cubicBezTo>
                  <a:pt x="129292" y="80010"/>
                  <a:pt x="126061" y="79389"/>
                  <a:pt x="122914" y="78478"/>
                </a:cubicBezTo>
                <a:lnTo>
                  <a:pt x="106017" y="73508"/>
                </a:lnTo>
                <a:lnTo>
                  <a:pt x="106017" y="47832"/>
                </a:lnTo>
                <a:cubicBezTo>
                  <a:pt x="100634" y="46258"/>
                  <a:pt x="95333" y="44188"/>
                  <a:pt x="90198" y="41620"/>
                </a:cubicBezTo>
                <a:cubicBezTo>
                  <a:pt x="86802" y="39922"/>
                  <a:pt x="83199" y="38721"/>
                  <a:pt x="79513" y="37976"/>
                </a:cubicBezTo>
                <a:lnTo>
                  <a:pt x="79513" y="67959"/>
                </a:lnTo>
                <a:cubicBezTo>
                  <a:pt x="74129" y="67793"/>
                  <a:pt x="68746" y="68290"/>
                  <a:pt x="63486" y="69450"/>
                </a:cubicBezTo>
                <a:lnTo>
                  <a:pt x="53009" y="71727"/>
                </a:lnTo>
                <a:lnTo>
                  <a:pt x="53009" y="40585"/>
                </a:lnTo>
                <a:lnTo>
                  <a:pt x="26504" y="47211"/>
                </a:lnTo>
                <a:lnTo>
                  <a:pt x="26504" y="77484"/>
                </a:lnTo>
                <a:close/>
                <a:moveTo>
                  <a:pt x="132522" y="139024"/>
                </a:moveTo>
                <a:cubicBezTo>
                  <a:pt x="139479" y="139645"/>
                  <a:pt x="146561" y="138734"/>
                  <a:pt x="153228" y="136208"/>
                </a:cubicBezTo>
                <a:lnTo>
                  <a:pt x="159026" y="134054"/>
                </a:lnTo>
                <a:lnTo>
                  <a:pt x="159026" y="104361"/>
                </a:lnTo>
                <a:lnTo>
                  <a:pt x="155754" y="105106"/>
                </a:lnTo>
                <a:cubicBezTo>
                  <a:pt x="148134" y="106887"/>
                  <a:pt x="140307" y="107467"/>
                  <a:pt x="132522" y="106970"/>
                </a:cubicBezTo>
                <a:lnTo>
                  <a:pt x="132522" y="139024"/>
                </a:lnTo>
                <a:close/>
                <a:moveTo>
                  <a:pt x="159026" y="77152"/>
                </a:moveTo>
                <a:lnTo>
                  <a:pt x="159026" y="47832"/>
                </a:lnTo>
                <a:cubicBezTo>
                  <a:pt x="150371" y="50358"/>
                  <a:pt x="141467" y="51601"/>
                  <a:pt x="132522" y="51601"/>
                </a:cubicBezTo>
                <a:lnTo>
                  <a:pt x="132522" y="80341"/>
                </a:lnTo>
                <a:cubicBezTo>
                  <a:pt x="138278" y="80921"/>
                  <a:pt x="144117" y="80548"/>
                  <a:pt x="149791" y="79265"/>
                </a:cubicBezTo>
                <a:lnTo>
                  <a:pt x="159026" y="77111"/>
                </a:lnTo>
                <a:close/>
              </a:path>
            </a:pathLst>
          </a:custGeom>
          <a:solidFill>
            <a:srgbClr val="DCE1E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89496" y="353391"/>
            <a:ext cx="2332383" cy="424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9496" y="812800"/>
            <a:ext cx="2208696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98A6B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Summary &amp; Future 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89496" y="1130852"/>
            <a:ext cx="1130852" cy="35339"/>
          </a:xfrm>
          <a:custGeom>
            <a:avLst/>
            <a:gdLst/>
            <a:ahLst/>
            <a:cxnLst/>
            <a:rect l="l" t="t" r="r" b="b"/>
            <a:pathLst>
              <a:path w="1130852" h="35339">
                <a:moveTo>
                  <a:pt x="0" y="0"/>
                </a:moveTo>
                <a:lnTo>
                  <a:pt x="1130852" y="0"/>
                </a:lnTo>
                <a:lnTo>
                  <a:pt x="1130852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71061" y="1272209"/>
            <a:ext cx="5654261" cy="4099339"/>
          </a:xfrm>
          <a:custGeom>
            <a:avLst/>
            <a:gdLst/>
            <a:ahLst/>
            <a:cxnLst/>
            <a:rect l="l" t="t" r="r" b="b"/>
            <a:pathLst>
              <a:path w="5654261" h="4099339">
                <a:moveTo>
                  <a:pt x="35339" y="0"/>
                </a:moveTo>
                <a:lnTo>
                  <a:pt x="5583588" y="0"/>
                </a:lnTo>
                <a:cubicBezTo>
                  <a:pt x="5622620" y="0"/>
                  <a:pt x="5654261" y="31641"/>
                  <a:pt x="5654261" y="70673"/>
                </a:cubicBezTo>
                <a:lnTo>
                  <a:pt x="5654261" y="4028667"/>
                </a:lnTo>
                <a:cubicBezTo>
                  <a:pt x="5654261" y="4067698"/>
                  <a:pt x="5622620" y="4099339"/>
                  <a:pt x="5583588" y="4099339"/>
                </a:cubicBezTo>
                <a:lnTo>
                  <a:pt x="35339" y="4099339"/>
                </a:lnTo>
                <a:cubicBezTo>
                  <a:pt x="15822" y="4099339"/>
                  <a:pt x="0" y="4083517"/>
                  <a:pt x="0" y="4064000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71061" y="1272209"/>
            <a:ext cx="35339" cy="4099339"/>
          </a:xfrm>
          <a:custGeom>
            <a:avLst/>
            <a:gdLst/>
            <a:ahLst/>
            <a:cxnLst/>
            <a:rect l="l" t="t" r="r" b="b"/>
            <a:pathLst>
              <a:path w="35339" h="4099339">
                <a:moveTo>
                  <a:pt x="35339" y="0"/>
                </a:moveTo>
                <a:lnTo>
                  <a:pt x="35339" y="0"/>
                </a:lnTo>
                <a:lnTo>
                  <a:pt x="35339" y="4099339"/>
                </a:lnTo>
                <a:lnTo>
                  <a:pt x="35339" y="4099339"/>
                </a:lnTo>
                <a:cubicBezTo>
                  <a:pt x="15822" y="4099339"/>
                  <a:pt x="0" y="4083517"/>
                  <a:pt x="0" y="4064000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98557" y="1440070"/>
            <a:ext cx="198783" cy="265043"/>
          </a:xfrm>
          <a:custGeom>
            <a:avLst/>
            <a:gdLst/>
            <a:ahLst/>
            <a:cxnLst/>
            <a:rect l="l" t="t" r="r" b="b"/>
            <a:pathLst>
              <a:path w="198783" h="265043">
                <a:moveTo>
                  <a:pt x="129364" y="34580"/>
                </a:moveTo>
                <a:cubicBezTo>
                  <a:pt x="134748" y="27177"/>
                  <a:pt x="133091" y="16824"/>
                  <a:pt x="125689" y="11440"/>
                </a:cubicBezTo>
                <a:cubicBezTo>
                  <a:pt x="118286" y="6057"/>
                  <a:pt x="107933" y="7713"/>
                  <a:pt x="102549" y="15116"/>
                </a:cubicBezTo>
                <a:lnTo>
                  <a:pt x="47677" y="90539"/>
                </a:lnTo>
                <a:lnTo>
                  <a:pt x="28264" y="71127"/>
                </a:lnTo>
                <a:cubicBezTo>
                  <a:pt x="21794" y="64656"/>
                  <a:pt x="11285" y="64656"/>
                  <a:pt x="4814" y="71127"/>
                </a:cubicBezTo>
                <a:cubicBezTo>
                  <a:pt x="-1657" y="77598"/>
                  <a:pt x="-1657" y="88106"/>
                  <a:pt x="4814" y="94577"/>
                </a:cubicBezTo>
                <a:lnTo>
                  <a:pt x="37945" y="127707"/>
                </a:lnTo>
                <a:cubicBezTo>
                  <a:pt x="41361" y="131124"/>
                  <a:pt x="46124" y="132884"/>
                  <a:pt x="50938" y="132522"/>
                </a:cubicBezTo>
                <a:cubicBezTo>
                  <a:pt x="55752" y="132159"/>
                  <a:pt x="60204" y="129675"/>
                  <a:pt x="63051" y="125740"/>
                </a:cubicBezTo>
                <a:lnTo>
                  <a:pt x="129312" y="34632"/>
                </a:lnTo>
                <a:close/>
                <a:moveTo>
                  <a:pt x="195625" y="104982"/>
                </a:moveTo>
                <a:cubicBezTo>
                  <a:pt x="201009" y="97579"/>
                  <a:pt x="199352" y="87226"/>
                  <a:pt x="191949" y="81843"/>
                </a:cubicBezTo>
                <a:cubicBezTo>
                  <a:pt x="184547" y="76459"/>
                  <a:pt x="174194" y="78115"/>
                  <a:pt x="168810" y="85518"/>
                </a:cubicBezTo>
                <a:lnTo>
                  <a:pt x="80807" y="206496"/>
                </a:lnTo>
                <a:lnTo>
                  <a:pt x="44830" y="170518"/>
                </a:lnTo>
                <a:cubicBezTo>
                  <a:pt x="38359" y="164047"/>
                  <a:pt x="27850" y="164047"/>
                  <a:pt x="21379" y="170518"/>
                </a:cubicBezTo>
                <a:cubicBezTo>
                  <a:pt x="14909" y="176989"/>
                  <a:pt x="14909" y="187498"/>
                  <a:pt x="21379" y="193968"/>
                </a:cubicBezTo>
                <a:lnTo>
                  <a:pt x="71075" y="243664"/>
                </a:lnTo>
                <a:cubicBezTo>
                  <a:pt x="74492" y="247081"/>
                  <a:pt x="79254" y="248841"/>
                  <a:pt x="84068" y="248478"/>
                </a:cubicBezTo>
                <a:cubicBezTo>
                  <a:pt x="88883" y="248116"/>
                  <a:pt x="93335" y="245631"/>
                  <a:pt x="96182" y="241697"/>
                </a:cubicBezTo>
                <a:lnTo>
                  <a:pt x="195573" y="105034"/>
                </a:ln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65809" y="1413565"/>
            <a:ext cx="5150678" cy="3180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8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项目总结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4504" y="1877391"/>
            <a:ext cx="5345043" cy="927652"/>
          </a:xfrm>
          <a:custGeom>
            <a:avLst/>
            <a:gdLst/>
            <a:ahLst/>
            <a:cxnLst/>
            <a:rect l="l" t="t" r="r" b="b"/>
            <a:pathLst>
              <a:path w="5345043" h="927652">
                <a:moveTo>
                  <a:pt x="70678" y="0"/>
                </a:moveTo>
                <a:lnTo>
                  <a:pt x="5274366" y="0"/>
                </a:lnTo>
                <a:cubicBezTo>
                  <a:pt x="5313400" y="0"/>
                  <a:pt x="5345043" y="31644"/>
                  <a:pt x="5345043" y="70678"/>
                </a:cubicBezTo>
                <a:lnTo>
                  <a:pt x="5345043" y="856974"/>
                </a:lnTo>
                <a:cubicBezTo>
                  <a:pt x="5345043" y="896009"/>
                  <a:pt x="5313400" y="927652"/>
                  <a:pt x="5274366" y="927652"/>
                </a:cubicBezTo>
                <a:lnTo>
                  <a:pt x="70678" y="927652"/>
                </a:lnTo>
                <a:cubicBezTo>
                  <a:pt x="31670" y="927652"/>
                  <a:pt x="0" y="895983"/>
                  <a:pt x="0" y="856974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4939" y="1987826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176696" y="0"/>
                </a:moveTo>
                <a:lnTo>
                  <a:pt x="176696" y="0"/>
                </a:lnTo>
                <a:cubicBezTo>
                  <a:pt x="274217" y="0"/>
                  <a:pt x="353391" y="79175"/>
                  <a:pt x="353391" y="176696"/>
                </a:cubicBezTo>
                <a:lnTo>
                  <a:pt x="353391" y="176696"/>
                </a:lnTo>
                <a:cubicBezTo>
                  <a:pt x="353391" y="274217"/>
                  <a:pt x="274217" y="353391"/>
                  <a:pt x="176696" y="353391"/>
                </a:cubicBezTo>
                <a:lnTo>
                  <a:pt x="176696" y="353391"/>
                </a:lnTo>
                <a:cubicBezTo>
                  <a:pt x="79175" y="353391"/>
                  <a:pt x="0" y="274217"/>
                  <a:pt x="0" y="176696"/>
                </a:cubicBezTo>
                <a:lnTo>
                  <a:pt x="0" y="176696"/>
                </a:lnTo>
                <a:cubicBezTo>
                  <a:pt x="0" y="79175"/>
                  <a:pt x="79175" y="0"/>
                  <a:pt x="176696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9085" y="2040835"/>
            <a:ext cx="247374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348" y="1987826"/>
            <a:ext cx="4744278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模型训练完成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348" y="2270539"/>
            <a:ext cx="4735443" cy="424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完成基于</a:t>
            </a:r>
            <a:r>
              <a:rPr lang="en-US" sz="1115" dirty="0">
                <a:solidFill>
                  <a:srgbClr val="98A6B5"/>
                </a:solidFill>
                <a:highlight>
                  <a:srgbClr val="6C7A89">
                    <a:alpha val="3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ResNet50 </a:t>
            </a: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的4类别X光肺炎分类模型训练，成功适配灰度图输入，准确率≥95%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4504" y="2919896"/>
            <a:ext cx="5345043" cy="715617"/>
          </a:xfrm>
          <a:custGeom>
            <a:avLst/>
            <a:gdLst/>
            <a:ahLst/>
            <a:cxnLst/>
            <a:rect l="l" t="t" r="r" b="b"/>
            <a:pathLst>
              <a:path w="5345043" h="715617">
                <a:moveTo>
                  <a:pt x="70682" y="0"/>
                </a:moveTo>
                <a:lnTo>
                  <a:pt x="5274362" y="0"/>
                </a:lnTo>
                <a:cubicBezTo>
                  <a:pt x="5313398" y="0"/>
                  <a:pt x="5345043" y="31645"/>
                  <a:pt x="5345043" y="70682"/>
                </a:cubicBezTo>
                <a:lnTo>
                  <a:pt x="5345043" y="644936"/>
                </a:lnTo>
                <a:cubicBezTo>
                  <a:pt x="5345043" y="683972"/>
                  <a:pt x="5313398" y="715617"/>
                  <a:pt x="5274362" y="715617"/>
                </a:cubicBezTo>
                <a:lnTo>
                  <a:pt x="70682" y="715617"/>
                </a:lnTo>
                <a:cubicBezTo>
                  <a:pt x="31671" y="715617"/>
                  <a:pt x="0" y="683946"/>
                  <a:pt x="0" y="644936"/>
                </a:cubicBezTo>
                <a:lnTo>
                  <a:pt x="0" y="70682"/>
                </a:lnTo>
                <a:cubicBezTo>
                  <a:pt x="0" y="31671"/>
                  <a:pt x="31671" y="0"/>
                  <a:pt x="706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44939" y="3030330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176696" y="0"/>
                </a:moveTo>
                <a:lnTo>
                  <a:pt x="176696" y="0"/>
                </a:lnTo>
                <a:cubicBezTo>
                  <a:pt x="274217" y="0"/>
                  <a:pt x="353391" y="79175"/>
                  <a:pt x="353391" y="176696"/>
                </a:cubicBezTo>
                <a:lnTo>
                  <a:pt x="353391" y="176696"/>
                </a:lnTo>
                <a:cubicBezTo>
                  <a:pt x="353391" y="274217"/>
                  <a:pt x="274217" y="353391"/>
                  <a:pt x="176696" y="353391"/>
                </a:cubicBezTo>
                <a:lnTo>
                  <a:pt x="176696" y="353391"/>
                </a:lnTo>
                <a:cubicBezTo>
                  <a:pt x="79175" y="353391"/>
                  <a:pt x="0" y="274217"/>
                  <a:pt x="0" y="176696"/>
                </a:cubicBezTo>
                <a:lnTo>
                  <a:pt x="0" y="176696"/>
                </a:lnTo>
                <a:cubicBezTo>
                  <a:pt x="0" y="79175"/>
                  <a:pt x="79175" y="0"/>
                  <a:pt x="176696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24659" y="3083339"/>
            <a:ext cx="273878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348" y="3030330"/>
            <a:ext cx="4744278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数据预处理自动化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348" y="3313043"/>
            <a:ext cx="4735443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实现标注文件自动化生成，支持8:1:1数据集划分，保证数据有效性与平衡性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4504" y="3750365"/>
            <a:ext cx="5345043" cy="715617"/>
          </a:xfrm>
          <a:custGeom>
            <a:avLst/>
            <a:gdLst/>
            <a:ahLst/>
            <a:cxnLst/>
            <a:rect l="l" t="t" r="r" b="b"/>
            <a:pathLst>
              <a:path w="5345043" h="715617">
                <a:moveTo>
                  <a:pt x="70682" y="0"/>
                </a:moveTo>
                <a:lnTo>
                  <a:pt x="5274362" y="0"/>
                </a:lnTo>
                <a:cubicBezTo>
                  <a:pt x="5313398" y="0"/>
                  <a:pt x="5345043" y="31645"/>
                  <a:pt x="5345043" y="70682"/>
                </a:cubicBezTo>
                <a:lnTo>
                  <a:pt x="5345043" y="644936"/>
                </a:lnTo>
                <a:cubicBezTo>
                  <a:pt x="5345043" y="683972"/>
                  <a:pt x="5313398" y="715617"/>
                  <a:pt x="5274362" y="715617"/>
                </a:cubicBezTo>
                <a:lnTo>
                  <a:pt x="70682" y="715617"/>
                </a:lnTo>
                <a:cubicBezTo>
                  <a:pt x="31671" y="715617"/>
                  <a:pt x="0" y="683946"/>
                  <a:pt x="0" y="644936"/>
                </a:cubicBezTo>
                <a:lnTo>
                  <a:pt x="0" y="70682"/>
                </a:lnTo>
                <a:cubicBezTo>
                  <a:pt x="0" y="31671"/>
                  <a:pt x="31671" y="0"/>
                  <a:pt x="706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4939" y="3860800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176696" y="0"/>
                </a:moveTo>
                <a:lnTo>
                  <a:pt x="176696" y="0"/>
                </a:lnTo>
                <a:cubicBezTo>
                  <a:pt x="274217" y="0"/>
                  <a:pt x="353391" y="79175"/>
                  <a:pt x="353391" y="176696"/>
                </a:cubicBezTo>
                <a:lnTo>
                  <a:pt x="353391" y="176696"/>
                </a:lnTo>
                <a:cubicBezTo>
                  <a:pt x="353391" y="274217"/>
                  <a:pt x="274217" y="353391"/>
                  <a:pt x="176696" y="353391"/>
                </a:cubicBezTo>
                <a:lnTo>
                  <a:pt x="176696" y="353391"/>
                </a:lnTo>
                <a:cubicBezTo>
                  <a:pt x="79175" y="353391"/>
                  <a:pt x="0" y="274217"/>
                  <a:pt x="0" y="176696"/>
                </a:cubicBezTo>
                <a:lnTo>
                  <a:pt x="0" y="176696"/>
                </a:lnTo>
                <a:cubicBezTo>
                  <a:pt x="0" y="79175"/>
                  <a:pt x="79175" y="0"/>
                  <a:pt x="176696" y="0"/>
                </a:cubicBezTo>
                <a:close/>
              </a:path>
            </a:pathLst>
          </a:custGeom>
          <a:solidFill>
            <a:srgbClr val="6C7A89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23969" y="3913809"/>
            <a:ext cx="273878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348" y="3860800"/>
            <a:ext cx="4744278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应用开发完成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4348" y="4143513"/>
            <a:ext cx="4735443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完成网页端+安卓端应用开发，实现端到端的诊断流程，支持多端协同工作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2346" y="1272209"/>
            <a:ext cx="5654261" cy="4099339"/>
          </a:xfrm>
          <a:custGeom>
            <a:avLst/>
            <a:gdLst/>
            <a:ahLst/>
            <a:cxnLst/>
            <a:rect l="l" t="t" r="r" b="b"/>
            <a:pathLst>
              <a:path w="5654261" h="4099339">
                <a:moveTo>
                  <a:pt x="35339" y="0"/>
                </a:moveTo>
                <a:lnTo>
                  <a:pt x="5583588" y="0"/>
                </a:lnTo>
                <a:cubicBezTo>
                  <a:pt x="5622620" y="0"/>
                  <a:pt x="5654261" y="31641"/>
                  <a:pt x="5654261" y="70673"/>
                </a:cubicBezTo>
                <a:lnTo>
                  <a:pt x="5654261" y="4028667"/>
                </a:lnTo>
                <a:cubicBezTo>
                  <a:pt x="5654261" y="4067698"/>
                  <a:pt x="5622620" y="4099339"/>
                  <a:pt x="5583588" y="4099339"/>
                </a:cubicBezTo>
                <a:lnTo>
                  <a:pt x="35339" y="4099339"/>
                </a:lnTo>
                <a:cubicBezTo>
                  <a:pt x="15822" y="4099339"/>
                  <a:pt x="0" y="4083517"/>
                  <a:pt x="0" y="4064000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A5562">
              <a:alpha val="20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182346" y="1272209"/>
            <a:ext cx="35339" cy="4099339"/>
          </a:xfrm>
          <a:custGeom>
            <a:avLst/>
            <a:gdLst/>
            <a:ahLst/>
            <a:cxnLst/>
            <a:rect l="l" t="t" r="r" b="b"/>
            <a:pathLst>
              <a:path w="35339" h="4099339">
                <a:moveTo>
                  <a:pt x="35339" y="0"/>
                </a:moveTo>
                <a:lnTo>
                  <a:pt x="35339" y="0"/>
                </a:lnTo>
                <a:lnTo>
                  <a:pt x="35339" y="4099339"/>
                </a:lnTo>
                <a:lnTo>
                  <a:pt x="35339" y="4099339"/>
                </a:lnTo>
                <a:cubicBezTo>
                  <a:pt x="15822" y="4099339"/>
                  <a:pt x="0" y="4083517"/>
                  <a:pt x="0" y="4064000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376711" y="1440070"/>
            <a:ext cx="265043" cy="265043"/>
          </a:xfrm>
          <a:custGeom>
            <a:avLst/>
            <a:gdLst/>
            <a:ahLst/>
            <a:cxnLst/>
            <a:rect l="l" t="t" r="r" b="b"/>
            <a:pathLst>
              <a:path w="265043" h="265043">
                <a:moveTo>
                  <a:pt x="66261" y="165652"/>
                </a:moveTo>
                <a:lnTo>
                  <a:pt x="12683" y="165652"/>
                </a:lnTo>
                <a:cubicBezTo>
                  <a:pt x="-207" y="165652"/>
                  <a:pt x="-8127" y="151624"/>
                  <a:pt x="-1501" y="140546"/>
                </a:cubicBezTo>
                <a:lnTo>
                  <a:pt x="25883" y="94888"/>
                </a:lnTo>
                <a:cubicBezTo>
                  <a:pt x="30387" y="87382"/>
                  <a:pt x="38462" y="82826"/>
                  <a:pt x="47211" y="82826"/>
                </a:cubicBezTo>
                <a:lnTo>
                  <a:pt x="96389" y="82826"/>
                </a:lnTo>
                <a:cubicBezTo>
                  <a:pt x="135783" y="16099"/>
                  <a:pt x="194538" y="12735"/>
                  <a:pt x="233828" y="18481"/>
                </a:cubicBezTo>
                <a:cubicBezTo>
                  <a:pt x="240454" y="19464"/>
                  <a:pt x="245631" y="24641"/>
                  <a:pt x="246563" y="31215"/>
                </a:cubicBezTo>
                <a:cubicBezTo>
                  <a:pt x="252309" y="70506"/>
                  <a:pt x="248944" y="129260"/>
                  <a:pt x="182217" y="168655"/>
                </a:cubicBezTo>
                <a:lnTo>
                  <a:pt x="182217" y="217833"/>
                </a:lnTo>
                <a:cubicBezTo>
                  <a:pt x="182217" y="226581"/>
                  <a:pt x="177662" y="234657"/>
                  <a:pt x="170156" y="239160"/>
                </a:cubicBezTo>
                <a:lnTo>
                  <a:pt x="124498" y="266545"/>
                </a:lnTo>
                <a:cubicBezTo>
                  <a:pt x="113472" y="273171"/>
                  <a:pt x="99391" y="265199"/>
                  <a:pt x="99391" y="252361"/>
                </a:cubicBezTo>
                <a:lnTo>
                  <a:pt x="99391" y="198783"/>
                </a:lnTo>
                <a:cubicBezTo>
                  <a:pt x="99391" y="180509"/>
                  <a:pt x="84534" y="165652"/>
                  <a:pt x="66261" y="165652"/>
                </a:cubicBezTo>
                <a:lnTo>
                  <a:pt x="66209" y="165652"/>
                </a:lnTo>
                <a:close/>
                <a:moveTo>
                  <a:pt x="207065" y="82826"/>
                </a:moveTo>
                <a:cubicBezTo>
                  <a:pt x="207065" y="69112"/>
                  <a:pt x="195931" y="57978"/>
                  <a:pt x="182217" y="57978"/>
                </a:cubicBezTo>
                <a:cubicBezTo>
                  <a:pt x="168504" y="57978"/>
                  <a:pt x="157370" y="69112"/>
                  <a:pt x="157370" y="82826"/>
                </a:cubicBezTo>
                <a:cubicBezTo>
                  <a:pt x="157370" y="96540"/>
                  <a:pt x="168504" y="107674"/>
                  <a:pt x="182217" y="107674"/>
                </a:cubicBezTo>
                <a:cubicBezTo>
                  <a:pt x="195931" y="107674"/>
                  <a:pt x="207065" y="96540"/>
                  <a:pt x="207065" y="8282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677094" y="1413565"/>
            <a:ext cx="5150678" cy="3180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85" b="1" dirty="0">
                <a:solidFill>
                  <a:srgbClr val="98A6B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未来优化方向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5790" y="1877391"/>
            <a:ext cx="5345043" cy="750957"/>
          </a:xfrm>
          <a:custGeom>
            <a:avLst/>
            <a:gdLst/>
            <a:ahLst/>
            <a:cxnLst/>
            <a:rect l="l" t="t" r="r" b="b"/>
            <a:pathLst>
              <a:path w="5345043" h="750957">
                <a:moveTo>
                  <a:pt x="70680" y="0"/>
                </a:moveTo>
                <a:lnTo>
                  <a:pt x="5274363" y="0"/>
                </a:lnTo>
                <a:cubicBezTo>
                  <a:pt x="5313399" y="0"/>
                  <a:pt x="5345043" y="31645"/>
                  <a:pt x="5345043" y="70680"/>
                </a:cubicBezTo>
                <a:lnTo>
                  <a:pt x="5345043" y="680276"/>
                </a:lnTo>
                <a:cubicBezTo>
                  <a:pt x="5345043" y="719312"/>
                  <a:pt x="5313399" y="750957"/>
                  <a:pt x="5274363" y="750957"/>
                </a:cubicBezTo>
                <a:lnTo>
                  <a:pt x="70680" y="750957"/>
                </a:lnTo>
                <a:cubicBezTo>
                  <a:pt x="31645" y="750957"/>
                  <a:pt x="0" y="719312"/>
                  <a:pt x="0" y="680276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8A6B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478311" y="2023165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41413" y="19326"/>
                </a:moveTo>
                <a:cubicBezTo>
                  <a:pt x="41413" y="8662"/>
                  <a:pt x="50075" y="0"/>
                  <a:pt x="60739" y="0"/>
                </a:cubicBezTo>
                <a:lnTo>
                  <a:pt x="69022" y="0"/>
                </a:lnTo>
                <a:cubicBezTo>
                  <a:pt x="75130" y="0"/>
                  <a:pt x="80065" y="4935"/>
                  <a:pt x="80065" y="11043"/>
                </a:cubicBezTo>
                <a:lnTo>
                  <a:pt x="80065" y="165652"/>
                </a:lnTo>
                <a:cubicBezTo>
                  <a:pt x="80065" y="171761"/>
                  <a:pt x="75130" y="176696"/>
                  <a:pt x="69022" y="176696"/>
                </a:cubicBezTo>
                <a:lnTo>
                  <a:pt x="57978" y="176696"/>
                </a:lnTo>
                <a:cubicBezTo>
                  <a:pt x="47694" y="176696"/>
                  <a:pt x="39032" y="169655"/>
                  <a:pt x="36582" y="160130"/>
                </a:cubicBezTo>
                <a:cubicBezTo>
                  <a:pt x="36340" y="160130"/>
                  <a:pt x="36133" y="160130"/>
                  <a:pt x="35891" y="160130"/>
                </a:cubicBezTo>
                <a:cubicBezTo>
                  <a:pt x="20637" y="160130"/>
                  <a:pt x="8283" y="147776"/>
                  <a:pt x="8283" y="132522"/>
                </a:cubicBezTo>
                <a:cubicBezTo>
                  <a:pt x="8283" y="126310"/>
                  <a:pt x="10353" y="120581"/>
                  <a:pt x="13804" y="115957"/>
                </a:cubicBezTo>
                <a:cubicBezTo>
                  <a:pt x="7109" y="110918"/>
                  <a:pt x="2761" y="102911"/>
                  <a:pt x="2761" y="93870"/>
                </a:cubicBezTo>
                <a:cubicBezTo>
                  <a:pt x="2761" y="83206"/>
                  <a:pt x="8835" y="73922"/>
                  <a:pt x="17670" y="69332"/>
                </a:cubicBezTo>
                <a:cubicBezTo>
                  <a:pt x="15219" y="65191"/>
                  <a:pt x="13804" y="60360"/>
                  <a:pt x="13804" y="55217"/>
                </a:cubicBezTo>
                <a:cubicBezTo>
                  <a:pt x="13804" y="39964"/>
                  <a:pt x="26159" y="27609"/>
                  <a:pt x="41413" y="27609"/>
                </a:cubicBezTo>
                <a:lnTo>
                  <a:pt x="41413" y="19326"/>
                </a:lnTo>
                <a:close/>
                <a:moveTo>
                  <a:pt x="135283" y="19326"/>
                </a:moveTo>
                <a:lnTo>
                  <a:pt x="135283" y="27609"/>
                </a:lnTo>
                <a:cubicBezTo>
                  <a:pt x="150536" y="27609"/>
                  <a:pt x="162891" y="39964"/>
                  <a:pt x="162891" y="55217"/>
                </a:cubicBezTo>
                <a:cubicBezTo>
                  <a:pt x="162891" y="60394"/>
                  <a:pt x="161476" y="65226"/>
                  <a:pt x="159026" y="69332"/>
                </a:cubicBezTo>
                <a:cubicBezTo>
                  <a:pt x="167895" y="73922"/>
                  <a:pt x="173935" y="83171"/>
                  <a:pt x="173935" y="93870"/>
                </a:cubicBezTo>
                <a:cubicBezTo>
                  <a:pt x="173935" y="102911"/>
                  <a:pt x="169586" y="110918"/>
                  <a:pt x="162891" y="115957"/>
                </a:cubicBezTo>
                <a:cubicBezTo>
                  <a:pt x="166342" y="120581"/>
                  <a:pt x="168413" y="126310"/>
                  <a:pt x="168413" y="132522"/>
                </a:cubicBezTo>
                <a:cubicBezTo>
                  <a:pt x="168413" y="147776"/>
                  <a:pt x="156058" y="160130"/>
                  <a:pt x="140804" y="160130"/>
                </a:cubicBezTo>
                <a:cubicBezTo>
                  <a:pt x="140563" y="160130"/>
                  <a:pt x="140356" y="160130"/>
                  <a:pt x="140114" y="160130"/>
                </a:cubicBezTo>
                <a:cubicBezTo>
                  <a:pt x="137664" y="169655"/>
                  <a:pt x="129002" y="176696"/>
                  <a:pt x="118717" y="176696"/>
                </a:cubicBezTo>
                <a:lnTo>
                  <a:pt x="107674" y="176696"/>
                </a:lnTo>
                <a:cubicBezTo>
                  <a:pt x="101565" y="176696"/>
                  <a:pt x="96630" y="171761"/>
                  <a:pt x="96630" y="165652"/>
                </a:cubicBezTo>
                <a:lnTo>
                  <a:pt x="96630" y="11043"/>
                </a:lnTo>
                <a:cubicBezTo>
                  <a:pt x="96630" y="4935"/>
                  <a:pt x="101565" y="0"/>
                  <a:pt x="107674" y="0"/>
                </a:cubicBezTo>
                <a:lnTo>
                  <a:pt x="115957" y="0"/>
                </a:lnTo>
                <a:cubicBezTo>
                  <a:pt x="126620" y="0"/>
                  <a:pt x="135283" y="8662"/>
                  <a:pt x="135283" y="1932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747772" y="1987826"/>
            <a:ext cx="715617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模型优化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56224" y="2305878"/>
            <a:ext cx="519485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尝试</a:t>
            </a:r>
            <a:r>
              <a:rPr lang="en-US" sz="1115" dirty="0">
                <a:solidFill>
                  <a:srgbClr val="98A6B5"/>
                </a:solidFill>
                <a:highlight>
                  <a:srgbClr val="98A6B5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EfficientNet </a:t>
            </a: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</a:t>
            </a:r>
            <a:r>
              <a:rPr lang="en-US" sz="1115" dirty="0">
                <a:solidFill>
                  <a:srgbClr val="98A6B5"/>
                </a:solidFill>
                <a:highlight>
                  <a:srgbClr val="98A6B5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ViT </a:t>
            </a: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等先进模型，进一步提升准确率与推理速度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5790" y="2743200"/>
            <a:ext cx="5345043" cy="750957"/>
          </a:xfrm>
          <a:custGeom>
            <a:avLst/>
            <a:gdLst/>
            <a:ahLst/>
            <a:cxnLst/>
            <a:rect l="l" t="t" r="r" b="b"/>
            <a:pathLst>
              <a:path w="5345043" h="750957">
                <a:moveTo>
                  <a:pt x="70680" y="0"/>
                </a:moveTo>
                <a:lnTo>
                  <a:pt x="5274363" y="0"/>
                </a:lnTo>
                <a:cubicBezTo>
                  <a:pt x="5313399" y="0"/>
                  <a:pt x="5345043" y="31645"/>
                  <a:pt x="5345043" y="70680"/>
                </a:cubicBezTo>
                <a:lnTo>
                  <a:pt x="5345043" y="680276"/>
                </a:lnTo>
                <a:cubicBezTo>
                  <a:pt x="5345043" y="719312"/>
                  <a:pt x="5313399" y="750957"/>
                  <a:pt x="5274363" y="750957"/>
                </a:cubicBezTo>
                <a:lnTo>
                  <a:pt x="70680" y="750957"/>
                </a:lnTo>
                <a:cubicBezTo>
                  <a:pt x="31645" y="750957"/>
                  <a:pt x="0" y="719312"/>
                  <a:pt x="0" y="680276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8A6B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478311" y="2888974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8348" y="176696"/>
                </a:moveTo>
                <a:cubicBezTo>
                  <a:pt x="137108" y="176696"/>
                  <a:pt x="176696" y="137108"/>
                  <a:pt x="176696" y="88348"/>
                </a:cubicBezTo>
                <a:cubicBezTo>
                  <a:pt x="176696" y="39587"/>
                  <a:pt x="137108" y="0"/>
                  <a:pt x="88348" y="0"/>
                </a:cubicBezTo>
                <a:cubicBezTo>
                  <a:pt x="39587" y="0"/>
                  <a:pt x="0" y="39587"/>
                  <a:pt x="0" y="88348"/>
                </a:cubicBezTo>
                <a:cubicBezTo>
                  <a:pt x="0" y="137108"/>
                  <a:pt x="39587" y="176696"/>
                  <a:pt x="88348" y="176696"/>
                </a:cubicBezTo>
                <a:close/>
                <a:moveTo>
                  <a:pt x="80065" y="118717"/>
                </a:moveTo>
                <a:lnTo>
                  <a:pt x="80065" y="96630"/>
                </a:lnTo>
                <a:lnTo>
                  <a:pt x="57978" y="96630"/>
                </a:lnTo>
                <a:cubicBezTo>
                  <a:pt x="53388" y="96630"/>
                  <a:pt x="49696" y="92938"/>
                  <a:pt x="49696" y="88348"/>
                </a:cubicBezTo>
                <a:cubicBezTo>
                  <a:pt x="49696" y="83758"/>
                  <a:pt x="53388" y="80065"/>
                  <a:pt x="57978" y="80065"/>
                </a:cubicBezTo>
                <a:lnTo>
                  <a:pt x="80065" y="80065"/>
                </a:lnTo>
                <a:lnTo>
                  <a:pt x="80065" y="57978"/>
                </a:lnTo>
                <a:cubicBezTo>
                  <a:pt x="80065" y="53388"/>
                  <a:pt x="83758" y="49696"/>
                  <a:pt x="88348" y="49696"/>
                </a:cubicBezTo>
                <a:cubicBezTo>
                  <a:pt x="92938" y="49696"/>
                  <a:pt x="96630" y="53388"/>
                  <a:pt x="96630" y="57978"/>
                </a:cubicBezTo>
                <a:lnTo>
                  <a:pt x="96630" y="80065"/>
                </a:lnTo>
                <a:lnTo>
                  <a:pt x="118717" y="80065"/>
                </a:lnTo>
                <a:cubicBezTo>
                  <a:pt x="123307" y="80065"/>
                  <a:pt x="127000" y="83758"/>
                  <a:pt x="127000" y="88348"/>
                </a:cubicBezTo>
                <a:cubicBezTo>
                  <a:pt x="127000" y="92938"/>
                  <a:pt x="123307" y="96630"/>
                  <a:pt x="118717" y="96630"/>
                </a:cubicBezTo>
                <a:lnTo>
                  <a:pt x="96630" y="96630"/>
                </a:lnTo>
                <a:lnTo>
                  <a:pt x="96630" y="118717"/>
                </a:lnTo>
                <a:cubicBezTo>
                  <a:pt x="96630" y="123307"/>
                  <a:pt x="92938" y="127000"/>
                  <a:pt x="88348" y="127000"/>
                </a:cubicBezTo>
                <a:cubicBezTo>
                  <a:pt x="83758" y="127000"/>
                  <a:pt x="80065" y="123307"/>
                  <a:pt x="80065" y="118717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747772" y="2853635"/>
            <a:ext cx="715617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功能扩展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56224" y="3171687"/>
            <a:ext cx="519485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支持多格式图片、批量上传、报告导出，集成病历管理系统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5790" y="3609009"/>
            <a:ext cx="5345043" cy="750957"/>
          </a:xfrm>
          <a:custGeom>
            <a:avLst/>
            <a:gdLst/>
            <a:ahLst/>
            <a:cxnLst/>
            <a:rect l="l" t="t" r="r" b="b"/>
            <a:pathLst>
              <a:path w="5345043" h="750957">
                <a:moveTo>
                  <a:pt x="70680" y="0"/>
                </a:moveTo>
                <a:lnTo>
                  <a:pt x="5274363" y="0"/>
                </a:lnTo>
                <a:cubicBezTo>
                  <a:pt x="5313399" y="0"/>
                  <a:pt x="5345043" y="31645"/>
                  <a:pt x="5345043" y="70680"/>
                </a:cubicBezTo>
                <a:lnTo>
                  <a:pt x="5345043" y="680276"/>
                </a:lnTo>
                <a:cubicBezTo>
                  <a:pt x="5345043" y="719312"/>
                  <a:pt x="5313399" y="750957"/>
                  <a:pt x="5274363" y="750957"/>
                </a:cubicBezTo>
                <a:lnTo>
                  <a:pt x="70680" y="750957"/>
                </a:lnTo>
                <a:cubicBezTo>
                  <a:pt x="31645" y="750957"/>
                  <a:pt x="0" y="719312"/>
                  <a:pt x="0" y="680276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8A6B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478311" y="3754783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0" y="88348"/>
                </a:moveTo>
                <a:cubicBezTo>
                  <a:pt x="0" y="39587"/>
                  <a:pt x="39587" y="0"/>
                  <a:pt x="88348" y="0"/>
                </a:cubicBezTo>
                <a:cubicBezTo>
                  <a:pt x="137108" y="0"/>
                  <a:pt x="176696" y="39587"/>
                  <a:pt x="176696" y="88348"/>
                </a:cubicBezTo>
                <a:cubicBezTo>
                  <a:pt x="176696" y="137108"/>
                  <a:pt x="137108" y="176696"/>
                  <a:pt x="88348" y="176696"/>
                </a:cubicBezTo>
                <a:cubicBezTo>
                  <a:pt x="39587" y="176696"/>
                  <a:pt x="0" y="137108"/>
                  <a:pt x="0" y="88348"/>
                </a:cubicBezTo>
                <a:close/>
                <a:moveTo>
                  <a:pt x="99391" y="33130"/>
                </a:moveTo>
                <a:cubicBezTo>
                  <a:pt x="99391" y="27035"/>
                  <a:pt x="94443" y="22087"/>
                  <a:pt x="88348" y="22087"/>
                </a:cubicBezTo>
                <a:cubicBezTo>
                  <a:pt x="82253" y="22087"/>
                  <a:pt x="77304" y="27035"/>
                  <a:pt x="77304" y="33130"/>
                </a:cubicBezTo>
                <a:cubicBezTo>
                  <a:pt x="77304" y="39225"/>
                  <a:pt x="82253" y="44174"/>
                  <a:pt x="88348" y="44174"/>
                </a:cubicBezTo>
                <a:cubicBezTo>
                  <a:pt x="94443" y="44174"/>
                  <a:pt x="99391" y="39225"/>
                  <a:pt x="99391" y="33130"/>
                </a:cubicBezTo>
                <a:close/>
                <a:moveTo>
                  <a:pt x="88348" y="143565"/>
                </a:moveTo>
                <a:cubicBezTo>
                  <a:pt x="100530" y="143565"/>
                  <a:pt x="110435" y="133661"/>
                  <a:pt x="110435" y="121478"/>
                </a:cubicBezTo>
                <a:cubicBezTo>
                  <a:pt x="110435" y="115888"/>
                  <a:pt x="108364" y="110745"/>
                  <a:pt x="104913" y="106880"/>
                </a:cubicBezTo>
                <a:lnTo>
                  <a:pt x="128898" y="58945"/>
                </a:lnTo>
                <a:cubicBezTo>
                  <a:pt x="130934" y="54838"/>
                  <a:pt x="129278" y="49868"/>
                  <a:pt x="125205" y="47832"/>
                </a:cubicBezTo>
                <a:cubicBezTo>
                  <a:pt x="121133" y="45796"/>
                  <a:pt x="116129" y="47452"/>
                  <a:pt x="114093" y="51525"/>
                </a:cubicBezTo>
                <a:lnTo>
                  <a:pt x="90108" y="99460"/>
                </a:lnTo>
                <a:cubicBezTo>
                  <a:pt x="89521" y="99426"/>
                  <a:pt x="88935" y="99391"/>
                  <a:pt x="88348" y="99391"/>
                </a:cubicBezTo>
                <a:cubicBezTo>
                  <a:pt x="76165" y="99391"/>
                  <a:pt x="66261" y="109296"/>
                  <a:pt x="66261" y="121478"/>
                </a:cubicBezTo>
                <a:cubicBezTo>
                  <a:pt x="66261" y="133661"/>
                  <a:pt x="76165" y="143565"/>
                  <a:pt x="88348" y="143565"/>
                </a:cubicBezTo>
                <a:close/>
                <a:moveTo>
                  <a:pt x="60739" y="49696"/>
                </a:moveTo>
                <a:cubicBezTo>
                  <a:pt x="60739" y="43601"/>
                  <a:pt x="55791" y="38652"/>
                  <a:pt x="49696" y="38652"/>
                </a:cubicBezTo>
                <a:cubicBezTo>
                  <a:pt x="43601" y="38652"/>
                  <a:pt x="38652" y="43601"/>
                  <a:pt x="38652" y="49696"/>
                </a:cubicBezTo>
                <a:cubicBezTo>
                  <a:pt x="38652" y="55791"/>
                  <a:pt x="43601" y="60739"/>
                  <a:pt x="49696" y="60739"/>
                </a:cubicBezTo>
                <a:cubicBezTo>
                  <a:pt x="55791" y="60739"/>
                  <a:pt x="60739" y="55791"/>
                  <a:pt x="60739" y="49696"/>
                </a:cubicBezTo>
                <a:close/>
                <a:moveTo>
                  <a:pt x="33130" y="99391"/>
                </a:moveTo>
                <a:cubicBezTo>
                  <a:pt x="39225" y="99391"/>
                  <a:pt x="44174" y="94443"/>
                  <a:pt x="44174" y="88348"/>
                </a:cubicBezTo>
                <a:cubicBezTo>
                  <a:pt x="44174" y="82253"/>
                  <a:pt x="39225" y="77304"/>
                  <a:pt x="33130" y="77304"/>
                </a:cubicBezTo>
                <a:cubicBezTo>
                  <a:pt x="27035" y="77304"/>
                  <a:pt x="22087" y="82253"/>
                  <a:pt x="22087" y="88348"/>
                </a:cubicBezTo>
                <a:cubicBezTo>
                  <a:pt x="22087" y="94443"/>
                  <a:pt x="27035" y="99391"/>
                  <a:pt x="33130" y="99391"/>
                </a:cubicBezTo>
                <a:close/>
                <a:moveTo>
                  <a:pt x="154609" y="88348"/>
                </a:moveTo>
                <a:cubicBezTo>
                  <a:pt x="154609" y="82253"/>
                  <a:pt x="149660" y="77304"/>
                  <a:pt x="143565" y="77304"/>
                </a:cubicBezTo>
                <a:cubicBezTo>
                  <a:pt x="137470" y="77304"/>
                  <a:pt x="132522" y="82253"/>
                  <a:pt x="132522" y="88348"/>
                </a:cubicBezTo>
                <a:cubicBezTo>
                  <a:pt x="132522" y="94443"/>
                  <a:pt x="137470" y="99391"/>
                  <a:pt x="143565" y="99391"/>
                </a:cubicBezTo>
                <a:cubicBezTo>
                  <a:pt x="149660" y="99391"/>
                  <a:pt x="154609" y="94443"/>
                  <a:pt x="154609" y="88348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747772" y="3719443"/>
            <a:ext cx="715617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部署优化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56224" y="4037496"/>
            <a:ext cx="519485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模型轻量化（</a:t>
            </a:r>
            <a:r>
              <a:rPr lang="en-US" sz="1115" dirty="0">
                <a:solidFill>
                  <a:srgbClr val="98A6B5"/>
                </a:solidFill>
                <a:highlight>
                  <a:srgbClr val="98A6B5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ONNX </a:t>
            </a: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</a:t>
            </a:r>
            <a:r>
              <a:rPr lang="en-US" sz="1115" dirty="0">
                <a:solidFill>
                  <a:srgbClr val="98A6B5"/>
                </a:solidFill>
                <a:highlight>
                  <a:srgbClr val="98A6B5">
                    <a:alpha val="2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 TensorRT </a:t>
            </a: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），提升移动端推理速度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5790" y="4474817"/>
            <a:ext cx="5345043" cy="750957"/>
          </a:xfrm>
          <a:custGeom>
            <a:avLst/>
            <a:gdLst/>
            <a:ahLst/>
            <a:cxnLst/>
            <a:rect l="l" t="t" r="r" b="b"/>
            <a:pathLst>
              <a:path w="5345043" h="750957">
                <a:moveTo>
                  <a:pt x="70680" y="0"/>
                </a:moveTo>
                <a:lnTo>
                  <a:pt x="5274363" y="0"/>
                </a:lnTo>
                <a:cubicBezTo>
                  <a:pt x="5313399" y="0"/>
                  <a:pt x="5345043" y="31645"/>
                  <a:pt x="5345043" y="70680"/>
                </a:cubicBezTo>
                <a:lnTo>
                  <a:pt x="5345043" y="680276"/>
                </a:lnTo>
                <a:cubicBezTo>
                  <a:pt x="5345043" y="719312"/>
                  <a:pt x="5313399" y="750957"/>
                  <a:pt x="5274363" y="750957"/>
                </a:cubicBezTo>
                <a:lnTo>
                  <a:pt x="70680" y="750957"/>
                </a:lnTo>
                <a:cubicBezTo>
                  <a:pt x="31645" y="750957"/>
                  <a:pt x="0" y="719312"/>
                  <a:pt x="0" y="680276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8A6B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489355" y="4620591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154609" y="71023"/>
                </a:moveTo>
                <a:cubicBezTo>
                  <a:pt x="149501" y="74405"/>
                  <a:pt x="143634" y="77132"/>
                  <a:pt x="137526" y="79306"/>
                </a:cubicBezTo>
                <a:cubicBezTo>
                  <a:pt x="121306" y="85104"/>
                  <a:pt x="100013" y="88348"/>
                  <a:pt x="77304" y="88348"/>
                </a:cubicBezTo>
                <a:cubicBezTo>
                  <a:pt x="54596" y="88348"/>
                  <a:pt x="33268" y="85069"/>
                  <a:pt x="17083" y="79306"/>
                </a:cubicBezTo>
                <a:cubicBezTo>
                  <a:pt x="11009" y="77132"/>
                  <a:pt x="5108" y="74405"/>
                  <a:pt x="0" y="71023"/>
                </a:cubicBezTo>
                <a:lnTo>
                  <a:pt x="0" y="99391"/>
                </a:lnTo>
                <a:cubicBezTo>
                  <a:pt x="0" y="114645"/>
                  <a:pt x="34614" y="127000"/>
                  <a:pt x="77304" y="127000"/>
                </a:cubicBezTo>
                <a:cubicBezTo>
                  <a:pt x="119994" y="127000"/>
                  <a:pt x="154609" y="114645"/>
                  <a:pt x="154609" y="99391"/>
                </a:cubicBezTo>
                <a:lnTo>
                  <a:pt x="154609" y="71023"/>
                </a:lnTo>
                <a:close/>
                <a:moveTo>
                  <a:pt x="154609" y="44174"/>
                </a:moveTo>
                <a:lnTo>
                  <a:pt x="154609" y="27609"/>
                </a:lnTo>
                <a:cubicBezTo>
                  <a:pt x="154609" y="12355"/>
                  <a:pt x="119994" y="0"/>
                  <a:pt x="77304" y="0"/>
                </a:cubicBezTo>
                <a:cubicBezTo>
                  <a:pt x="34614" y="0"/>
                  <a:pt x="0" y="12355"/>
                  <a:pt x="0" y="27609"/>
                </a:cubicBezTo>
                <a:lnTo>
                  <a:pt x="0" y="44174"/>
                </a:lnTo>
                <a:cubicBezTo>
                  <a:pt x="0" y="59428"/>
                  <a:pt x="34614" y="71783"/>
                  <a:pt x="77304" y="71783"/>
                </a:cubicBezTo>
                <a:cubicBezTo>
                  <a:pt x="119994" y="71783"/>
                  <a:pt x="154609" y="59428"/>
                  <a:pt x="154609" y="44174"/>
                </a:cubicBezTo>
                <a:close/>
                <a:moveTo>
                  <a:pt x="137526" y="134523"/>
                </a:moveTo>
                <a:cubicBezTo>
                  <a:pt x="121340" y="140287"/>
                  <a:pt x="100047" y="143565"/>
                  <a:pt x="77304" y="143565"/>
                </a:cubicBezTo>
                <a:cubicBezTo>
                  <a:pt x="54562" y="143565"/>
                  <a:pt x="33268" y="140287"/>
                  <a:pt x="17083" y="134523"/>
                </a:cubicBezTo>
                <a:cubicBezTo>
                  <a:pt x="11009" y="132349"/>
                  <a:pt x="5108" y="129623"/>
                  <a:pt x="0" y="126241"/>
                </a:cubicBezTo>
                <a:lnTo>
                  <a:pt x="0" y="149087"/>
                </a:lnTo>
                <a:cubicBezTo>
                  <a:pt x="0" y="164341"/>
                  <a:pt x="34614" y="176696"/>
                  <a:pt x="77304" y="176696"/>
                </a:cubicBezTo>
                <a:cubicBezTo>
                  <a:pt x="119994" y="176696"/>
                  <a:pt x="154609" y="164341"/>
                  <a:pt x="154609" y="149087"/>
                </a:cubicBezTo>
                <a:lnTo>
                  <a:pt x="154609" y="126241"/>
                </a:lnTo>
                <a:cubicBezTo>
                  <a:pt x="149501" y="129623"/>
                  <a:pt x="143634" y="132349"/>
                  <a:pt x="137526" y="134523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747772" y="4585252"/>
            <a:ext cx="715617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DCE1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数据扩展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56224" y="4903304"/>
            <a:ext cx="519485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DCE1E6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增加更多样本，提升模型鲁棒性，支持更多肺炎类型识别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57809" y="5446643"/>
            <a:ext cx="2782957" cy="1051339"/>
          </a:xfrm>
          <a:custGeom>
            <a:avLst/>
            <a:gdLst/>
            <a:ahLst/>
            <a:cxnLst/>
            <a:rect l="l" t="t" r="r" b="b"/>
            <a:pathLst>
              <a:path w="2782957" h="1051339">
                <a:moveTo>
                  <a:pt x="70682" y="0"/>
                </a:moveTo>
                <a:lnTo>
                  <a:pt x="2712275" y="0"/>
                </a:lnTo>
                <a:cubicBezTo>
                  <a:pt x="2751311" y="0"/>
                  <a:pt x="2782957" y="31645"/>
                  <a:pt x="2782957" y="70682"/>
                </a:cubicBezTo>
                <a:lnTo>
                  <a:pt x="2782957" y="980658"/>
                </a:lnTo>
                <a:cubicBezTo>
                  <a:pt x="2782957" y="1019694"/>
                  <a:pt x="2751311" y="1051339"/>
                  <a:pt x="2712275" y="1051339"/>
                </a:cubicBezTo>
                <a:lnTo>
                  <a:pt x="70682" y="1051339"/>
                </a:lnTo>
                <a:cubicBezTo>
                  <a:pt x="31645" y="1051339"/>
                  <a:pt x="0" y="1019694"/>
                  <a:pt x="0" y="980658"/>
                </a:cubicBezTo>
                <a:lnTo>
                  <a:pt x="0" y="70682"/>
                </a:lnTo>
                <a:cubicBezTo>
                  <a:pt x="0" y="31645"/>
                  <a:pt x="31645" y="0"/>
                  <a:pt x="70682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634987" y="5557078"/>
            <a:ext cx="231913" cy="265043"/>
          </a:xfrm>
          <a:custGeom>
            <a:avLst/>
            <a:gdLst/>
            <a:ahLst/>
            <a:cxnLst/>
            <a:rect l="l" t="t" r="r" b="b"/>
            <a:pathLst>
              <a:path w="231913" h="265043">
                <a:moveTo>
                  <a:pt x="127293" y="-13407"/>
                </a:moveTo>
                <a:cubicBezTo>
                  <a:pt x="120357" y="-17652"/>
                  <a:pt x="111608" y="-17652"/>
                  <a:pt x="104671" y="-13407"/>
                </a:cubicBezTo>
                <a:cubicBezTo>
                  <a:pt x="92040" y="-5694"/>
                  <a:pt x="84224" y="-3624"/>
                  <a:pt x="69419" y="-3934"/>
                </a:cubicBezTo>
                <a:cubicBezTo>
                  <a:pt x="61291" y="-4141"/>
                  <a:pt x="53733" y="259"/>
                  <a:pt x="49799" y="7403"/>
                </a:cubicBezTo>
                <a:cubicBezTo>
                  <a:pt x="42707" y="20396"/>
                  <a:pt x="36961" y="26142"/>
                  <a:pt x="23968" y="33234"/>
                </a:cubicBezTo>
                <a:cubicBezTo>
                  <a:pt x="16824" y="37116"/>
                  <a:pt x="12476" y="44726"/>
                  <a:pt x="12631" y="52853"/>
                </a:cubicBezTo>
                <a:cubicBezTo>
                  <a:pt x="12993" y="67659"/>
                  <a:pt x="10871" y="75475"/>
                  <a:pt x="3158" y="88106"/>
                </a:cubicBezTo>
                <a:cubicBezTo>
                  <a:pt x="-1087" y="95043"/>
                  <a:pt x="-1087" y="103791"/>
                  <a:pt x="3158" y="110728"/>
                </a:cubicBezTo>
                <a:cubicBezTo>
                  <a:pt x="10871" y="123359"/>
                  <a:pt x="12942" y="131176"/>
                  <a:pt x="12631" y="145981"/>
                </a:cubicBezTo>
                <a:cubicBezTo>
                  <a:pt x="12424" y="154108"/>
                  <a:pt x="16824" y="161666"/>
                  <a:pt x="23968" y="165600"/>
                </a:cubicBezTo>
                <a:cubicBezTo>
                  <a:pt x="35408" y="171864"/>
                  <a:pt x="41206" y="177041"/>
                  <a:pt x="47314" y="187083"/>
                </a:cubicBezTo>
                <a:lnTo>
                  <a:pt x="22104" y="237349"/>
                </a:lnTo>
                <a:cubicBezTo>
                  <a:pt x="19050" y="243509"/>
                  <a:pt x="21535" y="250963"/>
                  <a:pt x="27643" y="254017"/>
                </a:cubicBezTo>
                <a:lnTo>
                  <a:pt x="72162" y="276277"/>
                </a:lnTo>
                <a:cubicBezTo>
                  <a:pt x="78115" y="279227"/>
                  <a:pt x="85363" y="277001"/>
                  <a:pt x="88572" y="271204"/>
                </a:cubicBezTo>
                <a:lnTo>
                  <a:pt x="115905" y="221974"/>
                </a:lnTo>
                <a:lnTo>
                  <a:pt x="143237" y="271204"/>
                </a:lnTo>
                <a:cubicBezTo>
                  <a:pt x="146447" y="277001"/>
                  <a:pt x="153694" y="279279"/>
                  <a:pt x="159647" y="276277"/>
                </a:cubicBezTo>
                <a:lnTo>
                  <a:pt x="204166" y="254017"/>
                </a:lnTo>
                <a:cubicBezTo>
                  <a:pt x="210326" y="250963"/>
                  <a:pt x="212811" y="243509"/>
                  <a:pt x="209705" y="237349"/>
                </a:cubicBezTo>
                <a:lnTo>
                  <a:pt x="184547" y="187032"/>
                </a:lnTo>
                <a:cubicBezTo>
                  <a:pt x="190604" y="176989"/>
                  <a:pt x="196453" y="171812"/>
                  <a:pt x="207893" y="165549"/>
                </a:cubicBezTo>
                <a:cubicBezTo>
                  <a:pt x="215037" y="161666"/>
                  <a:pt x="219386" y="154057"/>
                  <a:pt x="219230" y="145929"/>
                </a:cubicBezTo>
                <a:cubicBezTo>
                  <a:pt x="218868" y="131124"/>
                  <a:pt x="220990" y="123307"/>
                  <a:pt x="228704" y="110676"/>
                </a:cubicBezTo>
                <a:cubicBezTo>
                  <a:pt x="232948" y="103740"/>
                  <a:pt x="232948" y="94991"/>
                  <a:pt x="228704" y="88054"/>
                </a:cubicBezTo>
                <a:cubicBezTo>
                  <a:pt x="220990" y="75424"/>
                  <a:pt x="218920" y="67607"/>
                  <a:pt x="219230" y="52802"/>
                </a:cubicBezTo>
                <a:cubicBezTo>
                  <a:pt x="219437" y="44674"/>
                  <a:pt x="215037" y="37116"/>
                  <a:pt x="207893" y="33182"/>
                </a:cubicBezTo>
                <a:cubicBezTo>
                  <a:pt x="194900" y="26090"/>
                  <a:pt x="189154" y="20344"/>
                  <a:pt x="182062" y="7351"/>
                </a:cubicBezTo>
                <a:cubicBezTo>
                  <a:pt x="178180" y="207"/>
                  <a:pt x="170570" y="-4141"/>
                  <a:pt x="162443" y="-3986"/>
                </a:cubicBezTo>
                <a:cubicBezTo>
                  <a:pt x="147637" y="-3624"/>
                  <a:pt x="139821" y="-5746"/>
                  <a:pt x="127190" y="-13459"/>
                </a:cubicBezTo>
                <a:close/>
                <a:moveTo>
                  <a:pt x="115957" y="49696"/>
                </a:moveTo>
                <a:cubicBezTo>
                  <a:pt x="143384" y="49696"/>
                  <a:pt x="165652" y="71964"/>
                  <a:pt x="165652" y="99391"/>
                </a:cubicBezTo>
                <a:cubicBezTo>
                  <a:pt x="165652" y="126819"/>
                  <a:pt x="143384" y="149087"/>
                  <a:pt x="115957" y="149087"/>
                </a:cubicBezTo>
                <a:cubicBezTo>
                  <a:pt x="88529" y="149087"/>
                  <a:pt x="66261" y="126819"/>
                  <a:pt x="66261" y="99391"/>
                </a:cubicBezTo>
                <a:cubicBezTo>
                  <a:pt x="66261" y="71964"/>
                  <a:pt x="88529" y="49696"/>
                  <a:pt x="115957" y="4969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415235" y="5892800"/>
            <a:ext cx="2668104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≥95%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37322" y="6210852"/>
            <a:ext cx="2623930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54582" y="5446643"/>
            <a:ext cx="2782957" cy="1051339"/>
          </a:xfrm>
          <a:custGeom>
            <a:avLst/>
            <a:gdLst/>
            <a:ahLst/>
            <a:cxnLst/>
            <a:rect l="l" t="t" r="r" b="b"/>
            <a:pathLst>
              <a:path w="2782957" h="1051339">
                <a:moveTo>
                  <a:pt x="70682" y="0"/>
                </a:moveTo>
                <a:lnTo>
                  <a:pt x="2712275" y="0"/>
                </a:lnTo>
                <a:cubicBezTo>
                  <a:pt x="2751311" y="0"/>
                  <a:pt x="2782957" y="31645"/>
                  <a:pt x="2782957" y="70682"/>
                </a:cubicBezTo>
                <a:lnTo>
                  <a:pt x="2782957" y="980658"/>
                </a:lnTo>
                <a:cubicBezTo>
                  <a:pt x="2782957" y="1019694"/>
                  <a:pt x="2751311" y="1051339"/>
                  <a:pt x="2712275" y="1051339"/>
                </a:cubicBezTo>
                <a:lnTo>
                  <a:pt x="70682" y="1051339"/>
                </a:lnTo>
                <a:cubicBezTo>
                  <a:pt x="31645" y="1051339"/>
                  <a:pt x="0" y="1019694"/>
                  <a:pt x="0" y="980658"/>
                </a:cubicBezTo>
                <a:lnTo>
                  <a:pt x="0" y="70682"/>
                </a:lnTo>
                <a:cubicBezTo>
                  <a:pt x="0" y="31645"/>
                  <a:pt x="31645" y="0"/>
                  <a:pt x="70682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4515264" y="5557078"/>
            <a:ext cx="265043" cy="265043"/>
          </a:xfrm>
          <a:custGeom>
            <a:avLst/>
            <a:gdLst/>
            <a:ahLst/>
            <a:cxnLst/>
            <a:rect l="l" t="t" r="r" b="b"/>
            <a:pathLst>
              <a:path w="265043" h="265043">
                <a:moveTo>
                  <a:pt x="120357" y="2692"/>
                </a:moveTo>
                <a:cubicBezTo>
                  <a:pt x="128070" y="-880"/>
                  <a:pt x="136974" y="-880"/>
                  <a:pt x="144687" y="2692"/>
                </a:cubicBezTo>
                <a:lnTo>
                  <a:pt x="257848" y="54976"/>
                </a:lnTo>
                <a:cubicBezTo>
                  <a:pt x="262248" y="56995"/>
                  <a:pt x="265043" y="61395"/>
                  <a:pt x="265043" y="66261"/>
                </a:cubicBezTo>
                <a:cubicBezTo>
                  <a:pt x="265043" y="71127"/>
                  <a:pt x="262248" y="75527"/>
                  <a:pt x="257848" y="77546"/>
                </a:cubicBezTo>
                <a:lnTo>
                  <a:pt x="144687" y="129830"/>
                </a:lnTo>
                <a:cubicBezTo>
                  <a:pt x="136974" y="133402"/>
                  <a:pt x="128070" y="133402"/>
                  <a:pt x="120357" y="129830"/>
                </a:cubicBezTo>
                <a:lnTo>
                  <a:pt x="7196" y="77546"/>
                </a:lnTo>
                <a:cubicBezTo>
                  <a:pt x="2795" y="75475"/>
                  <a:pt x="0" y="71075"/>
                  <a:pt x="0" y="66261"/>
                </a:cubicBezTo>
                <a:cubicBezTo>
                  <a:pt x="0" y="61447"/>
                  <a:pt x="2795" y="56995"/>
                  <a:pt x="7196" y="54976"/>
                </a:cubicBezTo>
                <a:lnTo>
                  <a:pt x="120357" y="2692"/>
                </a:lnTo>
                <a:close/>
                <a:moveTo>
                  <a:pt x="24900" y="113058"/>
                </a:moveTo>
                <a:lnTo>
                  <a:pt x="109952" y="152348"/>
                </a:lnTo>
                <a:cubicBezTo>
                  <a:pt x="124291" y="158974"/>
                  <a:pt x="140804" y="158974"/>
                  <a:pt x="155144" y="152348"/>
                </a:cubicBezTo>
                <a:lnTo>
                  <a:pt x="240196" y="113058"/>
                </a:lnTo>
                <a:lnTo>
                  <a:pt x="257848" y="121237"/>
                </a:lnTo>
                <a:cubicBezTo>
                  <a:pt x="262248" y="123256"/>
                  <a:pt x="265043" y="127656"/>
                  <a:pt x="265043" y="132522"/>
                </a:cubicBezTo>
                <a:cubicBezTo>
                  <a:pt x="265043" y="137388"/>
                  <a:pt x="262248" y="141788"/>
                  <a:pt x="257848" y="143807"/>
                </a:cubicBezTo>
                <a:lnTo>
                  <a:pt x="144687" y="196091"/>
                </a:lnTo>
                <a:cubicBezTo>
                  <a:pt x="136974" y="199663"/>
                  <a:pt x="128070" y="199663"/>
                  <a:pt x="120357" y="196091"/>
                </a:cubicBezTo>
                <a:lnTo>
                  <a:pt x="7196" y="143807"/>
                </a:lnTo>
                <a:cubicBezTo>
                  <a:pt x="2795" y="141736"/>
                  <a:pt x="0" y="137336"/>
                  <a:pt x="0" y="132522"/>
                </a:cubicBezTo>
                <a:cubicBezTo>
                  <a:pt x="0" y="127707"/>
                  <a:pt x="2795" y="123256"/>
                  <a:pt x="7196" y="121237"/>
                </a:cubicBezTo>
                <a:lnTo>
                  <a:pt x="24848" y="113058"/>
                </a:lnTo>
                <a:close/>
                <a:moveTo>
                  <a:pt x="7196" y="187498"/>
                </a:moveTo>
                <a:lnTo>
                  <a:pt x="24848" y="179318"/>
                </a:lnTo>
                <a:lnTo>
                  <a:pt x="109900" y="218609"/>
                </a:lnTo>
                <a:cubicBezTo>
                  <a:pt x="124239" y="225235"/>
                  <a:pt x="140753" y="225235"/>
                  <a:pt x="155092" y="218609"/>
                </a:cubicBezTo>
                <a:lnTo>
                  <a:pt x="240144" y="179318"/>
                </a:lnTo>
                <a:lnTo>
                  <a:pt x="257796" y="187498"/>
                </a:lnTo>
                <a:cubicBezTo>
                  <a:pt x="262196" y="189516"/>
                  <a:pt x="264992" y="193917"/>
                  <a:pt x="264992" y="198783"/>
                </a:cubicBezTo>
                <a:cubicBezTo>
                  <a:pt x="264992" y="203649"/>
                  <a:pt x="262196" y="208049"/>
                  <a:pt x="257796" y="210068"/>
                </a:cubicBezTo>
                <a:lnTo>
                  <a:pt x="144635" y="262352"/>
                </a:lnTo>
                <a:cubicBezTo>
                  <a:pt x="136922" y="265924"/>
                  <a:pt x="128018" y="265924"/>
                  <a:pt x="120305" y="262352"/>
                </a:cubicBezTo>
                <a:lnTo>
                  <a:pt x="7196" y="210068"/>
                </a:lnTo>
                <a:cubicBezTo>
                  <a:pt x="2795" y="207997"/>
                  <a:pt x="0" y="203597"/>
                  <a:pt x="0" y="198783"/>
                </a:cubicBezTo>
                <a:cubicBezTo>
                  <a:pt x="0" y="193968"/>
                  <a:pt x="2795" y="189516"/>
                  <a:pt x="7196" y="187498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3312008" y="5892800"/>
            <a:ext cx="2668104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334095" y="6210852"/>
            <a:ext cx="2623930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分类类别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51424" y="5446643"/>
            <a:ext cx="2782957" cy="1051339"/>
          </a:xfrm>
          <a:custGeom>
            <a:avLst/>
            <a:gdLst/>
            <a:ahLst/>
            <a:cxnLst/>
            <a:rect l="l" t="t" r="r" b="b"/>
            <a:pathLst>
              <a:path w="2782957" h="1051339">
                <a:moveTo>
                  <a:pt x="70682" y="0"/>
                </a:moveTo>
                <a:lnTo>
                  <a:pt x="2712275" y="0"/>
                </a:lnTo>
                <a:cubicBezTo>
                  <a:pt x="2751311" y="0"/>
                  <a:pt x="2782957" y="31645"/>
                  <a:pt x="2782957" y="70682"/>
                </a:cubicBezTo>
                <a:lnTo>
                  <a:pt x="2782957" y="980658"/>
                </a:lnTo>
                <a:cubicBezTo>
                  <a:pt x="2782957" y="1019694"/>
                  <a:pt x="2751311" y="1051339"/>
                  <a:pt x="2712275" y="1051339"/>
                </a:cubicBezTo>
                <a:lnTo>
                  <a:pt x="70682" y="1051339"/>
                </a:lnTo>
                <a:cubicBezTo>
                  <a:pt x="31645" y="1051339"/>
                  <a:pt x="0" y="1019694"/>
                  <a:pt x="0" y="980658"/>
                </a:cubicBezTo>
                <a:lnTo>
                  <a:pt x="0" y="70682"/>
                </a:lnTo>
                <a:cubicBezTo>
                  <a:pt x="0" y="31645"/>
                  <a:pt x="31645" y="0"/>
                  <a:pt x="70682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7412107" y="5557078"/>
            <a:ext cx="265043" cy="265043"/>
          </a:xfrm>
          <a:custGeom>
            <a:avLst/>
            <a:gdLst/>
            <a:ahLst/>
            <a:cxnLst/>
            <a:rect l="l" t="t" r="r" b="b"/>
            <a:pathLst>
              <a:path w="265043" h="265043">
                <a:moveTo>
                  <a:pt x="33130" y="16565"/>
                </a:moveTo>
                <a:cubicBezTo>
                  <a:pt x="14857" y="16565"/>
                  <a:pt x="0" y="31422"/>
                  <a:pt x="0" y="49696"/>
                </a:cubicBezTo>
                <a:lnTo>
                  <a:pt x="0" y="182217"/>
                </a:lnTo>
                <a:cubicBezTo>
                  <a:pt x="0" y="200491"/>
                  <a:pt x="14857" y="215348"/>
                  <a:pt x="33130" y="215348"/>
                </a:cubicBezTo>
                <a:lnTo>
                  <a:pt x="107674" y="215348"/>
                </a:lnTo>
                <a:lnTo>
                  <a:pt x="99391" y="240196"/>
                </a:lnTo>
                <a:lnTo>
                  <a:pt x="62120" y="240196"/>
                </a:lnTo>
                <a:cubicBezTo>
                  <a:pt x="55235" y="240196"/>
                  <a:pt x="49696" y="245735"/>
                  <a:pt x="49696" y="252620"/>
                </a:cubicBezTo>
                <a:cubicBezTo>
                  <a:pt x="49696" y="259504"/>
                  <a:pt x="55235" y="265043"/>
                  <a:pt x="62120" y="265043"/>
                </a:cubicBezTo>
                <a:lnTo>
                  <a:pt x="202924" y="265043"/>
                </a:lnTo>
                <a:cubicBezTo>
                  <a:pt x="209809" y="265043"/>
                  <a:pt x="215348" y="259504"/>
                  <a:pt x="215348" y="252620"/>
                </a:cubicBezTo>
                <a:cubicBezTo>
                  <a:pt x="215348" y="245735"/>
                  <a:pt x="209809" y="240196"/>
                  <a:pt x="202924" y="240196"/>
                </a:cubicBezTo>
                <a:lnTo>
                  <a:pt x="165652" y="240196"/>
                </a:lnTo>
                <a:lnTo>
                  <a:pt x="157370" y="215348"/>
                </a:lnTo>
                <a:lnTo>
                  <a:pt x="231913" y="215348"/>
                </a:lnTo>
                <a:cubicBezTo>
                  <a:pt x="250187" y="215348"/>
                  <a:pt x="265043" y="200491"/>
                  <a:pt x="265043" y="182217"/>
                </a:cubicBezTo>
                <a:lnTo>
                  <a:pt x="265043" y="49696"/>
                </a:lnTo>
                <a:cubicBezTo>
                  <a:pt x="265043" y="31422"/>
                  <a:pt x="250187" y="16565"/>
                  <a:pt x="231913" y="16565"/>
                </a:cubicBezTo>
                <a:lnTo>
                  <a:pt x="33130" y="16565"/>
                </a:lnTo>
                <a:close/>
                <a:moveTo>
                  <a:pt x="49696" y="49696"/>
                </a:moveTo>
                <a:lnTo>
                  <a:pt x="215348" y="49696"/>
                </a:lnTo>
                <a:cubicBezTo>
                  <a:pt x="224510" y="49696"/>
                  <a:pt x="231913" y="57098"/>
                  <a:pt x="231913" y="66261"/>
                </a:cubicBezTo>
                <a:lnTo>
                  <a:pt x="231913" y="149087"/>
                </a:lnTo>
                <a:cubicBezTo>
                  <a:pt x="231913" y="158250"/>
                  <a:pt x="224510" y="165652"/>
                  <a:pt x="215348" y="165652"/>
                </a:cubicBezTo>
                <a:lnTo>
                  <a:pt x="49696" y="165652"/>
                </a:lnTo>
                <a:cubicBezTo>
                  <a:pt x="40533" y="165652"/>
                  <a:pt x="33130" y="158250"/>
                  <a:pt x="33130" y="149087"/>
                </a:cubicBezTo>
                <a:lnTo>
                  <a:pt x="33130" y="66261"/>
                </a:lnTo>
                <a:cubicBezTo>
                  <a:pt x="33130" y="57098"/>
                  <a:pt x="40533" y="49696"/>
                  <a:pt x="49696" y="49696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208851" y="5892800"/>
            <a:ext cx="2668104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30938" y="6210852"/>
            <a:ext cx="2623930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应用端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48267" y="5446643"/>
            <a:ext cx="2782957" cy="1051339"/>
          </a:xfrm>
          <a:custGeom>
            <a:avLst/>
            <a:gdLst/>
            <a:ahLst/>
            <a:cxnLst/>
            <a:rect l="l" t="t" r="r" b="b"/>
            <a:pathLst>
              <a:path w="2782957" h="1051339">
                <a:moveTo>
                  <a:pt x="70682" y="0"/>
                </a:moveTo>
                <a:lnTo>
                  <a:pt x="2712275" y="0"/>
                </a:lnTo>
                <a:cubicBezTo>
                  <a:pt x="2751311" y="0"/>
                  <a:pt x="2782957" y="31645"/>
                  <a:pt x="2782957" y="70682"/>
                </a:cubicBezTo>
                <a:lnTo>
                  <a:pt x="2782957" y="980658"/>
                </a:lnTo>
                <a:cubicBezTo>
                  <a:pt x="2782957" y="1019694"/>
                  <a:pt x="2751311" y="1051339"/>
                  <a:pt x="2712275" y="1051339"/>
                </a:cubicBezTo>
                <a:lnTo>
                  <a:pt x="70682" y="1051339"/>
                </a:lnTo>
                <a:cubicBezTo>
                  <a:pt x="31645" y="1051339"/>
                  <a:pt x="0" y="1019694"/>
                  <a:pt x="0" y="980658"/>
                </a:cubicBezTo>
                <a:lnTo>
                  <a:pt x="0" y="70682"/>
                </a:lnTo>
                <a:cubicBezTo>
                  <a:pt x="0" y="31645"/>
                  <a:pt x="31645" y="0"/>
                  <a:pt x="70682" y="0"/>
                </a:cubicBezTo>
                <a:close/>
              </a:path>
            </a:pathLst>
          </a:custGeom>
          <a:solidFill>
            <a:srgbClr val="6C7A89">
              <a:alpha val="14902"/>
            </a:srgbClr>
          </a:solidFill>
          <a:ln w="12700">
            <a:solidFill>
              <a:srgbClr val="6C7A8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308949" y="5557078"/>
            <a:ext cx="265043" cy="265043"/>
          </a:xfrm>
          <a:custGeom>
            <a:avLst/>
            <a:gdLst/>
            <a:ahLst/>
            <a:cxnLst/>
            <a:rect l="l" t="t" r="r" b="b"/>
            <a:pathLst>
              <a:path w="265043" h="265043">
                <a:moveTo>
                  <a:pt x="132522" y="0"/>
                </a:moveTo>
                <a:cubicBezTo>
                  <a:pt x="205662" y="0"/>
                  <a:pt x="265043" y="59381"/>
                  <a:pt x="265043" y="132522"/>
                </a:cubicBezTo>
                <a:cubicBezTo>
                  <a:pt x="265043" y="205662"/>
                  <a:pt x="205662" y="265043"/>
                  <a:pt x="132522" y="265043"/>
                </a:cubicBezTo>
                <a:cubicBezTo>
                  <a:pt x="59381" y="265043"/>
                  <a:pt x="0" y="205662"/>
                  <a:pt x="0" y="132522"/>
                </a:cubicBezTo>
                <a:cubicBezTo>
                  <a:pt x="0" y="59381"/>
                  <a:pt x="59381" y="0"/>
                  <a:pt x="132522" y="0"/>
                </a:cubicBezTo>
                <a:close/>
                <a:moveTo>
                  <a:pt x="120098" y="62120"/>
                </a:moveTo>
                <a:lnTo>
                  <a:pt x="120098" y="132522"/>
                </a:lnTo>
                <a:cubicBezTo>
                  <a:pt x="120098" y="136663"/>
                  <a:pt x="122168" y="140546"/>
                  <a:pt x="125637" y="142875"/>
                </a:cubicBezTo>
                <a:lnTo>
                  <a:pt x="175332" y="176005"/>
                </a:lnTo>
                <a:cubicBezTo>
                  <a:pt x="181027" y="179836"/>
                  <a:pt x="188740" y="178283"/>
                  <a:pt x="192571" y="172537"/>
                </a:cubicBezTo>
                <a:cubicBezTo>
                  <a:pt x="196401" y="166791"/>
                  <a:pt x="194848" y="159130"/>
                  <a:pt x="189102" y="155299"/>
                </a:cubicBezTo>
                <a:lnTo>
                  <a:pt x="144946" y="125896"/>
                </a:lnTo>
                <a:lnTo>
                  <a:pt x="144946" y="62120"/>
                </a:lnTo>
                <a:cubicBezTo>
                  <a:pt x="144946" y="55235"/>
                  <a:pt x="139407" y="49696"/>
                  <a:pt x="132522" y="49696"/>
                </a:cubicBezTo>
                <a:cubicBezTo>
                  <a:pt x="125637" y="49696"/>
                  <a:pt x="120098" y="55235"/>
                  <a:pt x="120098" y="62120"/>
                </a:cubicBezTo>
                <a:close/>
              </a:path>
            </a:pathLst>
          </a:custGeom>
          <a:solidFill>
            <a:srgbClr val="98A6B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9105693" y="5892800"/>
            <a:ext cx="2668104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DCE1E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~2s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27780" y="6210852"/>
            <a:ext cx="2623930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5" dirty="0">
                <a:solidFill>
                  <a:srgbClr val="DCE1E6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平均推理时间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3152</Words>
  <Application>WPS 演示</Application>
  <PresentationFormat>宽屏</PresentationFormat>
  <Paragraphs>640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Quattrocento Sans</vt:lpstr>
      <vt:lpstr>Quattrocento Sans</vt:lpstr>
      <vt:lpstr>Quattrocento Sans</vt:lpstr>
      <vt:lpstr>MiSans</vt:lpstr>
      <vt:lpstr>MiSans</vt:lpstr>
      <vt:lpstr>Liter</vt:lpstr>
      <vt:lpstr>Liter</vt:lpstr>
      <vt:lpstr>Liter</vt:lpstr>
      <vt:lpstr>Calibri</vt:lpstr>
      <vt:lpstr>等线</vt:lpstr>
      <vt:lpstr>微软雅黑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X光肺炎智能分类系统</dc:title>
  <dc:creator>Kimi</dc:creator>
  <dc:subject>X光肺炎智能分类系统</dc:subject>
  <cp:lastModifiedBy>过</cp:lastModifiedBy>
  <cp:revision>5</cp:revision>
  <dcterms:created xsi:type="dcterms:W3CDTF">2026-01-13T11:32:00Z</dcterms:created>
  <dcterms:modified xsi:type="dcterms:W3CDTF">2026-03-05T13:05:41Z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X光肺炎智能分类系统","ContentProducer":"001191110108MACG2KBH8F10000","ProduceID":"19bb7107-1e82-867d-8000-0000c0be1046","ReservedCode1":"","ContentPropagator":"001191110108MACG2KBH8F20000","PropagateID":"19bb7107-1e82-867d-8000-0000c0be1046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077E42B2DE8442899B50058346F0D92F_13</vt:lpwstr>
  </property>
</Properties>
</file>